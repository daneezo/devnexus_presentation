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0:00 — Walk to center stage as slide appears]
SPEAKER NOTES:
Stand at center. Let the title breathe for 3 seconds. Make eye contact with the front rows.
TRANSITION TO NEXT SLIDE:
"Before we start — I have a confession to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0:00 – 2:00 | MODE: 🟢 PERFORM]
SPEAKER NOTES:
Deliver the first line. PAUSE for 2 full seconds. Let it land.
"I'm not a developer. I haven't written a for-loop in production in years."
[PAUSE — look around the room]
"But I ship automation every week."
The pause is your power move. Your Green assertiveness makes this bold opening feel natural.
TRANSITION TO NEXT SLIDE:
"Let me show you what I mean. How many of you spend time on reporting?"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2:00 – 5:00 | MODE: 🟡 CONNECT]
SPEAKER NOTES:
"Quick show of hands. How many hours per month do you spend on reporting, status updates, or summarizing work for someone else?"
"Raise your hand for: more than 4 hours."
[scan room]
"More than 8 hours."
[scan room]
"More than a full day."
[scan room — pause]
"Look around. That's a lot of hands."
TRANSITION TO NEXT SLIDE:
"I used to spend two days on mine. Then I taught AI to do it in 15 minutes. Let me show you 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2:00 – 5:00 | MODE: 🟢 PERFORM]
SPEAKER NOTES:
"Here's my before and after. Two full days every month — going back and forth, making changes, getting it just right. Now? Fifteen minutes."
"And my manager stopped editing them — because AI learned the format she wanted."
Let the numbers sink in. The visual contrast does the work.
TRANSITION TO NEXT SLIDE:
"But reporting is just one thing. Let me show you everything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5:00 – 8:00 | MODE: 🟢 PERFORM — rapid fire]
SPEAKER NOTES:
Move FAST through these. One sentence each. Point at each card as you go:
"DORA metrics translation. DevEx survey analysis. Jira workflow optimization.
Vendor evaluation prep. Executive role-play simulations. R&amp;D tax credit analysis.
Even editing my novel. And designing an AI adoption strategy for 83 engineers."
"And this. And this. And THIS."
TRANSITION TO NEXT SLIDE:
"Today I'll deep-dive into three of these — and show you the system behind all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8:00 | MODE: 🔵 BUILD]
SPEAKER NOTES:
"Let's start with the most relatable demo I have. Everyone here has inherited someone else's messy data."
"I'm going to show you how AI writes a complete data cleaning script — and we'll run it live on a Google Sheet."
TRANSITION:
"Here's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8:00 – 10:00 | MODE: 🔵 BUILD]
SPEAKER NOTES:
"Here's a real dataset. 20 customer records. Looks fine at first glance — until you notice."
[Point at red rows] "Jane Doe has leading whitespace and ALL CAPS email. Alice Wong signed up on 'March 5 2024' — not a date format any system recognizes."
[Point at gold row] "And John Smith appears twice — same email, but the second entry has lowercase name."
"Eight different date formats. Three different ways to write 'active.' Dollar signs in numeric fields. Phone numbers formatted six different ways."
"Who's cleaned data like this before?" [hands go up]
"Who enjoyed it?" [no hands — get a laugh]
TRANSITION:
"Here's what I asked AI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10:00 – 14:00 | MODE: 🔵 BUILD]
SPEAKER NOTES:
"Here's my prompt. Seven specific cleaning tasks. Notice it's not vague — I'm telling AI exactly what 'clean' means."
[LIVE DEMO: Open Claude or ChatGPT. Paste this prompt. Let the audience watch the code generate in real time.]
[Narrate while it generates: "It's writing a function for each task... trimming whitespace... date parsing... there's the duplicate detection."]
[BACKUP: If you don't want to generate live, have the script pre-loaded in a second tab. Show the prompt, then switch to the result.]
"About 60 lines of code. 90 seconds. Let's see if it works."
TRANSITION:
"Now — here's the part most people skip. What if the first version doesn't handle all the edge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14:00 – 16:00 | MODE: 🟡 CONNECT]
SPEAKER NOTES:
"Before I showed you my refined prompt, here's my first attempt. Six words."
"Who can spot what's missing?"
[Take 2-3 shout-outs. Expected answers:]
- No definition of 'clean' (what date format? what casing?)
- No mention of duplicates
- No handling of edge cases (missing values, junk data)
- No target output format
- Doesn't say what columns exist
For each answer: "Exactly!" or "Good catch!"
BIRKMAN SAFETY NET: If someone gives a better answer than yours, say:
"That's actually better than what I had. See? This is why we iterate."
"The difference between my six-word prompt and my seven-step prompt is the difference between 'kind of works' and 'production-ready.'"
TRANSITION:
"And that brings us to the most important slide in this whole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17:00 – 20:00 | MODE: 🔵 BUILD]
SPEAKER NOTES:
"Here's the real workflow. Generate, run, inspect, fix."
"The first version handled 18 out of 20 rows perfectly. But 'July 20th 2024' — with that 'th' — broke the date parser."
"So I told AI: 'this date format failed' and pasted the error. Fixed in 30 seconds."
Point at the "Inspect" step: "This is where most people give up. They say 'AI doesn't work' and go back to manual cleaning. Don't."
"The iteration loop IS the skill. The first prompt gets you 80%. The refinement gets you to 100%."
TRANSITION:
"That was automation — turning messy data into clean data with AI-generated code. Now let me show you something completely different — what if AI could evaluate tax law?"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20:00 | MODE: 🟢 PERFORM — storytelling]
SPEAKER NOTES:
"Here's a completely different use case. What if AI could evaluate tax law?"
Pause. Let it land. This is your highest wow-factor moment.
"I know, I know. Stay with me."
TRANSITION:
"The IRS has a specific test for R&amp;D tax credits. Let me show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22:00 – 25:00 | MODE: 🟢 PERFORM]
SPEAKER NOTES:
"The IRS defines qualifying R&amp;D through four tests. And I realized — these map to how we think as engineers."
"Permitted purpose: you're building something new or better."
"Technological uncertainty: you didn't know the answer when you started."
"Process of experimentation: you tried stuff until it worked."
"Technological in nature: it's computer science."
"Sound like your daily standup? That's the point."
TRANSITION:
"So I built a prompt that evaluates projects against these four tests. Here's what it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25:00 – 28:00 | MODE: 🟢 PERFORM]
SPEAKER NOTES:
"Here's what the output looks like for an actual project — our LLM Gateway migration."
"The AI evaluates each of the four tests with a confidence score, plus supporting and opposing evidence."
"Notice the confidence bars. 92%, 88%, 85%, 95%. This isn't a yes/no — it's nuanced."
"And the AI plays devil's advocate on each one. That's the Research → Evaluate → Decide pattern in action."
IMPORTANT: Emphasize this is PRELIMINARY assessment, not legal advice.
TRANSITION:
"Quick show of hands..."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28:00 – 30:00 | MODE: 🟡 CONNECT]
SPEAKER NOTES:
"Quick show of hands: whose company has claimed R&amp;D tax credits before?"
[scan room]
"Okay. Now — who writes software that solves technical problems nobody's solved before?"
[more hands]
"That's the IRS definition of qualifying R&amp;D. Your finance team would LOVE to talk to you."
This re-engages the room after a dense section. Gets a laugh.
TRANSITION:
"So we've seen automation and analysis. Now let me show you the engineering mindset behind custom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30:00 | MODE: 🔵 BUILD]
SPEAKER NOTES:
"We've seen two patterns: Build-Test-Iterate for automation, and Research-Evaluate-Decide for analysis."
"Now let me show you what separates a prompt from a system."
TRANSITION:
"Here's the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30:00 – 33:00 | MODE: 🔵 BUILD]
SPEAKER NOTES:
"This is the config of my executive reporting assistant. Five layers."
"Role: it's not just 'summarize.' It's 'Chief of Staff for Engineering.'"
"Knowledge: I uploaded goals, approved slide examples, and a data dictionary."
"Procedure: it doesn't just write — it does gap analysis FIRST, asks me questions, THEN drafts."
"Validation: it cross-references percentages against targets and flags mismatches."
"Output format: BLUF structure, exact formatting, no hedging language."
THIS IS YOUR THESIS: "I didn't just ask AI to summarize. I gave it a role, a procedure, constraints, and validation rules. That's the difference between a prompt and a system."
TRANSITION:
"And here's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33:00 – 35:00 | MODE: 🔵 BUILD]
SPEAKER NOTES:
"Left side: raw Slack update from an engineering manager. Right side: what the AI produces."
"Notice: BLUF structure. Quantified metrics. Seasonal context. And a FLAG for missing data."
"The AI doesn't just summarize — it validates, contextualizes, and identifies gaps."
TRANSITION:
"Okay. We've seen Build-Test-Iterate, Research-Evaluate-Decide, and Translate-Synthesize-Act."
"Now for the main event. Let's play a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35:00 | MODE: 🟡+🔵 — Peak energy]
SPEAKER NOTES:
"Okay. This is the main event. I built a tool that analyzes presentations through the lens of 11 different executive personas."
"And we're going to use it right now. On THIS talk."
Let the energy build. This is your climax.
TRANSITION:
"But first — you get to choose the persona."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35:00 – 37:00 | MODE: 🟡 CONNECT — peak energy]
SPEAKER NOTES:
"I built a tool that analyzes presentations through 11 executive personas. You get to pick which one we use."
"Ready? Cheer for your pick!"
"A — CEO! [pause for cheers]"
"B — VP Engineering! [pause]"
"C — QA Engineer! [pause]"
"D — CFO! [pause]"
"Sounds like [winner] takes it!"
SECRET: You've pre-run all four. You know the results regardless of which wins.
TRANSITION:
"Let's feed my talk into the analyzer and see what [chosen persona] thinks."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38:00 – 47:00 | MODE: 🔵 BUILD + 🟡 CONNECT]
SPEAKER NOTES:
[Switch to live tool. Feed your slide content in with the winning persona.]
NARRATE ONLY WHAT'S HAPPENING: "I'm pasting in the slide content... selecting the [chosen] persona... and here come the results."
Walk through the output: "Content analysis... design feedback... flow assessment... and look — speaker coaching suggestions."
DEMO FAILURE BACKUP:
If it fails, switch to screenshots within 10 seconds.
Say: "This is why I always have screenshots. Let me show you what this looks like when it cooperates."
TRANSITION:
"We just used AI to analyze a talk about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47:00 – 50:00 | MODE: 🟢 PERFORM]
SPEAKER NOTES:
"We just used AI to analyze a talk about AI."
[PAUSE — let it land]
"The tool gave me feedback I hadn't considered. That's the point."
"AI isn't just an executor. It's a thinking partner. It sees angles you miss."
This is the emotional peak. Let the audience absorb it.
TRANSITION:
"But it goes even deeper. AI didn't just review this talk — it helped me PLAN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47:00 – 48:00 | MODE: 🟢 PERFORM]
SPEAKER NOTES:
"So we just saw AI review this presentation. But here's the twist..."
"AI didn't just review it — AI helped me PLAN it."
"I was stuck. I had 22 use cases in a folder and no idea which ones to present."
"So I turned to an AI coaching tool called ProfAI."
TRANSITION:
"Let me show you exactly what that looked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48:00 – 49:00 | MODE: 🟢 PERFORM]
SPEAKER NOTES:
"Step 1: I told ProfAI my goals — Brainstorm, Create Content, and Plan."
"Step 2: I pasted in my talk abstract and told it about the mixed-experience audience."
"Step 3: It came back with a full action plan."
"Not just 'here are some ideas' — it gave me a SCORING FRAMEWORK."
"Relatability, wow factor, practicality, demo potential — each scored 1 to 10."
"That's how I narrowed 22 use cases down to the 5 you saw today."
TRANSITION:
"And here's the part that blew my mind."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49:00 – 50:00 | MODE: 🟢 PERFORM]
SPEAKER NOTES:
"On the left — the scoring framework ProfAI generated."
"Relatability, wow factor, practicality, demo potential — all scored 1 to 10."
"On the right — the action plan it gave me."
"It told me to create a Custom GPT loaded with my Birkman personality insights."
"It told me to use separate chats for brainstorming versus design."
"And it told me to practice the live demos with AI playing the audience."
"I followed every single one of those recommendations. And you're looking at the result."
BIRKMAN NOTE: This is a confidence moment. Own it.
TRANSITION:
"So here's what you take home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50:00 – 52:00 | MODE: 🟢 PERFORM]
SPEAKER NOTES:
"Every demo today mapped to one of these four patterns."
"Translate-Synthesize-Act: that's the executive reporting."
"Build-Test-Iterate: the Apps Script."
"Research-Evaluate-Decide: the R&amp;D tax credit."
"Draft-Fact-Check-Refine: the persona analyzer."
"You don't need MY use cases. You need these patterns applied to YOUR work."
TRANSITION:
"And here's how to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52:00 – 54:00 | MODE: 🟢 PERFORM]
SPEAKER NOTES:
"Here's your roadmap. Step one: pick your boring task. Not the exciting one — the boring one."
"Step two: be specific. Role, context, procedure, constraints, output format."
"Step three: iterate. Don't give up after the first output. The error message IS the next prompt."
"Step four: graduate to a system. Add knowledge, add validation, add procedures."
TRANSITION:
"And if you want to bring this to your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54:00 | MODE: 🟢 PERFORM]
SPEAKER NOTES:
"If you're a manager or team lead, here's how to bring this to your org."
"Run internal 'How I AI' sessions — 30-minute show-and-tells."
"Build a shared prompt library. The DRY principle applies to prompts too."
"And measure it. Before/after. Time saved. Errors reduced."
TRANSITION:
"Everything I showed today — prompts, templates, configs — is available for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55:00 | MODE: 🟢 PERFORM]
SPEAKER NOTES:
"Everything I showed today is available at this link. Prompt templates, the GPT configuration walkthrough, the workflow pattern cheat sheet, and access to the persona analyzer tool."
"Pull out your phones. Scan the code. I'll leave this up during Q&amp;A."
TRANSITION:
"Before we open for questions — one last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55:00 – 57:00 | MODE: 🟢 PERFORM]
SPEAKER NOTES:
"The best AI workflow is the one you'll actually use tomorrow."
[PAUSE]
"Start with one boring task. Make it less boring. Repeat."
Let it land. Don't add anything. The brevity IS the power.
BIRKMAN NOTE: Resist the Green urge to keep talking. Stop here.
TRANSITION:
"Thank you. I'd love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57:00 – 60:00 | MODE: 🟡 CONNECT]
SPEAKER NOTES:
Open floor for questions. Stay at center stage.
HOSTILE QUESTION SAFETY NET:
"That's a fair pushback. The honest answer is [brief]. I'd love to dig into this after — find me at the resource page."
BETTER-ANSWER-THAN-YOURS SAFETY NET:
"That's actually better than what I had. Write that down — seriously."
RUNNING BEHIND SAFETY NET:
If behind on time, skip Q&amp;A and go directly to closing slide.
FLAT AUDIENCE SAFETY NET:
"I see some skeptical faces — good. Skepticism is exactly what we need. Let me show you something that changed my mind."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OF TALK]
Leave this slide up while people approach you.
QR code stays visible for latecomers.
Post-talk checklist:
- Share QR code link on social media
- Thank attendees who asked questions
- Collect business cards/LinkedIn connections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1.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slideLayout" Target="../slideLayouts/slideLayout1.xml"/><Relationship Id="rId8"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1E25"/>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4B8A6"/>
          </a:solidFill>
          <a:ln/>
        </p:spPr>
      </p:sp>
      <p:sp>
        <p:nvSpPr>
          <p:cNvPr id="3" name="Shape 1"/>
          <p:cNvSpPr/>
          <p:nvPr/>
        </p:nvSpPr>
        <p:spPr>
          <a:xfrm>
            <a:off x="0" y="1371600"/>
            <a:ext cx="137160" cy="2286000"/>
          </a:xfrm>
          <a:prstGeom prst="rect">
            <a:avLst/>
          </a:prstGeom>
          <a:solidFill>
            <a:srgbClr val="14B8A6">
              <a:alpha val="70000"/>
            </a:srgbClr>
          </a:solidFill>
          <a:ln/>
        </p:spPr>
      </p:sp>
      <p:sp>
        <p:nvSpPr>
          <p:cNvPr id="4" name="Shape 2"/>
          <p:cNvSpPr/>
          <p:nvPr/>
        </p:nvSpPr>
        <p:spPr>
          <a:xfrm>
            <a:off x="228600" y="1828800"/>
            <a:ext cx="73152" cy="1371600"/>
          </a:xfrm>
          <a:prstGeom prst="rect">
            <a:avLst/>
          </a:prstGeom>
          <a:solidFill>
            <a:srgbClr val="F59E0B">
              <a:alpha val="60000"/>
            </a:srgbClr>
          </a:solidFill>
          <a:ln/>
        </p:spPr>
      </p:sp>
      <p:sp>
        <p:nvSpPr>
          <p:cNvPr id="5" name="Text 3"/>
          <p:cNvSpPr/>
          <p:nvPr/>
        </p:nvSpPr>
        <p:spPr>
          <a:xfrm>
            <a:off x="731520" y="1097280"/>
            <a:ext cx="7680960" cy="1097280"/>
          </a:xfrm>
          <a:prstGeom prst="rect">
            <a:avLst/>
          </a:prstGeom>
          <a:noFill/>
          <a:ln/>
        </p:spPr>
        <p:txBody>
          <a:bodyPr wrap="square" lIns="0" tIns="0" rIns="0" bIns="0" rtlCol="0" anchor="ctr"/>
          <a:lstStyle/>
          <a:p>
            <a:pPr indent="0" marL="0">
              <a:buNone/>
            </a:pPr>
            <a:r>
              <a:rPr lang="en-US" sz="5400" b="1" spc="600" kern="0" dirty="0">
                <a:solidFill>
                  <a:srgbClr val="F0FDFA"/>
                </a:solidFill>
                <a:latin typeface="Arial Black" pitchFamily="34" charset="0"/>
                <a:ea typeface="Arial Black" pitchFamily="34" charset="-122"/>
                <a:cs typeface="Arial Black" pitchFamily="34" charset="-120"/>
              </a:rPr>
              <a:t>HOW I AI</a:t>
            </a:r>
            <a:endParaRPr lang="en-US" sz="5400" dirty="0"/>
          </a:p>
        </p:txBody>
      </p:sp>
      <p:sp>
        <p:nvSpPr>
          <p:cNvPr id="6" name="Text 4"/>
          <p:cNvSpPr/>
          <p:nvPr/>
        </p:nvSpPr>
        <p:spPr>
          <a:xfrm>
            <a:off x="731520" y="2103120"/>
            <a:ext cx="6400800" cy="731520"/>
          </a:xfrm>
          <a:prstGeom prst="rect">
            <a:avLst/>
          </a:prstGeom>
          <a:noFill/>
          <a:ln/>
        </p:spPr>
        <p:txBody>
          <a:bodyPr wrap="square" lIns="0" tIns="0" rIns="0" bIns="0" rtlCol="0" anchor="ctr"/>
          <a:lstStyle/>
          <a:p>
            <a:pPr indent="0" marL="0">
              <a:buNone/>
            </a:pPr>
            <a:r>
              <a:rPr lang="en-US" sz="2000" dirty="0">
                <a:solidFill>
                  <a:srgbClr val="5EEAD4"/>
                </a:solidFill>
                <a:latin typeface="Calibri" pitchFamily="34" charset="0"/>
                <a:ea typeface="Calibri" pitchFamily="34" charset="-122"/>
                <a:cs typeface="Calibri" pitchFamily="34" charset="-120"/>
              </a:rPr>
              <a:t>Building Custom GPTs to Supercharge Everyday Work</a:t>
            </a:r>
            <a:endParaRPr lang="en-US" sz="2000" dirty="0"/>
          </a:p>
        </p:txBody>
      </p:sp>
      <p:sp>
        <p:nvSpPr>
          <p:cNvPr id="7" name="Shape 5"/>
          <p:cNvSpPr/>
          <p:nvPr/>
        </p:nvSpPr>
        <p:spPr>
          <a:xfrm>
            <a:off x="731520" y="3200400"/>
            <a:ext cx="2286000" cy="36576"/>
          </a:xfrm>
          <a:prstGeom prst="rect">
            <a:avLst/>
          </a:prstGeom>
          <a:solidFill>
            <a:srgbClr val="14B8A6"/>
          </a:solidFill>
          <a:ln/>
        </p:spPr>
      </p:sp>
      <p:sp>
        <p:nvSpPr>
          <p:cNvPr id="8" name="Text 6"/>
          <p:cNvSpPr/>
          <p:nvPr/>
        </p:nvSpPr>
        <p:spPr>
          <a:xfrm>
            <a:off x="731520" y="3383280"/>
            <a:ext cx="5486400" cy="365760"/>
          </a:xfrm>
          <a:prstGeom prst="rect">
            <a:avLst/>
          </a:prstGeom>
          <a:noFill/>
          <a:ln/>
        </p:spPr>
        <p:txBody>
          <a:bodyPr wrap="square" lIns="0" tIns="0" rIns="0" bIns="0" rtlCol="0" anchor="ctr"/>
          <a:lstStyle/>
          <a:p>
            <a:pPr indent="0" marL="0">
              <a:buNone/>
            </a:pPr>
            <a:r>
              <a:rPr lang="en-US" sz="1600" b="1" dirty="0">
                <a:solidFill>
                  <a:srgbClr val="F0FDFA"/>
                </a:solidFill>
                <a:latin typeface="Arial" pitchFamily="34" charset="0"/>
                <a:ea typeface="Arial" pitchFamily="34" charset="-122"/>
                <a:cs typeface="Arial" pitchFamily="34" charset="-120"/>
              </a:rPr>
              <a:t>DANEEZ</a:t>
            </a:r>
            <a:endParaRPr lang="en-US" sz="1600" dirty="0"/>
          </a:p>
        </p:txBody>
      </p:sp>
      <p:sp>
        <p:nvSpPr>
          <p:cNvPr id="9" name="Text 7"/>
          <p:cNvSpPr/>
          <p:nvPr/>
        </p:nvSpPr>
        <p:spPr>
          <a:xfrm>
            <a:off x="731520" y="3703320"/>
            <a:ext cx="5486400" cy="27432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Engineering Ops &amp; AI Enablement Manager</a:t>
            </a:r>
            <a:endParaRPr lang="en-US" sz="1200" dirty="0"/>
          </a:p>
        </p:txBody>
      </p:sp>
      <p:sp>
        <p:nvSpPr>
          <p:cNvPr id="10" name="Text 8"/>
          <p:cNvSpPr/>
          <p:nvPr/>
        </p:nvSpPr>
        <p:spPr>
          <a:xfrm>
            <a:off x="731520" y="3931920"/>
            <a:ext cx="5486400" cy="274320"/>
          </a:xfrm>
          <a:prstGeom prst="rect">
            <a:avLst/>
          </a:prstGeom>
          <a:noFill/>
          <a:ln/>
        </p:spPr>
        <p:txBody>
          <a:bodyPr wrap="square" lIns="0" tIns="0" rIns="0" bIns="0" rtlCol="0" anchor="ctr"/>
          <a:lstStyle/>
          <a:p>
            <a:pPr indent="0" marL="0">
              <a:buNone/>
            </a:pPr>
            <a:r>
              <a:rPr lang="en-US" sz="1200" dirty="0">
                <a:solidFill>
                  <a:srgbClr val="14B8A6"/>
                </a:solidFill>
                <a:latin typeface="Calibri" pitchFamily="34" charset="0"/>
                <a:ea typeface="Calibri" pitchFamily="34" charset="-122"/>
                <a:cs typeface="Calibri" pitchFamily="34" charset="-120"/>
              </a:rPr>
              <a:t>CallRail</a:t>
            </a:r>
            <a:endParaRPr lang="en-US" sz="1200" dirty="0"/>
          </a:p>
        </p:txBody>
      </p:sp>
      <p:sp>
        <p:nvSpPr>
          <p:cNvPr id="11" name="Text 9"/>
          <p:cNvSpPr/>
          <p:nvPr/>
        </p:nvSpPr>
        <p:spPr>
          <a:xfrm>
            <a:off x="731520" y="4434840"/>
            <a:ext cx="3657600" cy="2743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DevNexus 2026  |  Atlanta, GA</a:t>
            </a:r>
            <a:endParaRPr lang="en-US" sz="1100" dirty="0"/>
          </a:p>
        </p:txBody>
      </p:sp>
      <p:sp>
        <p:nvSpPr>
          <p:cNvPr id="12" name="Shape 10"/>
          <p:cNvSpPr/>
          <p:nvPr/>
        </p:nvSpPr>
        <p:spPr>
          <a:xfrm>
            <a:off x="0" y="5070348"/>
            <a:ext cx="9144000" cy="73152"/>
          </a:xfrm>
          <a:prstGeom prst="rect">
            <a:avLst/>
          </a:prstGeom>
          <a:solidFill>
            <a:srgbClr val="14B8A6"/>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2E38"/>
        </a:solidFill>
      </p:bgPr>
    </p:bg>
    <p:spTree>
      <p:nvGrpSpPr>
        <p:cNvPr id="1" name=""/>
        <p:cNvGrpSpPr/>
        <p:nvPr/>
      </p:nvGrpSpPr>
      <p:grpSpPr>
        <a:xfrm>
          <a:off x="0" y="0"/>
          <a:ext cx="0" cy="0"/>
          <a:chOff x="0" y="0"/>
          <a:chExt cx="0" cy="0"/>
        </a:xfrm>
      </p:grpSpPr>
      <p:sp>
        <p:nvSpPr>
          <p:cNvPr id="2" name="Text 0"/>
          <p:cNvSpPr/>
          <p:nvPr/>
        </p:nvSpPr>
        <p:spPr>
          <a:xfrm>
            <a:off x="457200" y="731520"/>
            <a:ext cx="914400" cy="1097280"/>
          </a:xfrm>
          <a:prstGeom prst="rect">
            <a:avLst/>
          </a:prstGeom>
          <a:noFill/>
          <a:ln/>
        </p:spPr>
        <p:txBody>
          <a:bodyPr wrap="square" lIns="0" tIns="0" rIns="0" bIns="0" rtlCol="0" anchor="ctr"/>
          <a:lstStyle/>
          <a:p>
            <a:pPr indent="0" marL="0">
              <a:buNone/>
            </a:pPr>
            <a:r>
              <a:rPr lang="en-US" sz="12000" dirty="0">
                <a:solidFill>
                  <a:srgbClr val="14B8A6"/>
                </a:solidFill>
                <a:latin typeface="Georgia" pitchFamily="34" charset="0"/>
                <a:ea typeface="Georgia" pitchFamily="34" charset="-122"/>
                <a:cs typeface="Georgia" pitchFamily="34" charset="-120"/>
              </a:rPr>
              <a:t>"</a:t>
            </a:r>
            <a:endParaRPr lang="en-US" sz="12000" dirty="0"/>
          </a:p>
        </p:txBody>
      </p:sp>
      <p:sp>
        <p:nvSpPr>
          <p:cNvPr id="3" name="Text 1"/>
          <p:cNvSpPr/>
          <p:nvPr/>
        </p:nvSpPr>
        <p:spPr>
          <a:xfrm>
            <a:off x="1097280" y="1097280"/>
            <a:ext cx="6858000" cy="731520"/>
          </a:xfrm>
          <a:prstGeom prst="rect">
            <a:avLst/>
          </a:prstGeom>
          <a:noFill/>
          <a:ln/>
        </p:spPr>
        <p:txBody>
          <a:bodyPr wrap="square" lIns="0" tIns="0" rIns="0" bIns="0" rtlCol="0" anchor="ctr"/>
          <a:lstStyle/>
          <a:p>
            <a:pPr indent="0" marL="0">
              <a:buNone/>
            </a:pPr>
            <a:r>
              <a:rPr lang="en-US" sz="3600" dirty="0">
                <a:solidFill>
                  <a:srgbClr val="F0FDFA"/>
                </a:solidFill>
                <a:latin typeface="Arial Black" pitchFamily="34" charset="0"/>
                <a:ea typeface="Arial Black" pitchFamily="34" charset="-122"/>
                <a:cs typeface="Arial Black" pitchFamily="34" charset="-120"/>
              </a:rPr>
              <a:t>I'm not a developer.</a:t>
            </a:r>
            <a:endParaRPr lang="en-US" sz="3600" dirty="0"/>
          </a:p>
        </p:txBody>
      </p:sp>
      <p:sp>
        <p:nvSpPr>
          <p:cNvPr id="4" name="Text 2"/>
          <p:cNvSpPr/>
          <p:nvPr/>
        </p:nvSpPr>
        <p:spPr>
          <a:xfrm>
            <a:off x="1097280" y="1920240"/>
            <a:ext cx="6858000" cy="548640"/>
          </a:xfrm>
          <a:prstGeom prst="rect">
            <a:avLst/>
          </a:prstGeom>
          <a:noFill/>
          <a:ln/>
        </p:spPr>
        <p:txBody>
          <a:bodyPr wrap="square" lIns="0" tIns="0" rIns="0" bIns="0" rtlCol="0" anchor="ctr"/>
          <a:lstStyle/>
          <a:p>
            <a:pPr indent="0" marL="0">
              <a:buNone/>
            </a:pPr>
            <a:r>
              <a:rPr lang="en-US" sz="2200" dirty="0">
                <a:solidFill>
                  <a:srgbClr val="B4E4D9"/>
                </a:solidFill>
                <a:latin typeface="Calibri" pitchFamily="34" charset="0"/>
                <a:ea typeface="Calibri" pitchFamily="34" charset="-122"/>
                <a:cs typeface="Calibri" pitchFamily="34" charset="-120"/>
              </a:rPr>
              <a:t>I haven't written a for-loop in production in years.</a:t>
            </a:r>
            <a:endParaRPr lang="en-US" sz="2200" dirty="0"/>
          </a:p>
        </p:txBody>
      </p:sp>
      <p:sp>
        <p:nvSpPr>
          <p:cNvPr id="5" name="Shape 3"/>
          <p:cNvSpPr/>
          <p:nvPr/>
        </p:nvSpPr>
        <p:spPr>
          <a:xfrm>
            <a:off x="1097280" y="2926080"/>
            <a:ext cx="3657600" cy="36576"/>
          </a:xfrm>
          <a:prstGeom prst="rect">
            <a:avLst/>
          </a:prstGeom>
          <a:solidFill>
            <a:srgbClr val="F59E0B"/>
          </a:solidFill>
          <a:ln/>
        </p:spPr>
      </p:sp>
      <p:sp>
        <p:nvSpPr>
          <p:cNvPr id="6" name="Text 4"/>
          <p:cNvSpPr/>
          <p:nvPr/>
        </p:nvSpPr>
        <p:spPr>
          <a:xfrm>
            <a:off x="1097280" y="3291840"/>
            <a:ext cx="6858000" cy="640080"/>
          </a:xfrm>
          <a:prstGeom prst="rect">
            <a:avLst/>
          </a:prstGeom>
          <a:noFill/>
          <a:ln/>
        </p:spPr>
        <p:txBody>
          <a:bodyPr wrap="square" lIns="0" tIns="0" rIns="0" bIns="0" rtlCol="0" anchor="ctr"/>
          <a:lstStyle/>
          <a:p>
            <a:pPr indent="0" marL="0">
              <a:buNone/>
            </a:pPr>
            <a:r>
              <a:rPr lang="en-US" sz="2800" dirty="0">
                <a:solidFill>
                  <a:srgbClr val="F59E0B"/>
                </a:solidFill>
                <a:latin typeface="Arial Black" pitchFamily="34" charset="0"/>
                <a:ea typeface="Arial Black" pitchFamily="34" charset="-122"/>
                <a:cs typeface="Arial Black" pitchFamily="34" charset="-120"/>
              </a:rPr>
              <a:t>But I ship automation every week.</a:t>
            </a:r>
            <a:endParaRPr lang="en-US" sz="2800" dirty="0"/>
          </a:p>
        </p:txBody>
      </p:sp>
      <p:sp>
        <p:nvSpPr>
          <p:cNvPr id="7" name="Shape 5"/>
          <p:cNvSpPr/>
          <p:nvPr/>
        </p:nvSpPr>
        <p:spPr>
          <a:xfrm>
            <a:off x="0" y="4800600"/>
            <a:ext cx="9144000" cy="342900"/>
          </a:xfrm>
          <a:prstGeom prst="rect">
            <a:avLst/>
          </a:prstGeom>
          <a:solidFill>
            <a:srgbClr val="14B8A6"/>
          </a:solidFill>
          <a:ln/>
        </p:spPr>
      </p:sp>
      <p:sp>
        <p:nvSpPr>
          <p:cNvPr id="8" name="Text 6"/>
          <p:cNvSpPr/>
          <p:nvPr/>
        </p:nvSpPr>
        <p:spPr>
          <a:xfrm>
            <a:off x="457200" y="4800600"/>
            <a:ext cx="8229600" cy="342900"/>
          </a:xfrm>
          <a:prstGeom prst="rect">
            <a:avLst/>
          </a:prstGeom>
          <a:noFill/>
          <a:ln/>
        </p:spPr>
        <p:txBody>
          <a:bodyPr wrap="square" lIns="0" tIns="0" rIns="0" bIns="0" rtlCol="0" anchor="ctr"/>
          <a:lstStyle/>
          <a:p>
            <a:pPr algn="l" indent="0" marL="0">
              <a:buNone/>
            </a:pPr>
            <a:r>
              <a:rPr lang="en-US" sz="900" b="1" dirty="0">
                <a:solidFill>
                  <a:srgbClr val="081E25"/>
                </a:solidFill>
                <a:latin typeface="Calibri" pitchFamily="34" charset="0"/>
                <a:ea typeface="Calibri" pitchFamily="34" charset="-122"/>
                <a:cs typeface="Calibri" pitchFamily="34" charset="-120"/>
              </a:rPr>
              <a:t>THE CONFESSION</a:t>
            </a:r>
            <a:endParaRPr lang="en-US" sz="900" dirty="0"/>
          </a:p>
        </p:txBody>
      </p:sp>
      <p:sp>
        <p:nvSpPr>
          <p:cNvPr id="9" name="Text 7"/>
          <p:cNvSpPr/>
          <p:nvPr/>
        </p:nvSpPr>
        <p:spPr>
          <a:xfrm>
            <a:off x="8046720" y="4800600"/>
            <a:ext cx="914400" cy="342900"/>
          </a:xfrm>
          <a:prstGeom prst="rect">
            <a:avLst/>
          </a:prstGeom>
          <a:noFill/>
          <a:ln/>
        </p:spPr>
        <p:txBody>
          <a:bodyPr wrap="square" lIns="0" tIns="0" rIns="0" bIns="0" rtlCol="0" anchor="ctr"/>
          <a:lstStyle/>
          <a:p>
            <a:pPr algn="r" indent="0" marL="0">
              <a:buNone/>
            </a:pPr>
            <a:r>
              <a:rPr lang="en-US" sz="800" dirty="0">
                <a:solidFill>
                  <a:srgbClr val="081E25"/>
                </a:solidFill>
                <a:latin typeface="Calibri" pitchFamily="34" charset="0"/>
                <a:ea typeface="Calibri" pitchFamily="34" charset="-122"/>
                <a:cs typeface="Calibri" pitchFamily="34" charset="-120"/>
              </a:rPr>
              <a:t>2 / 31</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2E3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548640"/>
            <a:ext cx="457200" cy="457200"/>
          </a:xfrm>
          <a:prstGeom prst="rect">
            <a:avLst/>
          </a:prstGeom>
        </p:spPr>
      </p:pic>
      <p:sp>
        <p:nvSpPr>
          <p:cNvPr id="3" name="Text 0"/>
          <p:cNvSpPr/>
          <p:nvPr/>
        </p:nvSpPr>
        <p:spPr>
          <a:xfrm>
            <a:off x="1371600" y="548640"/>
            <a:ext cx="4572000" cy="457200"/>
          </a:xfrm>
          <a:prstGeom prst="rect">
            <a:avLst/>
          </a:prstGeom>
          <a:noFill/>
          <a:ln/>
        </p:spPr>
        <p:txBody>
          <a:bodyPr wrap="square" lIns="0" tIns="0" rIns="0" bIns="0" rtlCol="0" anchor="ctr"/>
          <a:lstStyle/>
          <a:p>
            <a:pPr indent="0" marL="0">
              <a:buNone/>
            </a:pPr>
            <a:r>
              <a:rPr lang="en-US" sz="1400" b="1" spc="400" kern="0" dirty="0">
                <a:solidFill>
                  <a:srgbClr val="F59E0B"/>
                </a:solidFill>
                <a:latin typeface="Arial" pitchFamily="34" charset="0"/>
                <a:ea typeface="Arial" pitchFamily="34" charset="-122"/>
                <a:cs typeface="Arial" pitchFamily="34" charset="-120"/>
              </a:rPr>
              <a:t>AUDIENCE POLL</a:t>
            </a:r>
            <a:endParaRPr lang="en-US" sz="1400" dirty="0"/>
          </a:p>
        </p:txBody>
      </p:sp>
      <p:sp>
        <p:nvSpPr>
          <p:cNvPr id="4" name="Text 1"/>
          <p:cNvSpPr/>
          <p:nvPr/>
        </p:nvSpPr>
        <p:spPr>
          <a:xfrm>
            <a:off x="731520" y="1188720"/>
            <a:ext cx="7315200" cy="822960"/>
          </a:xfrm>
          <a:prstGeom prst="rect">
            <a:avLst/>
          </a:prstGeom>
          <a:noFill/>
          <a:ln/>
        </p:spPr>
        <p:txBody>
          <a:bodyPr wrap="square" lIns="0" tIns="0" rIns="0" bIns="0" rtlCol="0" anchor="ctr"/>
          <a:lstStyle/>
          <a:p>
            <a:pPr indent="0" marL="0">
              <a:buNone/>
            </a:pPr>
            <a:r>
              <a:rPr lang="en-US" sz="2400" dirty="0">
                <a:solidFill>
                  <a:srgbClr val="F0FDFA"/>
                </a:solidFill>
                <a:latin typeface="Calibri" pitchFamily="34" charset="0"/>
                <a:ea typeface="Calibri" pitchFamily="34" charset="-122"/>
                <a:cs typeface="Calibri" pitchFamily="34" charset="-120"/>
              </a:rPr>
              <a:t>How many hours per month do you spend</a:t>
            </a:r>
            <a:endParaRPr lang="en-US" sz="2400" dirty="0"/>
          </a:p>
          <a:p>
            <a:pPr indent="0" marL="0">
              <a:buNone/>
            </a:pPr>
            <a:r>
              <a:rPr lang="en-US" sz="2400" dirty="0">
                <a:solidFill>
                  <a:srgbClr val="F0FDFA"/>
                </a:solidFill>
                <a:latin typeface="Calibri" pitchFamily="34" charset="0"/>
                <a:ea typeface="Calibri" pitchFamily="34" charset="-122"/>
                <a:cs typeface="Calibri" pitchFamily="34" charset="-120"/>
              </a:rPr>
              <a:t>on reporting and status updates?</a:t>
            </a:r>
            <a:endParaRPr lang="en-US" sz="2400" dirty="0"/>
          </a:p>
        </p:txBody>
      </p:sp>
      <p:sp>
        <p:nvSpPr>
          <p:cNvPr id="5" name="Shape 2"/>
          <p:cNvSpPr/>
          <p:nvPr/>
        </p:nvSpPr>
        <p:spPr>
          <a:xfrm>
            <a:off x="1097280" y="2286000"/>
            <a:ext cx="6400800" cy="502920"/>
          </a:xfrm>
          <a:prstGeom prst="rect">
            <a:avLst/>
          </a:prstGeom>
          <a:solidFill>
            <a:srgbClr val="0F3D4A"/>
          </a:solidFill>
          <a:ln/>
          <a:effectLst>
            <a:outerShdw sx="100000" sy="100000" kx="0" ky="0" algn="bl" rotWithShape="0" blurRad="76200" dist="25400" dir="8100000">
              <a:srgbClr val="000000">
                <a:alpha val="20000"/>
              </a:srgbClr>
            </a:outerShdw>
          </a:effectLst>
        </p:spPr>
      </p:sp>
      <p:sp>
        <p:nvSpPr>
          <p:cNvPr id="6" name="Shape 3"/>
          <p:cNvSpPr/>
          <p:nvPr/>
        </p:nvSpPr>
        <p:spPr>
          <a:xfrm>
            <a:off x="1097280" y="2286000"/>
            <a:ext cx="54864" cy="502920"/>
          </a:xfrm>
          <a:prstGeom prst="rect">
            <a:avLst/>
          </a:prstGeom>
          <a:solidFill>
            <a:srgbClr val="14B8A6"/>
          </a:solidFill>
          <a:ln/>
        </p:spPr>
      </p:sp>
      <p:sp>
        <p:nvSpPr>
          <p:cNvPr id="7" name="Text 4"/>
          <p:cNvSpPr/>
          <p:nvPr/>
        </p:nvSpPr>
        <p:spPr>
          <a:xfrm>
            <a:off x="1371600" y="2286000"/>
            <a:ext cx="4572000" cy="502920"/>
          </a:xfrm>
          <a:prstGeom prst="rect">
            <a:avLst/>
          </a:prstGeom>
          <a:noFill/>
          <a:ln/>
        </p:spPr>
        <p:txBody>
          <a:bodyPr wrap="square" lIns="0" tIns="0" rIns="0" bIns="0" rtlCol="0" anchor="ctr"/>
          <a:lstStyle/>
          <a:p>
            <a:pPr indent="0" marL="0">
              <a:buNone/>
            </a:pPr>
            <a:r>
              <a:rPr lang="en-US" sz="2000" b="1" dirty="0">
                <a:solidFill>
                  <a:srgbClr val="F0FDFA"/>
                </a:solidFill>
                <a:latin typeface="Calibri" pitchFamily="34" charset="0"/>
                <a:ea typeface="Calibri" pitchFamily="34" charset="-122"/>
                <a:cs typeface="Calibri" pitchFamily="34" charset="-120"/>
              </a:rPr>
              <a:t>&gt; 4 hours</a:t>
            </a:r>
            <a:endParaRPr lang="en-US" sz="2000" dirty="0"/>
          </a:p>
        </p:txBody>
      </p:sp>
      <p:sp>
        <p:nvSpPr>
          <p:cNvPr id="8" name="Text 5"/>
          <p:cNvSpPr/>
          <p:nvPr/>
        </p:nvSpPr>
        <p:spPr>
          <a:xfrm>
            <a:off x="5943600" y="2286000"/>
            <a:ext cx="1371600" cy="502920"/>
          </a:xfrm>
          <a:prstGeom prst="rect">
            <a:avLst/>
          </a:prstGeom>
          <a:noFill/>
          <a:ln/>
        </p:spPr>
        <p:txBody>
          <a:bodyPr wrap="square" lIns="0" tIns="0" rIns="0" bIns="0" rtlCol="0" anchor="ctr"/>
          <a:lstStyle/>
          <a:p>
            <a:pPr algn="ctr" indent="0" marL="0">
              <a:buNone/>
            </a:pPr>
            <a:r>
              <a:rPr lang="en-US" sz="1000" dirty="0">
                <a:solidFill>
                  <a:srgbClr val="94A3B8"/>
                </a:solidFill>
                <a:latin typeface="Arial" pitchFamily="34" charset="0"/>
                <a:ea typeface="Arial" pitchFamily="34" charset="-122"/>
                <a:cs typeface="Arial" pitchFamily="34" charset="-120"/>
              </a:rPr>
              <a:t>RAISE HANDS</a:t>
            </a:r>
            <a:endParaRPr lang="en-US" sz="1000" dirty="0"/>
          </a:p>
        </p:txBody>
      </p:sp>
      <p:sp>
        <p:nvSpPr>
          <p:cNvPr id="9" name="Shape 6"/>
          <p:cNvSpPr/>
          <p:nvPr/>
        </p:nvSpPr>
        <p:spPr>
          <a:xfrm>
            <a:off x="1097280" y="2926080"/>
            <a:ext cx="6400800" cy="502920"/>
          </a:xfrm>
          <a:prstGeom prst="rect">
            <a:avLst/>
          </a:prstGeom>
          <a:solidFill>
            <a:srgbClr val="0F3D4A"/>
          </a:solidFill>
          <a:ln/>
          <a:effectLst>
            <a:outerShdw sx="100000" sy="100000" kx="0" ky="0" algn="bl" rotWithShape="0" blurRad="76200" dist="25400" dir="8100000">
              <a:srgbClr val="000000">
                <a:alpha val="20000"/>
              </a:srgbClr>
            </a:outerShdw>
          </a:effectLst>
        </p:spPr>
      </p:sp>
      <p:sp>
        <p:nvSpPr>
          <p:cNvPr id="10" name="Shape 7"/>
          <p:cNvSpPr/>
          <p:nvPr/>
        </p:nvSpPr>
        <p:spPr>
          <a:xfrm>
            <a:off x="1097280" y="2926080"/>
            <a:ext cx="54864" cy="502920"/>
          </a:xfrm>
          <a:prstGeom prst="rect">
            <a:avLst/>
          </a:prstGeom>
          <a:solidFill>
            <a:srgbClr val="14B8A6"/>
          </a:solidFill>
          <a:ln/>
        </p:spPr>
      </p:sp>
      <p:sp>
        <p:nvSpPr>
          <p:cNvPr id="11" name="Text 8"/>
          <p:cNvSpPr/>
          <p:nvPr/>
        </p:nvSpPr>
        <p:spPr>
          <a:xfrm>
            <a:off x="1371600" y="2926080"/>
            <a:ext cx="4572000" cy="502920"/>
          </a:xfrm>
          <a:prstGeom prst="rect">
            <a:avLst/>
          </a:prstGeom>
          <a:noFill/>
          <a:ln/>
        </p:spPr>
        <p:txBody>
          <a:bodyPr wrap="square" lIns="0" tIns="0" rIns="0" bIns="0" rtlCol="0" anchor="ctr"/>
          <a:lstStyle/>
          <a:p>
            <a:pPr indent="0" marL="0">
              <a:buNone/>
            </a:pPr>
            <a:r>
              <a:rPr lang="en-US" sz="2000" b="1" dirty="0">
                <a:solidFill>
                  <a:srgbClr val="F0FDFA"/>
                </a:solidFill>
                <a:latin typeface="Calibri" pitchFamily="34" charset="0"/>
                <a:ea typeface="Calibri" pitchFamily="34" charset="-122"/>
                <a:cs typeface="Calibri" pitchFamily="34" charset="-120"/>
              </a:rPr>
              <a:t>&gt; 8 hours</a:t>
            </a:r>
            <a:endParaRPr lang="en-US" sz="2000" dirty="0"/>
          </a:p>
        </p:txBody>
      </p:sp>
      <p:sp>
        <p:nvSpPr>
          <p:cNvPr id="12" name="Text 9"/>
          <p:cNvSpPr/>
          <p:nvPr/>
        </p:nvSpPr>
        <p:spPr>
          <a:xfrm>
            <a:off x="5943600" y="2926080"/>
            <a:ext cx="1371600" cy="502920"/>
          </a:xfrm>
          <a:prstGeom prst="rect">
            <a:avLst/>
          </a:prstGeom>
          <a:noFill/>
          <a:ln/>
        </p:spPr>
        <p:txBody>
          <a:bodyPr wrap="square" lIns="0" tIns="0" rIns="0" bIns="0" rtlCol="0" anchor="ctr"/>
          <a:lstStyle/>
          <a:p>
            <a:pPr algn="ctr" indent="0" marL="0">
              <a:buNone/>
            </a:pPr>
            <a:r>
              <a:rPr lang="en-US" sz="1000" dirty="0">
                <a:solidFill>
                  <a:srgbClr val="94A3B8"/>
                </a:solidFill>
                <a:latin typeface="Arial" pitchFamily="34" charset="0"/>
                <a:ea typeface="Arial" pitchFamily="34" charset="-122"/>
                <a:cs typeface="Arial" pitchFamily="34" charset="-120"/>
              </a:rPr>
              <a:t>RAISE HANDS</a:t>
            </a:r>
            <a:endParaRPr lang="en-US" sz="1000" dirty="0"/>
          </a:p>
        </p:txBody>
      </p:sp>
      <p:sp>
        <p:nvSpPr>
          <p:cNvPr id="13" name="Shape 10"/>
          <p:cNvSpPr/>
          <p:nvPr/>
        </p:nvSpPr>
        <p:spPr>
          <a:xfrm>
            <a:off x="1097280" y="3566160"/>
            <a:ext cx="6400800" cy="502920"/>
          </a:xfrm>
          <a:prstGeom prst="rect">
            <a:avLst/>
          </a:prstGeom>
          <a:solidFill>
            <a:srgbClr val="0F3D4A"/>
          </a:solidFill>
          <a:ln/>
          <a:effectLst>
            <a:outerShdw sx="100000" sy="100000" kx="0" ky="0" algn="bl" rotWithShape="0" blurRad="76200" dist="25400" dir="8100000">
              <a:srgbClr val="000000">
                <a:alpha val="20000"/>
              </a:srgbClr>
            </a:outerShdw>
          </a:effectLst>
        </p:spPr>
      </p:sp>
      <p:sp>
        <p:nvSpPr>
          <p:cNvPr id="14" name="Shape 11"/>
          <p:cNvSpPr/>
          <p:nvPr/>
        </p:nvSpPr>
        <p:spPr>
          <a:xfrm>
            <a:off x="1097280" y="3566160"/>
            <a:ext cx="54864" cy="502920"/>
          </a:xfrm>
          <a:prstGeom prst="rect">
            <a:avLst/>
          </a:prstGeom>
          <a:solidFill>
            <a:srgbClr val="F59E0B"/>
          </a:solidFill>
          <a:ln/>
        </p:spPr>
      </p:sp>
      <p:sp>
        <p:nvSpPr>
          <p:cNvPr id="15" name="Text 12"/>
          <p:cNvSpPr/>
          <p:nvPr/>
        </p:nvSpPr>
        <p:spPr>
          <a:xfrm>
            <a:off x="1371600" y="3566160"/>
            <a:ext cx="4572000" cy="502920"/>
          </a:xfrm>
          <a:prstGeom prst="rect">
            <a:avLst/>
          </a:prstGeom>
          <a:noFill/>
          <a:ln/>
        </p:spPr>
        <p:txBody>
          <a:bodyPr wrap="square" lIns="0" tIns="0" rIns="0" bIns="0" rtlCol="0" anchor="ctr"/>
          <a:lstStyle/>
          <a:p>
            <a:pPr indent="0" marL="0">
              <a:buNone/>
            </a:pPr>
            <a:r>
              <a:rPr lang="en-US" sz="2000" b="1" dirty="0">
                <a:solidFill>
                  <a:srgbClr val="F0FDFA"/>
                </a:solidFill>
                <a:latin typeface="Calibri" pitchFamily="34" charset="0"/>
                <a:ea typeface="Calibri" pitchFamily="34" charset="-122"/>
                <a:cs typeface="Calibri" pitchFamily="34" charset="-120"/>
              </a:rPr>
              <a:t>&gt; A full day</a:t>
            </a:r>
            <a:endParaRPr lang="en-US" sz="2000" dirty="0"/>
          </a:p>
        </p:txBody>
      </p:sp>
      <p:sp>
        <p:nvSpPr>
          <p:cNvPr id="16" name="Text 13"/>
          <p:cNvSpPr/>
          <p:nvPr/>
        </p:nvSpPr>
        <p:spPr>
          <a:xfrm>
            <a:off x="5943600" y="3566160"/>
            <a:ext cx="1371600" cy="502920"/>
          </a:xfrm>
          <a:prstGeom prst="rect">
            <a:avLst/>
          </a:prstGeom>
          <a:noFill/>
          <a:ln/>
        </p:spPr>
        <p:txBody>
          <a:bodyPr wrap="square" lIns="0" tIns="0" rIns="0" bIns="0" rtlCol="0" anchor="ctr"/>
          <a:lstStyle/>
          <a:p>
            <a:pPr algn="ctr" indent="0" marL="0">
              <a:buNone/>
            </a:pPr>
            <a:r>
              <a:rPr lang="en-US" sz="1000" dirty="0">
                <a:solidFill>
                  <a:srgbClr val="94A3B8"/>
                </a:solidFill>
                <a:latin typeface="Arial" pitchFamily="34" charset="0"/>
                <a:ea typeface="Arial" pitchFamily="34" charset="-122"/>
                <a:cs typeface="Arial" pitchFamily="34" charset="-120"/>
              </a:rPr>
              <a:t>RAISE HANDS</a:t>
            </a:r>
            <a:endParaRPr lang="en-US" sz="1000" dirty="0"/>
          </a:p>
        </p:txBody>
      </p:sp>
      <p:sp>
        <p:nvSpPr>
          <p:cNvPr id="17" name="Shape 14"/>
          <p:cNvSpPr/>
          <p:nvPr/>
        </p:nvSpPr>
        <p:spPr>
          <a:xfrm>
            <a:off x="0" y="4800600"/>
            <a:ext cx="9144000" cy="342900"/>
          </a:xfrm>
          <a:prstGeom prst="rect">
            <a:avLst/>
          </a:prstGeom>
          <a:solidFill>
            <a:srgbClr val="14B8A6"/>
          </a:solidFill>
          <a:ln/>
        </p:spPr>
      </p:sp>
      <p:sp>
        <p:nvSpPr>
          <p:cNvPr id="18" name="Text 15"/>
          <p:cNvSpPr/>
          <p:nvPr/>
        </p:nvSpPr>
        <p:spPr>
          <a:xfrm>
            <a:off x="457200" y="4800600"/>
            <a:ext cx="8229600" cy="342900"/>
          </a:xfrm>
          <a:prstGeom prst="rect">
            <a:avLst/>
          </a:prstGeom>
          <a:noFill/>
          <a:ln/>
        </p:spPr>
        <p:txBody>
          <a:bodyPr wrap="square" lIns="0" tIns="0" rIns="0" bIns="0" rtlCol="0" anchor="ctr"/>
          <a:lstStyle/>
          <a:p>
            <a:pPr algn="l" indent="0" marL="0">
              <a:buNone/>
            </a:pPr>
            <a:r>
              <a:rPr lang="en-US" sz="900" b="1" dirty="0">
                <a:solidFill>
                  <a:srgbClr val="081E25"/>
                </a:solidFill>
                <a:latin typeface="Calibri" pitchFamily="34" charset="0"/>
                <a:ea typeface="Calibri" pitchFamily="34" charset="-122"/>
                <a:cs typeface="Calibri" pitchFamily="34" charset="-120"/>
              </a:rPr>
              <a:t>THE BIG REVEAL</a:t>
            </a:r>
            <a:endParaRPr lang="en-US" sz="900" dirty="0"/>
          </a:p>
        </p:txBody>
      </p:sp>
      <p:sp>
        <p:nvSpPr>
          <p:cNvPr id="19" name="Text 16"/>
          <p:cNvSpPr/>
          <p:nvPr/>
        </p:nvSpPr>
        <p:spPr>
          <a:xfrm>
            <a:off x="8046720" y="4800600"/>
            <a:ext cx="914400" cy="342900"/>
          </a:xfrm>
          <a:prstGeom prst="rect">
            <a:avLst/>
          </a:prstGeom>
          <a:noFill/>
          <a:ln/>
        </p:spPr>
        <p:txBody>
          <a:bodyPr wrap="square" lIns="0" tIns="0" rIns="0" bIns="0" rtlCol="0" anchor="ctr"/>
          <a:lstStyle/>
          <a:p>
            <a:pPr algn="r" indent="0" marL="0">
              <a:buNone/>
            </a:pPr>
            <a:r>
              <a:rPr lang="en-US" sz="800" dirty="0">
                <a:solidFill>
                  <a:srgbClr val="081E25"/>
                </a:solidFill>
                <a:latin typeface="Calibri" pitchFamily="34" charset="0"/>
                <a:ea typeface="Calibri" pitchFamily="34" charset="-122"/>
                <a:cs typeface="Calibri" pitchFamily="34" charset="-120"/>
              </a:rPr>
              <a:t>3 / 31</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2E38"/>
        </a:solidFill>
      </p:bgPr>
    </p:bg>
    <p:spTree>
      <p:nvGrpSpPr>
        <p:cNvPr id="1" name=""/>
        <p:cNvGrpSpPr/>
        <p:nvPr/>
      </p:nvGrpSpPr>
      <p:grpSpPr>
        <a:xfrm>
          <a:off x="0" y="0"/>
          <a:ext cx="0" cy="0"/>
          <a:chOff x="0" y="0"/>
          <a:chExt cx="0" cy="0"/>
        </a:xfrm>
      </p:grpSpPr>
      <p:sp>
        <p:nvSpPr>
          <p:cNvPr id="2" name="Text 0"/>
          <p:cNvSpPr/>
          <p:nvPr/>
        </p:nvSpPr>
        <p:spPr>
          <a:xfrm>
            <a:off x="731520" y="457200"/>
            <a:ext cx="7315200" cy="365760"/>
          </a:xfrm>
          <a:prstGeom prst="rect">
            <a:avLst/>
          </a:prstGeom>
          <a:noFill/>
          <a:ln/>
        </p:spPr>
        <p:txBody>
          <a:bodyPr wrap="square" lIns="0" tIns="0" rIns="0" bIns="0" rtlCol="0" anchor="ctr"/>
          <a:lstStyle/>
          <a:p>
            <a:pPr indent="0" marL="0">
              <a:buNone/>
            </a:pPr>
            <a:r>
              <a:rPr lang="en-US" sz="1400" b="1" spc="400" kern="0" dirty="0">
                <a:solidFill>
                  <a:srgbClr val="14B8A6"/>
                </a:solidFill>
                <a:latin typeface="Arial" pitchFamily="34" charset="0"/>
                <a:ea typeface="Arial" pitchFamily="34" charset="-122"/>
                <a:cs typeface="Arial" pitchFamily="34" charset="-120"/>
              </a:rPr>
              <a:t>MONTHLY REPORTING</a:t>
            </a:r>
            <a:endParaRPr lang="en-US" sz="1400" dirty="0"/>
          </a:p>
        </p:txBody>
      </p:sp>
      <p:sp>
        <p:nvSpPr>
          <p:cNvPr id="3" name="Shape 1"/>
          <p:cNvSpPr/>
          <p:nvPr/>
        </p:nvSpPr>
        <p:spPr>
          <a:xfrm>
            <a:off x="731520" y="1097280"/>
            <a:ext cx="3474720" cy="2560320"/>
          </a:xfrm>
          <a:prstGeom prst="rect">
            <a:avLst/>
          </a:prstGeom>
          <a:solidFill>
            <a:srgbClr val="0F3D4A"/>
          </a:solidFill>
          <a:ln/>
          <a:effectLst>
            <a:outerShdw sx="100000" sy="100000" kx="0" ky="0" algn="bl" rotWithShape="0" blurRad="76200" dist="25400" dir="8100000">
              <a:srgbClr val="000000">
                <a:alpha val="20000"/>
              </a:srgbClr>
            </a:outerShdw>
          </a:effectLst>
        </p:spPr>
      </p:sp>
      <p:sp>
        <p:nvSpPr>
          <p:cNvPr id="4" name="Text 2"/>
          <p:cNvSpPr/>
          <p:nvPr/>
        </p:nvSpPr>
        <p:spPr>
          <a:xfrm>
            <a:off x="731520" y="1097280"/>
            <a:ext cx="3474720" cy="457200"/>
          </a:xfrm>
          <a:prstGeom prst="rect">
            <a:avLst/>
          </a:prstGeom>
          <a:noFill/>
          <a:ln/>
        </p:spPr>
        <p:txBody>
          <a:bodyPr wrap="square" lIns="0" tIns="0" rIns="0" bIns="0" rtlCol="0" anchor="ctr"/>
          <a:lstStyle/>
          <a:p>
            <a:pPr algn="ctr" indent="0" marL="0">
              <a:buNone/>
            </a:pPr>
            <a:r>
              <a:rPr lang="en-US" sz="1200" b="1" dirty="0">
                <a:solidFill>
                  <a:srgbClr val="EF4444"/>
                </a:solidFill>
                <a:latin typeface="Arial" pitchFamily="34" charset="0"/>
                <a:ea typeface="Arial" pitchFamily="34" charset="-122"/>
                <a:cs typeface="Arial" pitchFamily="34" charset="-120"/>
              </a:rPr>
              <a:t>BEFORE</a:t>
            </a:r>
            <a:endParaRPr lang="en-US" sz="1200" dirty="0"/>
          </a:p>
        </p:txBody>
      </p:sp>
      <p:sp>
        <p:nvSpPr>
          <p:cNvPr id="5" name="Text 3"/>
          <p:cNvSpPr/>
          <p:nvPr/>
        </p:nvSpPr>
        <p:spPr>
          <a:xfrm>
            <a:off x="731520" y="1554480"/>
            <a:ext cx="3474720" cy="1280160"/>
          </a:xfrm>
          <a:prstGeom prst="rect">
            <a:avLst/>
          </a:prstGeom>
          <a:noFill/>
          <a:ln/>
        </p:spPr>
        <p:txBody>
          <a:bodyPr wrap="square" lIns="0" tIns="0" rIns="0" bIns="0" rtlCol="0" anchor="ctr"/>
          <a:lstStyle/>
          <a:p>
            <a:pPr algn="ctr" indent="0" marL="0">
              <a:buNone/>
            </a:pPr>
            <a:r>
              <a:rPr lang="en-US" sz="7200" dirty="0">
                <a:solidFill>
                  <a:srgbClr val="EF4444"/>
                </a:solidFill>
                <a:latin typeface="Arial Black" pitchFamily="34" charset="0"/>
                <a:ea typeface="Arial Black" pitchFamily="34" charset="-122"/>
                <a:cs typeface="Arial Black" pitchFamily="34" charset="-120"/>
              </a:rPr>
              <a:t>2</a:t>
            </a:r>
            <a:endParaRPr lang="en-US" sz="7200" dirty="0"/>
          </a:p>
        </p:txBody>
      </p:sp>
      <p:sp>
        <p:nvSpPr>
          <p:cNvPr id="6" name="Text 4"/>
          <p:cNvSpPr/>
          <p:nvPr/>
        </p:nvSpPr>
        <p:spPr>
          <a:xfrm>
            <a:off x="731520" y="2743200"/>
            <a:ext cx="3474720" cy="457200"/>
          </a:xfrm>
          <a:prstGeom prst="rect">
            <a:avLst/>
          </a:prstGeom>
          <a:noFill/>
          <a:ln/>
        </p:spPr>
        <p:txBody>
          <a:bodyPr wrap="square" lIns="0" tIns="0" rIns="0" bIns="0" rtlCol="0" anchor="ctr"/>
          <a:lstStyle/>
          <a:p>
            <a:pPr algn="ctr" indent="0" marL="0">
              <a:buNone/>
            </a:pPr>
            <a:r>
              <a:rPr lang="en-US" sz="1600" dirty="0">
                <a:solidFill>
                  <a:srgbClr val="94A3B8"/>
                </a:solidFill>
                <a:latin typeface="Calibri" pitchFamily="34" charset="0"/>
                <a:ea typeface="Calibri" pitchFamily="34" charset="-122"/>
                <a:cs typeface="Calibri" pitchFamily="34" charset="-120"/>
              </a:rPr>
              <a:t>days of back-and-forth</a:t>
            </a:r>
            <a:endParaRPr lang="en-US" sz="1600" dirty="0"/>
          </a:p>
        </p:txBody>
      </p:sp>
      <p:pic>
        <p:nvPicPr>
          <p:cNvPr id="7" name="Image 0" descr="preencoded.png">    </p:cNvPr>
          <p:cNvPicPr>
            <a:picLocks noChangeAspect="1"/>
          </p:cNvPicPr>
          <p:nvPr/>
        </p:nvPicPr>
        <p:blipFill>
          <a:blip r:embed="rId1"/>
          <a:stretch>
            <a:fillRect/>
          </a:stretch>
        </p:blipFill>
        <p:spPr>
          <a:xfrm>
            <a:off x="4343400" y="2011680"/>
            <a:ext cx="457200" cy="457200"/>
          </a:xfrm>
          <a:prstGeom prst="rect">
            <a:avLst/>
          </a:prstGeom>
        </p:spPr>
      </p:pic>
      <p:sp>
        <p:nvSpPr>
          <p:cNvPr id="8" name="Shape 5"/>
          <p:cNvSpPr/>
          <p:nvPr/>
        </p:nvSpPr>
        <p:spPr>
          <a:xfrm>
            <a:off x="4937760" y="1097280"/>
            <a:ext cx="3474720" cy="2560320"/>
          </a:xfrm>
          <a:prstGeom prst="rect">
            <a:avLst/>
          </a:prstGeom>
          <a:solidFill>
            <a:srgbClr val="0F3D4A"/>
          </a:solidFill>
          <a:ln/>
          <a:effectLst>
            <a:outerShdw sx="100000" sy="100000" kx="0" ky="0" algn="bl" rotWithShape="0" blurRad="76200" dist="25400" dir="8100000">
              <a:srgbClr val="000000">
                <a:alpha val="20000"/>
              </a:srgbClr>
            </a:outerShdw>
          </a:effectLst>
        </p:spPr>
      </p:sp>
      <p:sp>
        <p:nvSpPr>
          <p:cNvPr id="9" name="Text 6"/>
          <p:cNvSpPr/>
          <p:nvPr/>
        </p:nvSpPr>
        <p:spPr>
          <a:xfrm>
            <a:off x="4937760" y="1097280"/>
            <a:ext cx="3474720" cy="457200"/>
          </a:xfrm>
          <a:prstGeom prst="rect">
            <a:avLst/>
          </a:prstGeom>
          <a:noFill/>
          <a:ln/>
        </p:spPr>
        <p:txBody>
          <a:bodyPr wrap="square" lIns="0" tIns="0" rIns="0" bIns="0" rtlCol="0" anchor="ctr"/>
          <a:lstStyle/>
          <a:p>
            <a:pPr algn="ctr" indent="0" marL="0">
              <a:buNone/>
            </a:pPr>
            <a:r>
              <a:rPr lang="en-US" sz="1200" b="1" dirty="0">
                <a:solidFill>
                  <a:srgbClr val="22C55E"/>
                </a:solidFill>
                <a:latin typeface="Arial" pitchFamily="34" charset="0"/>
                <a:ea typeface="Arial" pitchFamily="34" charset="-122"/>
                <a:cs typeface="Arial" pitchFamily="34" charset="-120"/>
              </a:rPr>
              <a:t>AFTER</a:t>
            </a:r>
            <a:endParaRPr lang="en-US" sz="1200" dirty="0"/>
          </a:p>
        </p:txBody>
      </p:sp>
      <p:sp>
        <p:nvSpPr>
          <p:cNvPr id="10" name="Text 7"/>
          <p:cNvSpPr/>
          <p:nvPr/>
        </p:nvSpPr>
        <p:spPr>
          <a:xfrm>
            <a:off x="4937760" y="1554480"/>
            <a:ext cx="3474720" cy="1280160"/>
          </a:xfrm>
          <a:prstGeom prst="rect">
            <a:avLst/>
          </a:prstGeom>
          <a:noFill/>
          <a:ln/>
        </p:spPr>
        <p:txBody>
          <a:bodyPr wrap="square" lIns="0" tIns="0" rIns="0" bIns="0" rtlCol="0" anchor="ctr"/>
          <a:lstStyle/>
          <a:p>
            <a:pPr algn="ctr" indent="0" marL="0">
              <a:buNone/>
            </a:pPr>
            <a:r>
              <a:rPr lang="en-US" sz="7200" dirty="0">
                <a:solidFill>
                  <a:srgbClr val="22C55E"/>
                </a:solidFill>
                <a:latin typeface="Arial Black" pitchFamily="34" charset="0"/>
                <a:ea typeface="Arial Black" pitchFamily="34" charset="-122"/>
                <a:cs typeface="Arial Black" pitchFamily="34" charset="-120"/>
              </a:rPr>
              <a:t>15</a:t>
            </a:r>
            <a:endParaRPr lang="en-US" sz="7200" dirty="0"/>
          </a:p>
        </p:txBody>
      </p:sp>
      <p:sp>
        <p:nvSpPr>
          <p:cNvPr id="11" name="Text 8"/>
          <p:cNvSpPr/>
          <p:nvPr/>
        </p:nvSpPr>
        <p:spPr>
          <a:xfrm>
            <a:off x="4937760" y="2743200"/>
            <a:ext cx="3474720" cy="457200"/>
          </a:xfrm>
          <a:prstGeom prst="rect">
            <a:avLst/>
          </a:prstGeom>
          <a:noFill/>
          <a:ln/>
        </p:spPr>
        <p:txBody>
          <a:bodyPr wrap="square" lIns="0" tIns="0" rIns="0" bIns="0" rtlCol="0" anchor="ctr"/>
          <a:lstStyle/>
          <a:p>
            <a:pPr algn="ctr" indent="0" marL="0">
              <a:buNone/>
            </a:pPr>
            <a:r>
              <a:rPr lang="en-US" sz="1600" dirty="0">
                <a:solidFill>
                  <a:srgbClr val="94A3B8"/>
                </a:solidFill>
                <a:latin typeface="Calibri" pitchFamily="34" charset="0"/>
                <a:ea typeface="Calibri" pitchFamily="34" charset="-122"/>
                <a:cs typeface="Calibri" pitchFamily="34" charset="-120"/>
              </a:rPr>
              <a:t>minutes per report</a:t>
            </a:r>
            <a:endParaRPr lang="en-US" sz="1600" dirty="0"/>
          </a:p>
        </p:txBody>
      </p:sp>
      <p:sp>
        <p:nvSpPr>
          <p:cNvPr id="12" name="Shape 9"/>
          <p:cNvSpPr/>
          <p:nvPr/>
        </p:nvSpPr>
        <p:spPr>
          <a:xfrm>
            <a:off x="731520" y="4023360"/>
            <a:ext cx="7680960" cy="36576"/>
          </a:xfrm>
          <a:prstGeom prst="rect">
            <a:avLst/>
          </a:prstGeom>
          <a:solidFill>
            <a:srgbClr val="14B8A6"/>
          </a:solidFill>
          <a:ln/>
        </p:spPr>
      </p:sp>
      <p:sp>
        <p:nvSpPr>
          <p:cNvPr id="13" name="Text 10"/>
          <p:cNvSpPr/>
          <p:nvPr/>
        </p:nvSpPr>
        <p:spPr>
          <a:xfrm>
            <a:off x="731520" y="4160520"/>
            <a:ext cx="7680960" cy="365760"/>
          </a:xfrm>
          <a:prstGeom prst="rect">
            <a:avLst/>
          </a:prstGeom>
          <a:noFill/>
          <a:ln/>
        </p:spPr>
        <p:txBody>
          <a:bodyPr wrap="square" lIns="0" tIns="0" rIns="0" bIns="0" rtlCol="0" anchor="ctr"/>
          <a:lstStyle/>
          <a:p>
            <a:pPr algn="ctr" indent="0" marL="0">
              <a:buNone/>
            </a:pPr>
            <a:r>
              <a:rPr lang="en-US" sz="1400" dirty="0">
                <a:solidFill>
                  <a:srgbClr val="5EEAD4"/>
                </a:solidFill>
                <a:latin typeface="Calibri" pitchFamily="34" charset="0"/>
                <a:ea typeface="Calibri" pitchFamily="34" charset="-122"/>
                <a:cs typeface="Calibri" pitchFamily="34" charset="-120"/>
              </a:rPr>
              <a:t>2 days of revisions → 15 minutes, no edits needed</a:t>
            </a:r>
            <a:endParaRPr lang="en-US" sz="1400" dirty="0"/>
          </a:p>
        </p:txBody>
      </p:sp>
      <p:sp>
        <p:nvSpPr>
          <p:cNvPr id="14" name="Shape 11"/>
          <p:cNvSpPr/>
          <p:nvPr/>
        </p:nvSpPr>
        <p:spPr>
          <a:xfrm>
            <a:off x="0" y="4800600"/>
            <a:ext cx="9144000" cy="342900"/>
          </a:xfrm>
          <a:prstGeom prst="rect">
            <a:avLst/>
          </a:prstGeom>
          <a:solidFill>
            <a:srgbClr val="14B8A6"/>
          </a:solidFill>
          <a:ln/>
        </p:spPr>
      </p:sp>
      <p:sp>
        <p:nvSpPr>
          <p:cNvPr id="15" name="Text 12"/>
          <p:cNvSpPr/>
          <p:nvPr/>
        </p:nvSpPr>
        <p:spPr>
          <a:xfrm>
            <a:off x="457200" y="4800600"/>
            <a:ext cx="8229600" cy="342900"/>
          </a:xfrm>
          <a:prstGeom prst="rect">
            <a:avLst/>
          </a:prstGeom>
          <a:noFill/>
          <a:ln/>
        </p:spPr>
        <p:txBody>
          <a:bodyPr wrap="square" lIns="0" tIns="0" rIns="0" bIns="0" rtlCol="0" anchor="ctr"/>
          <a:lstStyle/>
          <a:p>
            <a:pPr algn="l" indent="0" marL="0">
              <a:buNone/>
            </a:pPr>
            <a:r>
              <a:rPr lang="en-US" sz="900" b="1" dirty="0">
                <a:solidFill>
                  <a:srgbClr val="081E25"/>
                </a:solidFill>
                <a:latin typeface="Calibri" pitchFamily="34" charset="0"/>
                <a:ea typeface="Calibri" pitchFamily="34" charset="-122"/>
                <a:cs typeface="Calibri" pitchFamily="34" charset="-120"/>
              </a:rPr>
              <a:t>THE BIG REVEAL</a:t>
            </a:r>
            <a:endParaRPr lang="en-US" sz="900" dirty="0"/>
          </a:p>
        </p:txBody>
      </p:sp>
      <p:sp>
        <p:nvSpPr>
          <p:cNvPr id="16" name="Text 13"/>
          <p:cNvSpPr/>
          <p:nvPr/>
        </p:nvSpPr>
        <p:spPr>
          <a:xfrm>
            <a:off x="8046720" y="4800600"/>
            <a:ext cx="914400" cy="342900"/>
          </a:xfrm>
          <a:prstGeom prst="rect">
            <a:avLst/>
          </a:prstGeom>
          <a:noFill/>
          <a:ln/>
        </p:spPr>
        <p:txBody>
          <a:bodyPr wrap="square" lIns="0" tIns="0" rIns="0" bIns="0" rtlCol="0" anchor="ctr"/>
          <a:lstStyle/>
          <a:p>
            <a:pPr algn="r" indent="0" marL="0">
              <a:buNone/>
            </a:pPr>
            <a:r>
              <a:rPr lang="en-US" sz="800" dirty="0">
                <a:solidFill>
                  <a:srgbClr val="081E25"/>
                </a:solidFill>
                <a:latin typeface="Calibri" pitchFamily="34" charset="0"/>
                <a:ea typeface="Calibri" pitchFamily="34" charset="-122"/>
                <a:cs typeface="Calibri" pitchFamily="34" charset="-120"/>
              </a:rPr>
              <a:t>4 / 31</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2E38"/>
        </a:solidFill>
      </p:bgPr>
    </p:bg>
    <p:spTree>
      <p:nvGrpSpPr>
        <p:cNvPr id="1" name=""/>
        <p:cNvGrpSpPr/>
        <p:nvPr/>
      </p:nvGrpSpPr>
      <p:grpSpPr>
        <a:xfrm>
          <a:off x="0" y="0"/>
          <a:ext cx="0" cy="0"/>
          <a:chOff x="0" y="0"/>
          <a:chExt cx="0" cy="0"/>
        </a:xfrm>
      </p:grpSpPr>
      <p:sp>
        <p:nvSpPr>
          <p:cNvPr id="2" name="Text 0"/>
          <p:cNvSpPr/>
          <p:nvPr/>
        </p:nvSpPr>
        <p:spPr>
          <a:xfrm>
            <a:off x="731520" y="457200"/>
            <a:ext cx="7315200" cy="457200"/>
          </a:xfrm>
          <a:prstGeom prst="rect">
            <a:avLst/>
          </a:prstGeom>
          <a:noFill/>
          <a:ln/>
        </p:spPr>
        <p:txBody>
          <a:bodyPr wrap="square" lIns="0" tIns="0" rIns="0" bIns="0" rtlCol="0" anchor="ctr"/>
          <a:lstStyle/>
          <a:p>
            <a:pPr indent="0" marL="0">
              <a:buNone/>
            </a:pPr>
            <a:r>
              <a:rPr lang="en-US" sz="1400" b="1" spc="300" kern="0" dirty="0">
                <a:solidFill>
                  <a:srgbClr val="14B8A6"/>
                </a:solidFill>
                <a:latin typeface="Arial" pitchFamily="34" charset="0"/>
                <a:ea typeface="Arial" pitchFamily="34" charset="-122"/>
                <a:cs typeface="Arial" pitchFamily="34" charset="-120"/>
              </a:rPr>
              <a:t>WHAT I BUILT WITH AI THIS YEAR</a:t>
            </a:r>
            <a:endParaRPr lang="en-US" sz="1400" dirty="0"/>
          </a:p>
        </p:txBody>
      </p:sp>
      <p:sp>
        <p:nvSpPr>
          <p:cNvPr id="3" name="Text 1"/>
          <p:cNvSpPr/>
          <p:nvPr/>
        </p:nvSpPr>
        <p:spPr>
          <a:xfrm>
            <a:off x="731520" y="1005840"/>
            <a:ext cx="7315200" cy="822960"/>
          </a:xfrm>
          <a:prstGeom prst="rect">
            <a:avLst/>
          </a:prstGeom>
          <a:noFill/>
          <a:ln/>
        </p:spPr>
        <p:txBody>
          <a:bodyPr wrap="square" lIns="0" tIns="0" rIns="0" bIns="0" rtlCol="0" anchor="ctr"/>
          <a:lstStyle/>
          <a:p>
            <a:pPr indent="0" marL="0">
              <a:buNone/>
            </a:pPr>
            <a:r>
              <a:rPr lang="en-US" sz="2600" dirty="0">
                <a:solidFill>
                  <a:srgbClr val="F0FDFA"/>
                </a:solidFill>
                <a:latin typeface="Arial Black" pitchFamily="34" charset="0"/>
                <a:ea typeface="Arial Black" pitchFamily="34" charset="-122"/>
                <a:cs typeface="Arial Black" pitchFamily="34" charset="-120"/>
              </a:rPr>
              <a:t>22 use cases. 3 categories.</a:t>
            </a:r>
            <a:endParaRPr lang="en-US" sz="2600" dirty="0"/>
          </a:p>
          <a:p>
            <a:pPr indent="0" marL="0">
              <a:buNone/>
            </a:pPr>
            <a:r>
              <a:rPr lang="en-US" sz="2600" dirty="0">
                <a:solidFill>
                  <a:srgbClr val="F0FDFA"/>
                </a:solidFill>
                <a:latin typeface="Arial Black" pitchFamily="34" charset="0"/>
                <a:ea typeface="Arial Black" pitchFamily="34" charset="-122"/>
                <a:cs typeface="Arial Black" pitchFamily="34" charset="-120"/>
              </a:rPr>
              <a:t>Not a single for-loop.</a:t>
            </a:r>
            <a:endParaRPr lang="en-US" sz="2600" dirty="0"/>
          </a:p>
        </p:txBody>
      </p:sp>
      <p:sp>
        <p:nvSpPr>
          <p:cNvPr id="4" name="Shape 2"/>
          <p:cNvSpPr/>
          <p:nvPr/>
        </p:nvSpPr>
        <p:spPr>
          <a:xfrm>
            <a:off x="731520" y="2194560"/>
            <a:ext cx="1828800" cy="1097280"/>
          </a:xfrm>
          <a:prstGeom prst="rect">
            <a:avLst/>
          </a:prstGeom>
          <a:solidFill>
            <a:srgbClr val="0F3D4A"/>
          </a:solidFill>
          <a:ln/>
          <a:effectLst>
            <a:outerShdw sx="100000" sy="100000" kx="0" ky="0" algn="bl" rotWithShape="0" blurRad="76200" dist="25400" dir="8100000">
              <a:srgbClr val="000000">
                <a:alpha val="20000"/>
              </a:srgbClr>
            </a:outerShdw>
          </a:effectLst>
        </p:spPr>
      </p:sp>
      <p:pic>
        <p:nvPicPr>
          <p:cNvPr id="5" name="Image 0" descr="preencoded.png">    </p:cNvPr>
          <p:cNvPicPr>
            <a:picLocks noChangeAspect="1"/>
          </p:cNvPicPr>
          <p:nvPr/>
        </p:nvPicPr>
        <p:blipFill>
          <a:blip r:embed="rId1"/>
          <a:stretch>
            <a:fillRect/>
          </a:stretch>
        </p:blipFill>
        <p:spPr>
          <a:xfrm>
            <a:off x="868680" y="2377440"/>
            <a:ext cx="320040" cy="320040"/>
          </a:xfrm>
          <a:prstGeom prst="rect">
            <a:avLst/>
          </a:prstGeom>
        </p:spPr>
      </p:pic>
      <p:sp>
        <p:nvSpPr>
          <p:cNvPr id="6" name="Text 3"/>
          <p:cNvSpPr/>
          <p:nvPr/>
        </p:nvSpPr>
        <p:spPr>
          <a:xfrm>
            <a:off x="1234440" y="2286000"/>
            <a:ext cx="1188720" cy="914400"/>
          </a:xfrm>
          <a:prstGeom prst="rect">
            <a:avLst/>
          </a:prstGeom>
          <a:noFill/>
          <a:ln/>
        </p:spPr>
        <p:txBody>
          <a:bodyPr wrap="square" lIns="0" tIns="0" rIns="0" bIns="0" rtlCol="0" anchor="ctr"/>
          <a:lstStyle/>
          <a:p>
            <a:pPr indent="0" marL="0">
              <a:buNone/>
            </a:pPr>
            <a:r>
              <a:rPr lang="en-US" sz="1100" b="1" dirty="0">
                <a:solidFill>
                  <a:srgbClr val="F0FDFA"/>
                </a:solidFill>
                <a:latin typeface="Calibri" pitchFamily="34" charset="0"/>
                <a:ea typeface="Calibri" pitchFamily="34" charset="-122"/>
                <a:cs typeface="Calibri" pitchFamily="34" charset="-120"/>
              </a:rPr>
              <a:t>DORA Metrics</a:t>
            </a:r>
            <a:endParaRPr lang="en-US" sz="1100" dirty="0"/>
          </a:p>
          <a:p>
            <a:pPr indent="0" marL="0">
              <a:buNone/>
            </a:pPr>
            <a:r>
              <a:rPr lang="en-US" sz="1100" b="1" dirty="0">
                <a:solidFill>
                  <a:srgbClr val="F0FDFA"/>
                </a:solidFill>
                <a:latin typeface="Calibri" pitchFamily="34" charset="0"/>
                <a:ea typeface="Calibri" pitchFamily="34" charset="-122"/>
                <a:cs typeface="Calibri" pitchFamily="34" charset="-120"/>
              </a:rPr>
              <a:t>Analysis</a:t>
            </a:r>
            <a:endParaRPr lang="en-US" sz="1100" dirty="0"/>
          </a:p>
        </p:txBody>
      </p:sp>
      <p:sp>
        <p:nvSpPr>
          <p:cNvPr id="7" name="Shape 4"/>
          <p:cNvSpPr/>
          <p:nvPr/>
        </p:nvSpPr>
        <p:spPr>
          <a:xfrm>
            <a:off x="2743200" y="2194560"/>
            <a:ext cx="1828800" cy="1097280"/>
          </a:xfrm>
          <a:prstGeom prst="rect">
            <a:avLst/>
          </a:prstGeom>
          <a:solidFill>
            <a:srgbClr val="0F3D4A"/>
          </a:solidFill>
          <a:ln/>
          <a:effectLst>
            <a:outerShdw sx="100000" sy="100000" kx="0" ky="0" algn="bl" rotWithShape="0" blurRad="76200" dist="25400" dir="8100000">
              <a:srgbClr val="000000">
                <a:alpha val="20000"/>
              </a:srgbClr>
            </a:outerShdw>
          </a:effectLst>
        </p:spPr>
      </p:sp>
      <p:pic>
        <p:nvPicPr>
          <p:cNvPr id="8" name="Image 1" descr="preencoded.png">    </p:cNvPr>
          <p:cNvPicPr>
            <a:picLocks noChangeAspect="1"/>
          </p:cNvPicPr>
          <p:nvPr/>
        </p:nvPicPr>
        <p:blipFill>
          <a:blip r:embed="rId2"/>
          <a:stretch>
            <a:fillRect/>
          </a:stretch>
        </p:blipFill>
        <p:spPr>
          <a:xfrm>
            <a:off x="2880360" y="2377440"/>
            <a:ext cx="320040" cy="320040"/>
          </a:xfrm>
          <a:prstGeom prst="rect">
            <a:avLst/>
          </a:prstGeom>
        </p:spPr>
      </p:pic>
      <p:sp>
        <p:nvSpPr>
          <p:cNvPr id="9" name="Text 5"/>
          <p:cNvSpPr/>
          <p:nvPr/>
        </p:nvSpPr>
        <p:spPr>
          <a:xfrm>
            <a:off x="3246120" y="2286000"/>
            <a:ext cx="1188720" cy="914400"/>
          </a:xfrm>
          <a:prstGeom prst="rect">
            <a:avLst/>
          </a:prstGeom>
          <a:noFill/>
          <a:ln/>
        </p:spPr>
        <p:txBody>
          <a:bodyPr wrap="square" lIns="0" tIns="0" rIns="0" bIns="0" rtlCol="0" anchor="ctr"/>
          <a:lstStyle/>
          <a:p>
            <a:pPr indent="0" marL="0">
              <a:buNone/>
            </a:pPr>
            <a:r>
              <a:rPr lang="en-US" sz="1100" b="1" dirty="0">
                <a:solidFill>
                  <a:srgbClr val="F0FDFA"/>
                </a:solidFill>
                <a:latin typeface="Calibri" pitchFamily="34" charset="0"/>
                <a:ea typeface="Calibri" pitchFamily="34" charset="-122"/>
                <a:cs typeface="Calibri" pitchFamily="34" charset="-120"/>
              </a:rPr>
              <a:t>DevEx Survey</a:t>
            </a:r>
            <a:endParaRPr lang="en-US" sz="1100" dirty="0"/>
          </a:p>
          <a:p>
            <a:pPr indent="0" marL="0">
              <a:buNone/>
            </a:pPr>
            <a:r>
              <a:rPr lang="en-US" sz="1100" b="1" dirty="0">
                <a:solidFill>
                  <a:srgbClr val="F0FDFA"/>
                </a:solidFill>
                <a:latin typeface="Calibri" pitchFamily="34" charset="0"/>
                <a:ea typeface="Calibri" pitchFamily="34" charset="-122"/>
                <a:cs typeface="Calibri" pitchFamily="34" charset="-120"/>
              </a:rPr>
              <a:t>Insights</a:t>
            </a:r>
            <a:endParaRPr lang="en-US" sz="1100" dirty="0"/>
          </a:p>
        </p:txBody>
      </p:sp>
      <p:sp>
        <p:nvSpPr>
          <p:cNvPr id="10" name="Shape 6"/>
          <p:cNvSpPr/>
          <p:nvPr/>
        </p:nvSpPr>
        <p:spPr>
          <a:xfrm>
            <a:off x="4754880" y="2194560"/>
            <a:ext cx="1828800" cy="1097280"/>
          </a:xfrm>
          <a:prstGeom prst="rect">
            <a:avLst/>
          </a:prstGeom>
          <a:solidFill>
            <a:srgbClr val="0F3D4A"/>
          </a:solidFill>
          <a:ln/>
          <a:effectLst>
            <a:outerShdw sx="100000" sy="100000" kx="0" ky="0" algn="bl" rotWithShape="0" blurRad="76200" dist="25400" dir="8100000">
              <a:srgbClr val="000000">
                <a:alpha val="20000"/>
              </a:srgbClr>
            </a:outerShdw>
          </a:effectLst>
        </p:spPr>
      </p:sp>
      <p:pic>
        <p:nvPicPr>
          <p:cNvPr id="11" name="Image 2" descr="preencoded.png">    </p:cNvPr>
          <p:cNvPicPr>
            <a:picLocks noChangeAspect="1"/>
          </p:cNvPicPr>
          <p:nvPr/>
        </p:nvPicPr>
        <p:blipFill>
          <a:blip r:embed="rId3"/>
          <a:stretch>
            <a:fillRect/>
          </a:stretch>
        </p:blipFill>
        <p:spPr>
          <a:xfrm>
            <a:off x="4892040" y="2377440"/>
            <a:ext cx="320040" cy="320040"/>
          </a:xfrm>
          <a:prstGeom prst="rect">
            <a:avLst/>
          </a:prstGeom>
        </p:spPr>
      </p:pic>
      <p:sp>
        <p:nvSpPr>
          <p:cNvPr id="12" name="Text 7"/>
          <p:cNvSpPr/>
          <p:nvPr/>
        </p:nvSpPr>
        <p:spPr>
          <a:xfrm>
            <a:off x="5257800" y="2286000"/>
            <a:ext cx="1188720" cy="914400"/>
          </a:xfrm>
          <a:prstGeom prst="rect">
            <a:avLst/>
          </a:prstGeom>
          <a:noFill/>
          <a:ln/>
        </p:spPr>
        <p:txBody>
          <a:bodyPr wrap="square" lIns="0" tIns="0" rIns="0" bIns="0" rtlCol="0" anchor="ctr"/>
          <a:lstStyle/>
          <a:p>
            <a:pPr indent="0" marL="0">
              <a:buNone/>
            </a:pPr>
            <a:r>
              <a:rPr lang="en-US" sz="1100" b="1" dirty="0">
                <a:solidFill>
                  <a:srgbClr val="F0FDFA"/>
                </a:solidFill>
                <a:latin typeface="Calibri" pitchFamily="34" charset="0"/>
                <a:ea typeface="Calibri" pitchFamily="34" charset="-122"/>
                <a:cs typeface="Calibri" pitchFamily="34" charset="-120"/>
              </a:rPr>
              <a:t>Jira Workflow</a:t>
            </a:r>
            <a:endParaRPr lang="en-US" sz="1100" dirty="0"/>
          </a:p>
          <a:p>
            <a:pPr indent="0" marL="0">
              <a:buNone/>
            </a:pPr>
            <a:r>
              <a:rPr lang="en-US" sz="1100" b="1" dirty="0">
                <a:solidFill>
                  <a:srgbClr val="F0FDFA"/>
                </a:solidFill>
                <a:latin typeface="Calibri" pitchFamily="34" charset="0"/>
                <a:ea typeface="Calibri" pitchFamily="34" charset="-122"/>
                <a:cs typeface="Calibri" pitchFamily="34" charset="-120"/>
              </a:rPr>
              <a:t>Optimization</a:t>
            </a:r>
            <a:endParaRPr lang="en-US" sz="1100" dirty="0"/>
          </a:p>
        </p:txBody>
      </p:sp>
      <p:sp>
        <p:nvSpPr>
          <p:cNvPr id="13" name="Shape 8"/>
          <p:cNvSpPr/>
          <p:nvPr/>
        </p:nvSpPr>
        <p:spPr>
          <a:xfrm>
            <a:off x="6766560" y="2194560"/>
            <a:ext cx="1828800" cy="1097280"/>
          </a:xfrm>
          <a:prstGeom prst="rect">
            <a:avLst/>
          </a:prstGeom>
          <a:solidFill>
            <a:srgbClr val="0F3D4A"/>
          </a:solidFill>
          <a:ln/>
          <a:effectLst>
            <a:outerShdw sx="100000" sy="100000" kx="0" ky="0" algn="bl" rotWithShape="0" blurRad="76200" dist="25400" dir="8100000">
              <a:srgbClr val="000000">
                <a:alpha val="20000"/>
              </a:srgbClr>
            </a:outerShdw>
          </a:effectLst>
        </p:spPr>
      </p:sp>
      <p:pic>
        <p:nvPicPr>
          <p:cNvPr id="14" name="Image 3" descr="preencoded.png">    </p:cNvPr>
          <p:cNvPicPr>
            <a:picLocks noChangeAspect="1"/>
          </p:cNvPicPr>
          <p:nvPr/>
        </p:nvPicPr>
        <p:blipFill>
          <a:blip r:embed="rId4"/>
          <a:stretch>
            <a:fillRect/>
          </a:stretch>
        </p:blipFill>
        <p:spPr>
          <a:xfrm>
            <a:off x="6903720" y="2377440"/>
            <a:ext cx="320040" cy="320040"/>
          </a:xfrm>
          <a:prstGeom prst="rect">
            <a:avLst/>
          </a:prstGeom>
        </p:spPr>
      </p:pic>
      <p:sp>
        <p:nvSpPr>
          <p:cNvPr id="15" name="Text 9"/>
          <p:cNvSpPr/>
          <p:nvPr/>
        </p:nvSpPr>
        <p:spPr>
          <a:xfrm>
            <a:off x="7269480" y="2286000"/>
            <a:ext cx="1188720" cy="914400"/>
          </a:xfrm>
          <a:prstGeom prst="rect">
            <a:avLst/>
          </a:prstGeom>
          <a:noFill/>
          <a:ln/>
        </p:spPr>
        <p:txBody>
          <a:bodyPr wrap="square" lIns="0" tIns="0" rIns="0" bIns="0" rtlCol="0" anchor="ctr"/>
          <a:lstStyle/>
          <a:p>
            <a:pPr indent="0" marL="0">
              <a:buNone/>
            </a:pPr>
            <a:r>
              <a:rPr lang="en-US" sz="1100" b="1" dirty="0">
                <a:solidFill>
                  <a:srgbClr val="F0FDFA"/>
                </a:solidFill>
                <a:latin typeface="Calibri" pitchFamily="34" charset="0"/>
                <a:ea typeface="Calibri" pitchFamily="34" charset="-122"/>
                <a:cs typeface="Calibri" pitchFamily="34" charset="-120"/>
              </a:rPr>
              <a:t>Vendor</a:t>
            </a:r>
            <a:endParaRPr lang="en-US" sz="1100" dirty="0"/>
          </a:p>
          <a:p>
            <a:pPr indent="0" marL="0">
              <a:buNone/>
            </a:pPr>
            <a:r>
              <a:rPr lang="en-US" sz="1100" b="1" dirty="0">
                <a:solidFill>
                  <a:srgbClr val="F0FDFA"/>
                </a:solidFill>
                <a:latin typeface="Calibri" pitchFamily="34" charset="0"/>
                <a:ea typeface="Calibri" pitchFamily="34" charset="-122"/>
                <a:cs typeface="Calibri" pitchFamily="34" charset="-120"/>
              </a:rPr>
              <a:t>Evaluation</a:t>
            </a:r>
            <a:endParaRPr lang="en-US" sz="1100" dirty="0"/>
          </a:p>
        </p:txBody>
      </p:sp>
      <p:sp>
        <p:nvSpPr>
          <p:cNvPr id="16" name="Shape 10"/>
          <p:cNvSpPr/>
          <p:nvPr/>
        </p:nvSpPr>
        <p:spPr>
          <a:xfrm>
            <a:off x="731520" y="3474720"/>
            <a:ext cx="1828800" cy="1097280"/>
          </a:xfrm>
          <a:prstGeom prst="rect">
            <a:avLst/>
          </a:prstGeom>
          <a:solidFill>
            <a:srgbClr val="0F3D4A"/>
          </a:solidFill>
          <a:ln/>
          <a:effectLst>
            <a:outerShdw sx="100000" sy="100000" kx="0" ky="0" algn="bl" rotWithShape="0" blurRad="76200" dist="25400" dir="8100000">
              <a:srgbClr val="000000">
                <a:alpha val="20000"/>
              </a:srgbClr>
            </a:outerShdw>
          </a:effectLst>
        </p:spPr>
      </p:sp>
      <p:pic>
        <p:nvPicPr>
          <p:cNvPr id="17" name="Image 4" descr="preencoded.png">    </p:cNvPr>
          <p:cNvPicPr>
            <a:picLocks noChangeAspect="1"/>
          </p:cNvPicPr>
          <p:nvPr/>
        </p:nvPicPr>
        <p:blipFill>
          <a:blip r:embed="rId5"/>
          <a:stretch>
            <a:fillRect/>
          </a:stretch>
        </p:blipFill>
        <p:spPr>
          <a:xfrm>
            <a:off x="868680" y="3657600"/>
            <a:ext cx="320040" cy="320040"/>
          </a:xfrm>
          <a:prstGeom prst="rect">
            <a:avLst/>
          </a:prstGeom>
        </p:spPr>
      </p:pic>
      <p:sp>
        <p:nvSpPr>
          <p:cNvPr id="18" name="Text 11"/>
          <p:cNvSpPr/>
          <p:nvPr/>
        </p:nvSpPr>
        <p:spPr>
          <a:xfrm>
            <a:off x="1234440" y="3566160"/>
            <a:ext cx="1188720" cy="914400"/>
          </a:xfrm>
          <a:prstGeom prst="rect">
            <a:avLst/>
          </a:prstGeom>
          <a:noFill/>
          <a:ln/>
        </p:spPr>
        <p:txBody>
          <a:bodyPr wrap="square" lIns="0" tIns="0" rIns="0" bIns="0" rtlCol="0" anchor="ctr"/>
          <a:lstStyle/>
          <a:p>
            <a:pPr indent="0" marL="0">
              <a:buNone/>
            </a:pPr>
            <a:r>
              <a:rPr lang="en-US" sz="1100" b="1" dirty="0">
                <a:solidFill>
                  <a:srgbClr val="F0FDFA"/>
                </a:solidFill>
                <a:latin typeface="Calibri" pitchFamily="34" charset="0"/>
                <a:ea typeface="Calibri" pitchFamily="34" charset="-122"/>
                <a:cs typeface="Calibri" pitchFamily="34" charset="-120"/>
              </a:rPr>
              <a:t>Executive</a:t>
            </a:r>
            <a:endParaRPr lang="en-US" sz="1100" dirty="0"/>
          </a:p>
          <a:p>
            <a:pPr indent="0" marL="0">
              <a:buNone/>
            </a:pPr>
            <a:r>
              <a:rPr lang="en-US" sz="1100" b="1" dirty="0">
                <a:solidFill>
                  <a:srgbClr val="F0FDFA"/>
                </a:solidFill>
                <a:latin typeface="Calibri" pitchFamily="34" charset="0"/>
                <a:ea typeface="Calibri" pitchFamily="34" charset="-122"/>
                <a:cs typeface="Calibri" pitchFamily="34" charset="-120"/>
              </a:rPr>
              <a:t>Role-Play</a:t>
            </a:r>
            <a:endParaRPr lang="en-US" sz="1100" dirty="0"/>
          </a:p>
        </p:txBody>
      </p:sp>
      <p:sp>
        <p:nvSpPr>
          <p:cNvPr id="19" name="Shape 12"/>
          <p:cNvSpPr/>
          <p:nvPr/>
        </p:nvSpPr>
        <p:spPr>
          <a:xfrm>
            <a:off x="2743200" y="3474720"/>
            <a:ext cx="1828800" cy="1097280"/>
          </a:xfrm>
          <a:prstGeom prst="rect">
            <a:avLst/>
          </a:prstGeom>
          <a:solidFill>
            <a:srgbClr val="0F3D4A"/>
          </a:solidFill>
          <a:ln/>
          <a:effectLst>
            <a:outerShdw sx="100000" sy="100000" kx="0" ky="0" algn="bl" rotWithShape="0" blurRad="76200" dist="25400" dir="8100000">
              <a:srgbClr val="000000">
                <a:alpha val="20000"/>
              </a:srgbClr>
            </a:outerShdw>
          </a:effectLst>
        </p:spPr>
      </p:sp>
      <p:pic>
        <p:nvPicPr>
          <p:cNvPr id="20" name="Image 5" descr="preencoded.png">    </p:cNvPr>
          <p:cNvPicPr>
            <a:picLocks noChangeAspect="1"/>
          </p:cNvPicPr>
          <p:nvPr/>
        </p:nvPicPr>
        <p:blipFill>
          <a:blip r:embed="rId6"/>
          <a:stretch>
            <a:fillRect/>
          </a:stretch>
        </p:blipFill>
        <p:spPr>
          <a:xfrm>
            <a:off x="2880360" y="3657600"/>
            <a:ext cx="320040" cy="320040"/>
          </a:xfrm>
          <a:prstGeom prst="rect">
            <a:avLst/>
          </a:prstGeom>
        </p:spPr>
      </p:pic>
      <p:sp>
        <p:nvSpPr>
          <p:cNvPr id="21" name="Text 13"/>
          <p:cNvSpPr/>
          <p:nvPr/>
        </p:nvSpPr>
        <p:spPr>
          <a:xfrm>
            <a:off x="3246120" y="3566160"/>
            <a:ext cx="1188720" cy="914400"/>
          </a:xfrm>
          <a:prstGeom prst="rect">
            <a:avLst/>
          </a:prstGeom>
          <a:noFill/>
          <a:ln/>
        </p:spPr>
        <p:txBody>
          <a:bodyPr wrap="square" lIns="0" tIns="0" rIns="0" bIns="0" rtlCol="0" anchor="ctr"/>
          <a:lstStyle/>
          <a:p>
            <a:pPr indent="0" marL="0">
              <a:buNone/>
            </a:pPr>
            <a:r>
              <a:rPr lang="en-US" sz="1100" b="1" dirty="0">
                <a:solidFill>
                  <a:srgbClr val="F0FDFA"/>
                </a:solidFill>
                <a:latin typeface="Calibri" pitchFamily="34" charset="0"/>
                <a:ea typeface="Calibri" pitchFamily="34" charset="-122"/>
                <a:cs typeface="Calibri" pitchFamily="34" charset="-120"/>
              </a:rPr>
              <a:t>R&amp;D Tax</a:t>
            </a:r>
            <a:endParaRPr lang="en-US" sz="1100" dirty="0"/>
          </a:p>
          <a:p>
            <a:pPr indent="0" marL="0">
              <a:buNone/>
            </a:pPr>
            <a:r>
              <a:rPr lang="en-US" sz="1100" b="1" dirty="0">
                <a:solidFill>
                  <a:srgbClr val="F0FDFA"/>
                </a:solidFill>
                <a:latin typeface="Calibri" pitchFamily="34" charset="0"/>
                <a:ea typeface="Calibri" pitchFamily="34" charset="-122"/>
                <a:cs typeface="Calibri" pitchFamily="34" charset="-120"/>
              </a:rPr>
              <a:t>Credits</a:t>
            </a:r>
            <a:endParaRPr lang="en-US" sz="1100" dirty="0"/>
          </a:p>
        </p:txBody>
      </p:sp>
      <p:sp>
        <p:nvSpPr>
          <p:cNvPr id="22" name="Shape 14"/>
          <p:cNvSpPr/>
          <p:nvPr/>
        </p:nvSpPr>
        <p:spPr>
          <a:xfrm>
            <a:off x="4754880" y="3474720"/>
            <a:ext cx="1828800" cy="1097280"/>
          </a:xfrm>
          <a:prstGeom prst="rect">
            <a:avLst/>
          </a:prstGeom>
          <a:solidFill>
            <a:srgbClr val="0F3D4A"/>
          </a:solidFill>
          <a:ln/>
          <a:effectLst>
            <a:outerShdw sx="100000" sy="100000" kx="0" ky="0" algn="bl" rotWithShape="0" blurRad="76200" dist="25400" dir="8100000">
              <a:srgbClr val="000000">
                <a:alpha val="20000"/>
              </a:srgbClr>
            </a:outerShdw>
          </a:effectLst>
        </p:spPr>
      </p:sp>
      <p:pic>
        <p:nvPicPr>
          <p:cNvPr id="23" name="Image 6" descr="preencoded.png">    </p:cNvPr>
          <p:cNvPicPr>
            <a:picLocks noChangeAspect="1"/>
          </p:cNvPicPr>
          <p:nvPr/>
        </p:nvPicPr>
        <p:blipFill>
          <a:blip r:embed="rId7"/>
          <a:stretch>
            <a:fillRect/>
          </a:stretch>
        </p:blipFill>
        <p:spPr>
          <a:xfrm>
            <a:off x="4892040" y="3657600"/>
            <a:ext cx="320040" cy="320040"/>
          </a:xfrm>
          <a:prstGeom prst="rect">
            <a:avLst/>
          </a:prstGeom>
        </p:spPr>
      </p:pic>
      <p:sp>
        <p:nvSpPr>
          <p:cNvPr id="24" name="Text 15"/>
          <p:cNvSpPr/>
          <p:nvPr/>
        </p:nvSpPr>
        <p:spPr>
          <a:xfrm>
            <a:off x="5257800" y="3566160"/>
            <a:ext cx="1188720" cy="914400"/>
          </a:xfrm>
          <a:prstGeom prst="rect">
            <a:avLst/>
          </a:prstGeom>
          <a:noFill/>
          <a:ln/>
        </p:spPr>
        <p:txBody>
          <a:bodyPr wrap="square" lIns="0" tIns="0" rIns="0" bIns="0" rtlCol="0" anchor="ctr"/>
          <a:lstStyle/>
          <a:p>
            <a:pPr indent="0" marL="0">
              <a:buNone/>
            </a:pPr>
            <a:r>
              <a:rPr lang="en-US" sz="1100" b="1" dirty="0">
                <a:solidFill>
                  <a:srgbClr val="F0FDFA"/>
                </a:solidFill>
                <a:latin typeface="Calibri" pitchFamily="34" charset="0"/>
                <a:ea typeface="Calibri" pitchFamily="34" charset="-122"/>
                <a:cs typeface="Calibri" pitchFamily="34" charset="-120"/>
              </a:rPr>
              <a:t>Manuscript</a:t>
            </a:r>
            <a:endParaRPr lang="en-US" sz="1100" dirty="0"/>
          </a:p>
          <a:p>
            <a:pPr indent="0" marL="0">
              <a:buNone/>
            </a:pPr>
            <a:r>
              <a:rPr lang="en-US" sz="1100" b="1" dirty="0">
                <a:solidFill>
                  <a:srgbClr val="F0FDFA"/>
                </a:solidFill>
                <a:latin typeface="Calibri" pitchFamily="34" charset="0"/>
                <a:ea typeface="Calibri" pitchFamily="34" charset="-122"/>
                <a:cs typeface="Calibri" pitchFamily="34" charset="-120"/>
              </a:rPr>
              <a:t>QA</a:t>
            </a:r>
            <a:endParaRPr lang="en-US" sz="1100" dirty="0"/>
          </a:p>
        </p:txBody>
      </p:sp>
      <p:sp>
        <p:nvSpPr>
          <p:cNvPr id="25" name="Shape 16"/>
          <p:cNvSpPr/>
          <p:nvPr/>
        </p:nvSpPr>
        <p:spPr>
          <a:xfrm>
            <a:off x="6766560" y="3474720"/>
            <a:ext cx="1828800" cy="1097280"/>
          </a:xfrm>
          <a:prstGeom prst="rect">
            <a:avLst/>
          </a:prstGeom>
          <a:solidFill>
            <a:srgbClr val="0F3D4A"/>
          </a:solidFill>
          <a:ln/>
          <a:effectLst>
            <a:outerShdw sx="100000" sy="100000" kx="0" ky="0" algn="bl" rotWithShape="0" blurRad="76200" dist="25400" dir="8100000">
              <a:srgbClr val="000000">
                <a:alpha val="20000"/>
              </a:srgbClr>
            </a:outerShdw>
          </a:effectLst>
        </p:spPr>
      </p:sp>
      <p:pic>
        <p:nvPicPr>
          <p:cNvPr id="26" name="Image 7" descr="preencoded.png">    </p:cNvPr>
          <p:cNvPicPr>
            <a:picLocks noChangeAspect="1"/>
          </p:cNvPicPr>
          <p:nvPr/>
        </p:nvPicPr>
        <p:blipFill>
          <a:blip r:embed="rId8"/>
          <a:stretch>
            <a:fillRect/>
          </a:stretch>
        </p:blipFill>
        <p:spPr>
          <a:xfrm>
            <a:off x="6903720" y="3657600"/>
            <a:ext cx="320040" cy="320040"/>
          </a:xfrm>
          <a:prstGeom prst="rect">
            <a:avLst/>
          </a:prstGeom>
        </p:spPr>
      </p:pic>
      <p:sp>
        <p:nvSpPr>
          <p:cNvPr id="27" name="Text 17"/>
          <p:cNvSpPr/>
          <p:nvPr/>
        </p:nvSpPr>
        <p:spPr>
          <a:xfrm>
            <a:off x="7269480" y="3566160"/>
            <a:ext cx="1188720" cy="914400"/>
          </a:xfrm>
          <a:prstGeom prst="rect">
            <a:avLst/>
          </a:prstGeom>
          <a:noFill/>
          <a:ln/>
        </p:spPr>
        <p:txBody>
          <a:bodyPr wrap="square" lIns="0" tIns="0" rIns="0" bIns="0" rtlCol="0" anchor="ctr"/>
          <a:lstStyle/>
          <a:p>
            <a:pPr indent="0" marL="0">
              <a:buNone/>
            </a:pPr>
            <a:r>
              <a:rPr lang="en-US" sz="1100" b="1" dirty="0">
                <a:solidFill>
                  <a:srgbClr val="F0FDFA"/>
                </a:solidFill>
                <a:latin typeface="Calibri" pitchFamily="34" charset="0"/>
                <a:ea typeface="Calibri" pitchFamily="34" charset="-122"/>
                <a:cs typeface="Calibri" pitchFamily="34" charset="-120"/>
              </a:rPr>
              <a:t>AI Strategy</a:t>
            </a:r>
            <a:endParaRPr lang="en-US" sz="1100" dirty="0"/>
          </a:p>
          <a:p>
            <a:pPr indent="0" marL="0">
              <a:buNone/>
            </a:pPr>
            <a:r>
              <a:rPr lang="en-US" sz="1100" b="1" dirty="0">
                <a:solidFill>
                  <a:srgbClr val="F0FDFA"/>
                </a:solidFill>
                <a:latin typeface="Calibri" pitchFamily="34" charset="0"/>
                <a:ea typeface="Calibri" pitchFamily="34" charset="-122"/>
                <a:cs typeface="Calibri" pitchFamily="34" charset="-120"/>
              </a:rPr>
              <a:t>Design</a:t>
            </a:r>
            <a:endParaRPr lang="en-US" sz="1100" dirty="0"/>
          </a:p>
        </p:txBody>
      </p:sp>
      <p:sp>
        <p:nvSpPr>
          <p:cNvPr id="28" name="Shape 18"/>
          <p:cNvSpPr/>
          <p:nvPr/>
        </p:nvSpPr>
        <p:spPr>
          <a:xfrm>
            <a:off x="0" y="4800600"/>
            <a:ext cx="9144000" cy="342900"/>
          </a:xfrm>
          <a:prstGeom prst="rect">
            <a:avLst/>
          </a:prstGeom>
          <a:solidFill>
            <a:srgbClr val="14B8A6"/>
          </a:solidFill>
          <a:ln/>
        </p:spPr>
      </p:sp>
      <p:sp>
        <p:nvSpPr>
          <p:cNvPr id="29" name="Text 19"/>
          <p:cNvSpPr/>
          <p:nvPr/>
        </p:nvSpPr>
        <p:spPr>
          <a:xfrm>
            <a:off x="457200" y="4800600"/>
            <a:ext cx="8229600" cy="342900"/>
          </a:xfrm>
          <a:prstGeom prst="rect">
            <a:avLst/>
          </a:prstGeom>
          <a:noFill/>
          <a:ln/>
        </p:spPr>
        <p:txBody>
          <a:bodyPr wrap="square" lIns="0" tIns="0" rIns="0" bIns="0" rtlCol="0" anchor="ctr"/>
          <a:lstStyle/>
          <a:p>
            <a:pPr algn="l" indent="0" marL="0">
              <a:buNone/>
            </a:pPr>
            <a:r>
              <a:rPr lang="en-US" sz="900" b="1" dirty="0">
                <a:solidFill>
                  <a:srgbClr val="081E25"/>
                </a:solidFill>
                <a:latin typeface="Calibri" pitchFamily="34" charset="0"/>
                <a:ea typeface="Calibri" pitchFamily="34" charset="-122"/>
                <a:cs typeface="Calibri" pitchFamily="34" charset="-120"/>
              </a:rPr>
              <a:t>THE MONTAGE</a:t>
            </a:r>
            <a:endParaRPr lang="en-US" sz="900" dirty="0"/>
          </a:p>
        </p:txBody>
      </p:sp>
      <p:sp>
        <p:nvSpPr>
          <p:cNvPr id="30" name="Text 20"/>
          <p:cNvSpPr/>
          <p:nvPr/>
        </p:nvSpPr>
        <p:spPr>
          <a:xfrm>
            <a:off x="8046720" y="4800600"/>
            <a:ext cx="914400" cy="342900"/>
          </a:xfrm>
          <a:prstGeom prst="rect">
            <a:avLst/>
          </a:prstGeom>
          <a:noFill/>
          <a:ln/>
        </p:spPr>
        <p:txBody>
          <a:bodyPr wrap="square" lIns="0" tIns="0" rIns="0" bIns="0" rtlCol="0" anchor="ctr"/>
          <a:lstStyle/>
          <a:p>
            <a:pPr algn="r" indent="0" marL="0">
              <a:buNone/>
            </a:pPr>
            <a:r>
              <a:rPr lang="en-US" sz="800" dirty="0">
                <a:solidFill>
                  <a:srgbClr val="081E25"/>
                </a:solidFill>
                <a:latin typeface="Calibri" pitchFamily="34" charset="0"/>
                <a:ea typeface="Calibri" pitchFamily="34" charset="-122"/>
                <a:cs typeface="Calibri" pitchFamily="34" charset="-120"/>
              </a:rPr>
              <a:t>5 / 31</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81E25"/>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14B8A6"/>
          </a:solidFill>
          <a:ln/>
        </p:spPr>
      </p:sp>
      <p:sp>
        <p:nvSpPr>
          <p:cNvPr id="3" name="Text 1"/>
          <p:cNvSpPr/>
          <p:nvPr/>
        </p:nvSpPr>
        <p:spPr>
          <a:xfrm>
            <a:off x="731520" y="914400"/>
            <a:ext cx="3657600" cy="365760"/>
          </a:xfrm>
          <a:prstGeom prst="rect">
            <a:avLst/>
          </a:prstGeom>
          <a:noFill/>
          <a:ln/>
        </p:spPr>
        <p:txBody>
          <a:bodyPr wrap="square" lIns="0" tIns="0" rIns="0" bIns="0" rtlCol="0" anchor="ctr"/>
          <a:lstStyle/>
          <a:p>
            <a:pPr indent="0" marL="0">
              <a:buNone/>
            </a:pPr>
            <a:r>
              <a:rPr lang="en-US" sz="1400" b="1" spc="400" kern="0" dirty="0">
                <a:solidFill>
                  <a:srgbClr val="14B8A6"/>
                </a:solidFill>
                <a:latin typeface="Arial" pitchFamily="34" charset="0"/>
                <a:ea typeface="Arial" pitchFamily="34" charset="-122"/>
                <a:cs typeface="Arial" pitchFamily="34" charset="-120"/>
              </a:rPr>
              <a:t>DEEP DIVE  #1</a:t>
            </a:r>
            <a:endParaRPr lang="en-US" sz="1400" dirty="0"/>
          </a:p>
        </p:txBody>
      </p:sp>
      <p:sp>
        <p:nvSpPr>
          <p:cNvPr id="4" name="Text 2"/>
          <p:cNvSpPr/>
          <p:nvPr/>
        </p:nvSpPr>
        <p:spPr>
          <a:xfrm>
            <a:off x="731520" y="1463040"/>
            <a:ext cx="7315200" cy="1463040"/>
          </a:xfrm>
          <a:prstGeom prst="rect">
            <a:avLst/>
          </a:prstGeom>
          <a:noFill/>
          <a:ln/>
        </p:spPr>
        <p:txBody>
          <a:bodyPr wrap="square" lIns="0" tIns="0" rIns="0" bIns="0" rtlCol="0" anchor="ctr"/>
          <a:lstStyle/>
          <a:p>
            <a:pPr indent="0" marL="0">
              <a:buNone/>
            </a:pPr>
            <a:r>
              <a:rPr lang="en-US" sz="4200" dirty="0">
                <a:solidFill>
                  <a:srgbClr val="F0FDFA"/>
                </a:solidFill>
                <a:latin typeface="Arial Black" pitchFamily="34" charset="0"/>
                <a:ea typeface="Arial Black" pitchFamily="34" charset="-122"/>
                <a:cs typeface="Arial Black" pitchFamily="34" charset="-120"/>
              </a:rPr>
              <a:t>Google Apps Script:</a:t>
            </a:r>
            <a:endParaRPr lang="en-US" sz="4200" dirty="0"/>
          </a:p>
          <a:p>
            <a:pPr indent="0" marL="0">
              <a:buNone/>
            </a:pPr>
            <a:r>
              <a:rPr lang="en-US" sz="4200" dirty="0">
                <a:solidFill>
                  <a:srgbClr val="F0FDFA"/>
                </a:solidFill>
                <a:latin typeface="Arial Black" pitchFamily="34" charset="0"/>
                <a:ea typeface="Arial Black" pitchFamily="34" charset="-122"/>
                <a:cs typeface="Arial Black" pitchFamily="34" charset="-120"/>
              </a:rPr>
              <a:t>CSV Data Cleaner</a:t>
            </a:r>
            <a:endParaRPr lang="en-US" sz="4200" dirty="0"/>
          </a:p>
        </p:txBody>
      </p:sp>
      <p:sp>
        <p:nvSpPr>
          <p:cNvPr id="5" name="Text 3"/>
          <p:cNvSpPr/>
          <p:nvPr/>
        </p:nvSpPr>
        <p:spPr>
          <a:xfrm>
            <a:off x="731520" y="3108960"/>
            <a:ext cx="7315200" cy="457200"/>
          </a:xfrm>
          <a:prstGeom prst="rect">
            <a:avLst/>
          </a:prstGeom>
          <a:noFill/>
          <a:ln/>
        </p:spPr>
        <p:txBody>
          <a:bodyPr wrap="square" lIns="0" tIns="0" rIns="0" bIns="0" rtlCol="0" anchor="ctr"/>
          <a:lstStyle/>
          <a:p>
            <a:pPr indent="0" marL="0">
              <a:buNone/>
            </a:pPr>
            <a:r>
              <a:rPr lang="en-US" sz="1600" dirty="0">
                <a:solidFill>
                  <a:srgbClr val="5EEAD4"/>
                </a:solidFill>
                <a:latin typeface="Calibri" pitchFamily="34" charset="0"/>
                <a:ea typeface="Calibri" pitchFamily="34" charset="-122"/>
                <a:cs typeface="Calibri" pitchFamily="34" charset="-120"/>
              </a:rPr>
              <a:t>Live Build: From messy data to clean sheet in 90 seconds</a:t>
            </a:r>
            <a:endParaRPr lang="en-US" sz="1600" dirty="0"/>
          </a:p>
        </p:txBody>
      </p:sp>
      <p:pic>
        <p:nvPicPr>
          <p:cNvPr id="6" name="Image 0" descr="preencoded.png">    </p:cNvPr>
          <p:cNvPicPr>
            <a:picLocks noChangeAspect="1"/>
          </p:cNvPicPr>
          <p:nvPr/>
        </p:nvPicPr>
        <p:blipFill>
          <a:blip r:embed="rId1"/>
          <a:stretch>
            <a:fillRect/>
          </a:stretch>
        </p:blipFill>
        <p:spPr>
          <a:xfrm>
            <a:off x="7498080" y="1645920"/>
            <a:ext cx="914400" cy="914400"/>
          </a:xfrm>
          <a:prstGeom prst="rect">
            <a:avLst/>
          </a:prstGeom>
        </p:spPr>
      </p:pic>
      <p:sp>
        <p:nvSpPr>
          <p:cNvPr id="7" name="Shape 4"/>
          <p:cNvSpPr/>
          <p:nvPr/>
        </p:nvSpPr>
        <p:spPr>
          <a:xfrm>
            <a:off x="731520" y="3840480"/>
            <a:ext cx="4114800" cy="502920"/>
          </a:xfrm>
          <a:prstGeom prst="rect">
            <a:avLst/>
          </a:prstGeom>
          <a:solidFill>
            <a:srgbClr val="0F3D4A"/>
          </a:solidFill>
          <a:ln/>
          <a:effectLst>
            <a:outerShdw sx="100000" sy="100000" kx="0" ky="0" algn="bl" rotWithShape="0" blurRad="76200" dist="25400" dir="8100000">
              <a:srgbClr val="000000">
                <a:alpha val="20000"/>
              </a:srgbClr>
            </a:outerShdw>
          </a:effectLst>
        </p:spPr>
      </p:sp>
      <p:sp>
        <p:nvSpPr>
          <p:cNvPr id="8" name="Shape 5"/>
          <p:cNvSpPr/>
          <p:nvPr/>
        </p:nvSpPr>
        <p:spPr>
          <a:xfrm>
            <a:off x="731520" y="3840480"/>
            <a:ext cx="54864" cy="502920"/>
          </a:xfrm>
          <a:prstGeom prst="rect">
            <a:avLst/>
          </a:prstGeom>
          <a:solidFill>
            <a:srgbClr val="F59E0B"/>
          </a:solidFill>
          <a:ln/>
        </p:spPr>
      </p:sp>
      <p:sp>
        <p:nvSpPr>
          <p:cNvPr id="9" name="Text 6"/>
          <p:cNvSpPr/>
          <p:nvPr/>
        </p:nvSpPr>
        <p:spPr>
          <a:xfrm>
            <a:off x="1005840" y="3840480"/>
            <a:ext cx="3657600" cy="502920"/>
          </a:xfrm>
          <a:prstGeom prst="rect">
            <a:avLst/>
          </a:prstGeom>
          <a:noFill/>
          <a:ln/>
        </p:spPr>
        <p:txBody>
          <a:bodyPr wrap="square" lIns="0" tIns="0" rIns="0" bIns="0"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Pattern: Build → Test → Iterate</a:t>
            </a:r>
            <a:endParaRPr lang="en-US" sz="1300" dirty="0"/>
          </a:p>
        </p:txBody>
      </p:sp>
      <p:sp>
        <p:nvSpPr>
          <p:cNvPr id="10" name="Shape 7"/>
          <p:cNvSpPr/>
          <p:nvPr/>
        </p:nvSpPr>
        <p:spPr>
          <a:xfrm>
            <a:off x="0" y="4800600"/>
            <a:ext cx="9144000" cy="342900"/>
          </a:xfrm>
          <a:prstGeom prst="rect">
            <a:avLst/>
          </a:prstGeom>
          <a:solidFill>
            <a:srgbClr val="14B8A6"/>
          </a:solidFill>
          <a:ln/>
        </p:spPr>
      </p:sp>
      <p:sp>
        <p:nvSpPr>
          <p:cNvPr id="11" name="Text 8"/>
          <p:cNvSpPr/>
          <p:nvPr/>
        </p:nvSpPr>
        <p:spPr>
          <a:xfrm>
            <a:off x="457200" y="4800600"/>
            <a:ext cx="8229600" cy="342900"/>
          </a:xfrm>
          <a:prstGeom prst="rect">
            <a:avLst/>
          </a:prstGeom>
          <a:noFill/>
          <a:ln/>
        </p:spPr>
        <p:txBody>
          <a:bodyPr wrap="square" lIns="0" tIns="0" rIns="0" bIns="0" rtlCol="0" anchor="ctr"/>
          <a:lstStyle/>
          <a:p>
            <a:pPr algn="l" indent="0" marL="0">
              <a:buNone/>
            </a:pPr>
            <a:r>
              <a:rPr lang="en-US" sz="900" b="1" dirty="0">
                <a:solidFill>
                  <a:srgbClr val="081E25"/>
                </a:solidFill>
                <a:latin typeface="Calibri" pitchFamily="34" charset="0"/>
                <a:ea typeface="Calibri" pitchFamily="34" charset="-122"/>
                <a:cs typeface="Calibri" pitchFamily="34" charset="-120"/>
              </a:rPr>
              <a:t>GOOGLE APPS SCRIPT: CSV DATA CLEANER</a:t>
            </a:r>
            <a:endParaRPr lang="en-US" sz="900" dirty="0"/>
          </a:p>
        </p:txBody>
      </p:sp>
      <p:sp>
        <p:nvSpPr>
          <p:cNvPr id="12" name="Text 9"/>
          <p:cNvSpPr/>
          <p:nvPr/>
        </p:nvSpPr>
        <p:spPr>
          <a:xfrm>
            <a:off x="8046720" y="4800600"/>
            <a:ext cx="914400" cy="342900"/>
          </a:xfrm>
          <a:prstGeom prst="rect">
            <a:avLst/>
          </a:prstGeom>
          <a:noFill/>
          <a:ln/>
        </p:spPr>
        <p:txBody>
          <a:bodyPr wrap="square" lIns="0" tIns="0" rIns="0" bIns="0" rtlCol="0" anchor="ctr"/>
          <a:lstStyle/>
          <a:p>
            <a:pPr algn="r" indent="0" marL="0">
              <a:buNone/>
            </a:pPr>
            <a:r>
              <a:rPr lang="en-US" sz="800" dirty="0">
                <a:solidFill>
                  <a:srgbClr val="081E25"/>
                </a:solidFill>
                <a:latin typeface="Calibri" pitchFamily="34" charset="0"/>
                <a:ea typeface="Calibri" pitchFamily="34" charset="-122"/>
                <a:cs typeface="Calibri" pitchFamily="34" charset="-120"/>
              </a:rPr>
              <a:t>6 / 31</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2E38"/>
        </a:solidFill>
      </p:bgPr>
    </p:bg>
    <p:spTree>
      <p:nvGrpSpPr>
        <p:cNvPr id="1" name=""/>
        <p:cNvGrpSpPr/>
        <p:nvPr/>
      </p:nvGrpSpPr>
      <p:grpSpPr>
        <a:xfrm>
          <a:off x="0" y="0"/>
          <a:ext cx="0" cy="0"/>
          <a:chOff x="0" y="0"/>
          <a:chExt cx="0" cy="0"/>
        </a:xfrm>
      </p:grpSpPr>
      <p:sp>
        <p:nvSpPr>
          <p:cNvPr id="2" name="Text 0"/>
          <p:cNvSpPr/>
          <p:nvPr/>
        </p:nvSpPr>
        <p:spPr>
          <a:xfrm>
            <a:off x="731520" y="365760"/>
            <a:ext cx="3657600" cy="365760"/>
          </a:xfrm>
          <a:prstGeom prst="rect">
            <a:avLst/>
          </a:prstGeom>
          <a:noFill/>
          <a:ln/>
        </p:spPr>
        <p:txBody>
          <a:bodyPr wrap="square" lIns="0" tIns="0" rIns="0" bIns="0" rtlCol="0" anchor="ctr"/>
          <a:lstStyle/>
          <a:p>
            <a:pPr indent="0" marL="0">
              <a:buNone/>
            </a:pPr>
            <a:r>
              <a:rPr lang="en-US" sz="1400" b="1" spc="300" kern="0" dirty="0">
                <a:solidFill>
                  <a:srgbClr val="EF4444"/>
                </a:solidFill>
                <a:latin typeface="Arial" pitchFamily="34" charset="0"/>
                <a:ea typeface="Arial" pitchFamily="34" charset="-122"/>
                <a:cs typeface="Arial" pitchFamily="34" charset="-120"/>
              </a:rPr>
              <a:t>THE DATA</a:t>
            </a:r>
            <a:endParaRPr lang="en-US" sz="1400" dirty="0"/>
          </a:p>
        </p:txBody>
      </p:sp>
      <p:sp>
        <p:nvSpPr>
          <p:cNvPr id="3" name="Text 1"/>
          <p:cNvSpPr/>
          <p:nvPr/>
        </p:nvSpPr>
        <p:spPr>
          <a:xfrm>
            <a:off x="731520" y="822960"/>
            <a:ext cx="7315200" cy="457200"/>
          </a:xfrm>
          <a:prstGeom prst="rect">
            <a:avLst/>
          </a:prstGeom>
          <a:noFill/>
          <a:ln/>
        </p:spPr>
        <p:txBody>
          <a:bodyPr wrap="square" lIns="0" tIns="0" rIns="0" bIns="0" rtlCol="0" anchor="ctr"/>
          <a:lstStyle/>
          <a:p>
            <a:pPr indent="0" marL="0">
              <a:buNone/>
            </a:pPr>
            <a:r>
              <a:rPr lang="en-US" sz="2400" dirty="0">
                <a:solidFill>
                  <a:srgbClr val="F0FDFA"/>
                </a:solidFill>
                <a:latin typeface="Arial Black" pitchFamily="34" charset="0"/>
                <a:ea typeface="Arial Black" pitchFamily="34" charset="-122"/>
                <a:cs typeface="Arial Black" pitchFamily="34" charset="-120"/>
              </a:rPr>
              <a:t>20 rows. 7 types of mess.</a:t>
            </a:r>
            <a:endParaRPr lang="en-US" sz="2400" dirty="0"/>
          </a:p>
        </p:txBody>
      </p:sp>
      <p:sp>
        <p:nvSpPr>
          <p:cNvPr id="4" name="Shape 2"/>
          <p:cNvSpPr/>
          <p:nvPr/>
        </p:nvSpPr>
        <p:spPr>
          <a:xfrm>
            <a:off x="457200" y="1371600"/>
            <a:ext cx="8229600" cy="1828800"/>
          </a:xfrm>
          <a:prstGeom prst="rect">
            <a:avLst/>
          </a:prstGeom>
          <a:solidFill>
            <a:srgbClr val="0D1B21"/>
          </a:solidFill>
          <a:ln/>
          <a:effectLst>
            <a:outerShdw sx="100000" sy="100000" kx="0" ky="0" algn="bl" rotWithShape="0" blurRad="76200" dist="25400" dir="8100000">
              <a:srgbClr val="000000">
                <a:alpha val="20000"/>
              </a:srgbClr>
            </a:outerShdw>
          </a:effectLst>
        </p:spPr>
      </p:sp>
      <p:sp>
        <p:nvSpPr>
          <p:cNvPr id="5" name="Text 3"/>
          <p:cNvSpPr/>
          <p:nvPr/>
        </p:nvSpPr>
        <p:spPr>
          <a:xfrm>
            <a:off x="640080" y="1417320"/>
            <a:ext cx="7863840" cy="1737360"/>
          </a:xfrm>
          <a:prstGeom prst="rect">
            <a:avLst/>
          </a:prstGeom>
          <a:noFill/>
          <a:ln/>
        </p:spPr>
        <p:txBody>
          <a:bodyPr wrap="square" lIns="0" tIns="0" rIns="0" bIns="0" rtlCol="0" anchor="t"/>
          <a:lstStyle/>
          <a:p>
            <a:pPr indent="0" marL="0">
              <a:buNone/>
            </a:pPr>
            <a:r>
              <a:rPr lang="en-US" sz="900" b="1" dirty="0">
                <a:solidFill>
                  <a:srgbClr val="14B8A6"/>
                </a:solidFill>
                <a:latin typeface="Consolas" pitchFamily="34" charset="0"/>
                <a:ea typeface="Consolas" pitchFamily="34" charset="-122"/>
                <a:cs typeface="Consolas" pitchFamily="34" charset="-120"/>
              </a:rPr>
              <a:t>name           email                  signup_date     plan        status</a:t>
            </a:r>
            <a:endParaRPr lang="en-US" sz="900" dirty="0"/>
          </a:p>
          <a:p>
            <a:pPr indent="0" marL="0">
              <a:buNone/>
            </a:pPr>
            <a:r>
              <a:rPr lang="en-US" sz="900" dirty="0">
                <a:solidFill>
                  <a:srgbClr val="B4E4D9"/>
                </a:solidFill>
                <a:latin typeface="Consolas" pitchFamily="34" charset="0"/>
                <a:ea typeface="Consolas" pitchFamily="34" charset="-122"/>
                <a:cs typeface="Consolas" pitchFamily="34" charset="-120"/>
              </a:rPr>
              <a:t>John Smith     john@acme.com          2024-01-15      Enterprise  active</a:t>
            </a:r>
            <a:endParaRPr lang="en-US" sz="900" dirty="0"/>
          </a:p>
          <a:p>
            <a:pPr indent="0" marL="0">
              <a:buNone/>
            </a:pPr>
            <a:r>
              <a:rPr lang="en-US" sz="900" dirty="0">
                <a:solidFill>
                  <a:srgbClr val="EF4444"/>
                </a:solidFill>
                <a:latin typeface="Consolas" pitchFamily="34" charset="0"/>
                <a:ea typeface="Consolas" pitchFamily="34" charset="-122"/>
                <a:cs typeface="Consolas" pitchFamily="34" charset="-120"/>
              </a:rPr>
              <a:t>  jane doe     JANE.DOE@GLOBEX.COM    01/22/2024      pro         Active</a:t>
            </a:r>
            <a:endParaRPr lang="en-US" sz="900" dirty="0"/>
          </a:p>
          <a:p>
            <a:pPr indent="0" marL="0">
              <a:buNone/>
            </a:pPr>
            <a:r>
              <a:rPr lang="en-US" sz="900" dirty="0">
                <a:solidFill>
                  <a:srgbClr val="EF4444"/>
                </a:solidFill>
                <a:latin typeface="Consolas" pitchFamily="34" charset="0"/>
                <a:ea typeface="Consolas" pitchFamily="34" charset="-122"/>
                <a:cs typeface="Consolas" pitchFamily="34" charset="-120"/>
              </a:rPr>
              <a:t>ALICE WONG     alice@example.com       March 5 2024    Pro         active</a:t>
            </a:r>
            <a:endParaRPr lang="en-US" sz="900" dirty="0"/>
          </a:p>
          <a:p>
            <a:pPr indent="0" marL="0">
              <a:buNone/>
            </a:pPr>
            <a:r>
              <a:rPr lang="en-US" sz="900" dirty="0">
                <a:solidFill>
                  <a:srgbClr val="F59E0B"/>
                </a:solidFill>
                <a:latin typeface="Consolas" pitchFamily="34" charset="0"/>
                <a:ea typeface="Consolas" pitchFamily="34" charset="-122"/>
                <a:cs typeface="Consolas" pitchFamily="34" charset="-120"/>
              </a:rPr>
              <a:t>john smith     john@acme.com          2024-01-15      Enterprise  active</a:t>
            </a:r>
            <a:endParaRPr lang="en-US" sz="900" dirty="0"/>
          </a:p>
          <a:p>
            <a:pPr indent="0" marL="0">
              <a:buNone/>
            </a:pPr>
            <a:r>
              <a:rPr lang="en-US" sz="900" dirty="0">
                <a:solidFill>
                  <a:srgbClr val="EF4444"/>
                </a:solidFill>
                <a:latin typeface="Consolas" pitchFamily="34" charset="0"/>
                <a:ea typeface="Consolas" pitchFamily="34" charset="-122"/>
                <a:cs typeface="Consolas" pitchFamily="34" charset="-120"/>
              </a:rPr>
              <a:t>Hank Pym       hank@pymtech.com       2024-06-01      Enterprise  $299.00</a:t>
            </a:r>
            <a:endParaRPr lang="en-US" sz="900" dirty="0"/>
          </a:p>
          <a:p>
            <a:pPr indent="0" marL="0">
              <a:buNone/>
            </a:pPr>
            <a:r>
              <a:rPr lang="en-US" sz="900" dirty="0">
                <a:solidFill>
                  <a:srgbClr val="EF4444"/>
                </a:solidFill>
                <a:latin typeface="Consolas" pitchFamily="34" charset="0"/>
                <a:ea typeface="Consolas" pitchFamily="34" charset="-122"/>
                <a:cs typeface="Consolas" pitchFamily="34" charset="-120"/>
              </a:rPr>
              <a:t>  Bob Johnson  bob.j@initech.com      Feb 3 2024      Enterprise  active</a:t>
            </a:r>
            <a:endParaRPr lang="en-US" sz="900" dirty="0"/>
          </a:p>
        </p:txBody>
      </p:sp>
      <p:sp>
        <p:nvSpPr>
          <p:cNvPr id="6" name="Shape 4"/>
          <p:cNvSpPr/>
          <p:nvPr/>
        </p:nvSpPr>
        <p:spPr>
          <a:xfrm>
            <a:off x="731520" y="3383280"/>
            <a:ext cx="7680960" cy="384048"/>
          </a:xfrm>
          <a:prstGeom prst="rect">
            <a:avLst/>
          </a:prstGeom>
          <a:solidFill>
            <a:srgbClr val="0F3D4A"/>
          </a:solidFill>
          <a:ln/>
          <a:effectLst>
            <a:outerShdw sx="100000" sy="100000" kx="0" ky="0" algn="bl" rotWithShape="0" blurRad="76200" dist="25400" dir="8100000">
              <a:srgbClr val="000000">
                <a:alpha val="20000"/>
              </a:srgbClr>
            </a:outerShdw>
          </a:effectLst>
        </p:spPr>
      </p:sp>
      <p:sp>
        <p:nvSpPr>
          <p:cNvPr id="7" name="Shape 5"/>
          <p:cNvSpPr/>
          <p:nvPr/>
        </p:nvSpPr>
        <p:spPr>
          <a:xfrm>
            <a:off x="731520" y="3383280"/>
            <a:ext cx="54864" cy="384048"/>
          </a:xfrm>
          <a:prstGeom prst="rect">
            <a:avLst/>
          </a:prstGeom>
          <a:solidFill>
            <a:srgbClr val="F59E0B"/>
          </a:solidFill>
          <a:ln/>
        </p:spPr>
      </p:sp>
      <p:sp>
        <p:nvSpPr>
          <p:cNvPr id="8" name="Text 6"/>
          <p:cNvSpPr/>
          <p:nvPr/>
        </p:nvSpPr>
        <p:spPr>
          <a:xfrm>
            <a:off x="1005840" y="3383280"/>
            <a:ext cx="1371600" cy="384048"/>
          </a:xfrm>
          <a:prstGeom prst="rect">
            <a:avLst/>
          </a:prstGeom>
          <a:noFill/>
          <a:ln/>
        </p:spPr>
        <p:txBody>
          <a:bodyPr wrap="square" lIns="0" tIns="0" rIns="0" bIns="0" rtlCol="0" anchor="ctr"/>
          <a:lstStyle/>
          <a:p>
            <a:pPr indent="0" marL="0">
              <a:buNone/>
            </a:pPr>
            <a:r>
              <a:rPr lang="en-US" sz="1100" b="1" dirty="0">
                <a:solidFill>
                  <a:srgbClr val="F59E0B"/>
                </a:solidFill>
                <a:latin typeface="Arial" pitchFamily="34" charset="0"/>
                <a:ea typeface="Arial" pitchFamily="34" charset="-122"/>
                <a:cs typeface="Arial" pitchFamily="34" charset="-120"/>
              </a:rPr>
              <a:t>Duplicates</a:t>
            </a:r>
            <a:endParaRPr lang="en-US" sz="1100" dirty="0"/>
          </a:p>
        </p:txBody>
      </p:sp>
      <p:sp>
        <p:nvSpPr>
          <p:cNvPr id="9" name="Text 7"/>
          <p:cNvSpPr/>
          <p:nvPr/>
        </p:nvSpPr>
        <p:spPr>
          <a:xfrm>
            <a:off x="2377440" y="3383280"/>
            <a:ext cx="5760720" cy="384048"/>
          </a:xfrm>
          <a:prstGeom prst="rect">
            <a:avLst/>
          </a:prstGeom>
          <a:noFill/>
          <a:ln/>
        </p:spPr>
        <p:txBody>
          <a:bodyPr wrap="square" lIns="0" tIns="0" rIns="0" bIns="0" rtlCol="0" anchor="ctr"/>
          <a:lstStyle/>
          <a:p>
            <a:pPr indent="0" marL="0">
              <a:buNone/>
            </a:pPr>
            <a:r>
              <a:rPr lang="en-US" sz="1000" dirty="0">
                <a:solidFill>
                  <a:srgbClr val="B4E4D9"/>
                </a:solidFill>
                <a:latin typeface="Calibri" pitchFamily="34" charset="0"/>
                <a:ea typeface="Calibri" pitchFamily="34" charset="-122"/>
                <a:cs typeface="Calibri" pitchFamily="34" charset="-120"/>
              </a:rPr>
              <a:t>Same person, slightly different formatting</a:t>
            </a:r>
            <a:endParaRPr lang="en-US" sz="1000" dirty="0"/>
          </a:p>
        </p:txBody>
      </p:sp>
      <p:sp>
        <p:nvSpPr>
          <p:cNvPr id="10" name="Shape 8"/>
          <p:cNvSpPr/>
          <p:nvPr/>
        </p:nvSpPr>
        <p:spPr>
          <a:xfrm>
            <a:off x="731520" y="3840480"/>
            <a:ext cx="7680960" cy="384048"/>
          </a:xfrm>
          <a:prstGeom prst="rect">
            <a:avLst/>
          </a:prstGeom>
          <a:solidFill>
            <a:srgbClr val="0F3D4A"/>
          </a:solidFill>
          <a:ln/>
          <a:effectLst>
            <a:outerShdw sx="100000" sy="100000" kx="0" ky="0" algn="bl" rotWithShape="0" blurRad="76200" dist="25400" dir="8100000">
              <a:srgbClr val="000000">
                <a:alpha val="20000"/>
              </a:srgbClr>
            </a:outerShdw>
          </a:effectLst>
        </p:spPr>
      </p:sp>
      <p:sp>
        <p:nvSpPr>
          <p:cNvPr id="11" name="Shape 9"/>
          <p:cNvSpPr/>
          <p:nvPr/>
        </p:nvSpPr>
        <p:spPr>
          <a:xfrm>
            <a:off x="731520" y="3840480"/>
            <a:ext cx="54864" cy="384048"/>
          </a:xfrm>
          <a:prstGeom prst="rect">
            <a:avLst/>
          </a:prstGeom>
          <a:solidFill>
            <a:srgbClr val="EF4444"/>
          </a:solidFill>
          <a:ln/>
        </p:spPr>
      </p:sp>
      <p:sp>
        <p:nvSpPr>
          <p:cNvPr id="12" name="Text 10"/>
          <p:cNvSpPr/>
          <p:nvPr/>
        </p:nvSpPr>
        <p:spPr>
          <a:xfrm>
            <a:off x="1005840" y="3840480"/>
            <a:ext cx="1371600" cy="384048"/>
          </a:xfrm>
          <a:prstGeom prst="rect">
            <a:avLst/>
          </a:prstGeom>
          <a:noFill/>
          <a:ln/>
        </p:spPr>
        <p:txBody>
          <a:bodyPr wrap="square" lIns="0" tIns="0" rIns="0" bIns="0" rtlCol="0" anchor="ctr"/>
          <a:lstStyle/>
          <a:p>
            <a:pPr indent="0" marL="0">
              <a:buNone/>
            </a:pPr>
            <a:r>
              <a:rPr lang="en-US" sz="1100" b="1" dirty="0">
                <a:solidFill>
                  <a:srgbClr val="EF4444"/>
                </a:solidFill>
                <a:latin typeface="Arial" pitchFamily="34" charset="0"/>
                <a:ea typeface="Arial" pitchFamily="34" charset="-122"/>
                <a:cs typeface="Arial" pitchFamily="34" charset="-120"/>
              </a:rPr>
              <a:t>Inconsistent</a:t>
            </a:r>
            <a:endParaRPr lang="en-US" sz="1100" dirty="0"/>
          </a:p>
        </p:txBody>
      </p:sp>
      <p:sp>
        <p:nvSpPr>
          <p:cNvPr id="13" name="Text 11"/>
          <p:cNvSpPr/>
          <p:nvPr/>
        </p:nvSpPr>
        <p:spPr>
          <a:xfrm>
            <a:off x="2377440" y="3840480"/>
            <a:ext cx="5760720" cy="384048"/>
          </a:xfrm>
          <a:prstGeom prst="rect">
            <a:avLst/>
          </a:prstGeom>
          <a:noFill/>
          <a:ln/>
        </p:spPr>
        <p:txBody>
          <a:bodyPr wrap="square" lIns="0" tIns="0" rIns="0" bIns="0" rtlCol="0" anchor="ctr"/>
          <a:lstStyle/>
          <a:p>
            <a:pPr indent="0" marL="0">
              <a:buNone/>
            </a:pPr>
            <a:r>
              <a:rPr lang="en-US" sz="1000" dirty="0">
                <a:solidFill>
                  <a:srgbClr val="B4E4D9"/>
                </a:solidFill>
                <a:latin typeface="Calibri" pitchFamily="34" charset="0"/>
                <a:ea typeface="Calibri" pitchFamily="34" charset="-122"/>
                <a:cs typeface="Calibri" pitchFamily="34" charset="-120"/>
              </a:rPr>
              <a:t>8 date formats, 3+ casing styles, mixed status values</a:t>
            </a:r>
            <a:endParaRPr lang="en-US" sz="1000" dirty="0"/>
          </a:p>
        </p:txBody>
      </p:sp>
      <p:sp>
        <p:nvSpPr>
          <p:cNvPr id="14" name="Shape 12"/>
          <p:cNvSpPr/>
          <p:nvPr/>
        </p:nvSpPr>
        <p:spPr>
          <a:xfrm>
            <a:off x="731520" y="4297680"/>
            <a:ext cx="7680960" cy="384048"/>
          </a:xfrm>
          <a:prstGeom prst="rect">
            <a:avLst/>
          </a:prstGeom>
          <a:solidFill>
            <a:srgbClr val="0F3D4A"/>
          </a:solidFill>
          <a:ln/>
          <a:effectLst>
            <a:outerShdw sx="100000" sy="100000" kx="0" ky="0" algn="bl" rotWithShape="0" blurRad="76200" dist="25400" dir="8100000">
              <a:srgbClr val="000000">
                <a:alpha val="20000"/>
              </a:srgbClr>
            </a:outerShdw>
          </a:effectLst>
        </p:spPr>
      </p:sp>
      <p:sp>
        <p:nvSpPr>
          <p:cNvPr id="15" name="Shape 13"/>
          <p:cNvSpPr/>
          <p:nvPr/>
        </p:nvSpPr>
        <p:spPr>
          <a:xfrm>
            <a:off x="731520" y="4297680"/>
            <a:ext cx="54864" cy="384048"/>
          </a:xfrm>
          <a:prstGeom prst="rect">
            <a:avLst/>
          </a:prstGeom>
          <a:solidFill>
            <a:srgbClr val="14B8A6"/>
          </a:solidFill>
          <a:ln/>
        </p:spPr>
      </p:sp>
      <p:sp>
        <p:nvSpPr>
          <p:cNvPr id="16" name="Text 14"/>
          <p:cNvSpPr/>
          <p:nvPr/>
        </p:nvSpPr>
        <p:spPr>
          <a:xfrm>
            <a:off x="1005840" y="4297680"/>
            <a:ext cx="1371600" cy="384048"/>
          </a:xfrm>
          <a:prstGeom prst="rect">
            <a:avLst/>
          </a:prstGeom>
          <a:noFill/>
          <a:ln/>
        </p:spPr>
        <p:txBody>
          <a:bodyPr wrap="square" lIns="0" tIns="0" rIns="0" bIns="0" rtlCol="0" anchor="ctr"/>
          <a:lstStyle/>
          <a:p>
            <a:pPr indent="0" marL="0">
              <a:buNone/>
            </a:pPr>
            <a:r>
              <a:rPr lang="en-US" sz="1100" b="1" dirty="0">
                <a:solidFill>
                  <a:srgbClr val="14B8A6"/>
                </a:solidFill>
                <a:latin typeface="Arial" pitchFamily="34" charset="0"/>
                <a:ea typeface="Arial" pitchFamily="34" charset="-122"/>
                <a:cs typeface="Arial" pitchFamily="34" charset="-120"/>
              </a:rPr>
              <a:t>Missing / junk</a:t>
            </a:r>
            <a:endParaRPr lang="en-US" sz="1100" dirty="0"/>
          </a:p>
        </p:txBody>
      </p:sp>
      <p:sp>
        <p:nvSpPr>
          <p:cNvPr id="17" name="Text 15"/>
          <p:cNvSpPr/>
          <p:nvPr/>
        </p:nvSpPr>
        <p:spPr>
          <a:xfrm>
            <a:off x="2377440" y="4297680"/>
            <a:ext cx="5760720" cy="384048"/>
          </a:xfrm>
          <a:prstGeom prst="rect">
            <a:avLst/>
          </a:prstGeom>
          <a:noFill/>
          <a:ln/>
        </p:spPr>
        <p:txBody>
          <a:bodyPr wrap="square" lIns="0" tIns="0" rIns="0" bIns="0" rtlCol="0" anchor="ctr"/>
          <a:lstStyle/>
          <a:p>
            <a:pPr indent="0" marL="0">
              <a:buNone/>
            </a:pPr>
            <a:r>
              <a:rPr lang="en-US" sz="1000" dirty="0">
                <a:solidFill>
                  <a:srgbClr val="B4E4D9"/>
                </a:solidFill>
                <a:latin typeface="Calibri" pitchFamily="34" charset="0"/>
                <a:ea typeface="Calibri" pitchFamily="34" charset="-122"/>
                <a:cs typeface="Calibri" pitchFamily="34" charset="-120"/>
              </a:rPr>
              <a:t>Empty emails, $-signs in numbers, "N/A" phones</a:t>
            </a:r>
            <a:endParaRPr lang="en-US" sz="1000" dirty="0"/>
          </a:p>
        </p:txBody>
      </p:sp>
      <p:sp>
        <p:nvSpPr>
          <p:cNvPr id="18" name="Shape 16"/>
          <p:cNvSpPr/>
          <p:nvPr/>
        </p:nvSpPr>
        <p:spPr>
          <a:xfrm>
            <a:off x="0" y="4800600"/>
            <a:ext cx="9144000" cy="342900"/>
          </a:xfrm>
          <a:prstGeom prst="rect">
            <a:avLst/>
          </a:prstGeom>
          <a:solidFill>
            <a:srgbClr val="14B8A6"/>
          </a:solidFill>
          <a:ln/>
        </p:spPr>
      </p:sp>
      <p:sp>
        <p:nvSpPr>
          <p:cNvPr id="19" name="Text 17"/>
          <p:cNvSpPr/>
          <p:nvPr/>
        </p:nvSpPr>
        <p:spPr>
          <a:xfrm>
            <a:off x="457200" y="4800600"/>
            <a:ext cx="8229600" cy="342900"/>
          </a:xfrm>
          <a:prstGeom prst="rect">
            <a:avLst/>
          </a:prstGeom>
          <a:noFill/>
          <a:ln/>
        </p:spPr>
        <p:txBody>
          <a:bodyPr wrap="square" lIns="0" tIns="0" rIns="0" bIns="0" rtlCol="0" anchor="ctr"/>
          <a:lstStyle/>
          <a:p>
            <a:pPr algn="l" indent="0" marL="0">
              <a:buNone/>
            </a:pPr>
            <a:r>
              <a:rPr lang="en-US" sz="900" b="1" dirty="0">
                <a:solidFill>
                  <a:srgbClr val="081E25"/>
                </a:solidFill>
                <a:latin typeface="Calibri" pitchFamily="34" charset="0"/>
                <a:ea typeface="Calibri" pitchFamily="34" charset="-122"/>
                <a:cs typeface="Calibri" pitchFamily="34" charset="-120"/>
              </a:rPr>
              <a:t>GOOGLE APPS SCRIPT: CSV DATA CLEANER</a:t>
            </a:r>
            <a:endParaRPr lang="en-US" sz="900" dirty="0"/>
          </a:p>
        </p:txBody>
      </p:sp>
      <p:sp>
        <p:nvSpPr>
          <p:cNvPr id="20" name="Text 18"/>
          <p:cNvSpPr/>
          <p:nvPr/>
        </p:nvSpPr>
        <p:spPr>
          <a:xfrm>
            <a:off x="8046720" y="4800600"/>
            <a:ext cx="914400" cy="342900"/>
          </a:xfrm>
          <a:prstGeom prst="rect">
            <a:avLst/>
          </a:prstGeom>
          <a:noFill/>
          <a:ln/>
        </p:spPr>
        <p:txBody>
          <a:bodyPr wrap="square" lIns="0" tIns="0" rIns="0" bIns="0" rtlCol="0" anchor="ctr"/>
          <a:lstStyle/>
          <a:p>
            <a:pPr algn="r" indent="0" marL="0">
              <a:buNone/>
            </a:pPr>
            <a:r>
              <a:rPr lang="en-US" sz="800" dirty="0">
                <a:solidFill>
                  <a:srgbClr val="081E25"/>
                </a:solidFill>
                <a:latin typeface="Calibri" pitchFamily="34" charset="0"/>
                <a:ea typeface="Calibri" pitchFamily="34" charset="-122"/>
                <a:cs typeface="Calibri" pitchFamily="34" charset="-120"/>
              </a:rPr>
              <a:t>7 / 31</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2E38"/>
        </a:solidFill>
      </p:bgPr>
    </p:bg>
    <p:spTree>
      <p:nvGrpSpPr>
        <p:cNvPr id="1" name=""/>
        <p:cNvGrpSpPr/>
        <p:nvPr/>
      </p:nvGrpSpPr>
      <p:grpSpPr>
        <a:xfrm>
          <a:off x="0" y="0"/>
          <a:ext cx="0" cy="0"/>
          <a:chOff x="0" y="0"/>
          <a:chExt cx="0" cy="0"/>
        </a:xfrm>
      </p:grpSpPr>
      <p:sp>
        <p:nvSpPr>
          <p:cNvPr id="2" name="Text 0"/>
          <p:cNvSpPr/>
          <p:nvPr/>
        </p:nvSpPr>
        <p:spPr>
          <a:xfrm>
            <a:off x="731520" y="365760"/>
            <a:ext cx="3657600" cy="365760"/>
          </a:xfrm>
          <a:prstGeom prst="rect">
            <a:avLst/>
          </a:prstGeom>
          <a:noFill/>
          <a:ln/>
        </p:spPr>
        <p:txBody>
          <a:bodyPr wrap="square" lIns="0" tIns="0" rIns="0" bIns="0" rtlCol="0" anchor="ctr"/>
          <a:lstStyle/>
          <a:p>
            <a:pPr indent="0" marL="0">
              <a:buNone/>
            </a:pPr>
            <a:r>
              <a:rPr lang="en-US" sz="1400" b="1" spc="300" kern="0" dirty="0">
                <a:solidFill>
                  <a:srgbClr val="14B8A6"/>
                </a:solidFill>
                <a:latin typeface="Arial" pitchFamily="34" charset="0"/>
                <a:ea typeface="Arial" pitchFamily="34" charset="-122"/>
                <a:cs typeface="Arial" pitchFamily="34" charset="-120"/>
              </a:rPr>
              <a:t>THE PROMPT</a:t>
            </a:r>
            <a:endParaRPr lang="en-US" sz="1400" dirty="0"/>
          </a:p>
        </p:txBody>
      </p:sp>
      <p:sp>
        <p:nvSpPr>
          <p:cNvPr id="3" name="Shape 1"/>
          <p:cNvSpPr/>
          <p:nvPr/>
        </p:nvSpPr>
        <p:spPr>
          <a:xfrm>
            <a:off x="731520" y="914400"/>
            <a:ext cx="7680960" cy="3108960"/>
          </a:xfrm>
          <a:prstGeom prst="rect">
            <a:avLst/>
          </a:prstGeom>
          <a:solidFill>
            <a:srgbClr val="0D1B21"/>
          </a:solidFill>
          <a:ln/>
          <a:effectLst>
            <a:outerShdw sx="100000" sy="100000" kx="0" ky="0" algn="bl" rotWithShape="0" blurRad="76200" dist="25400" dir="8100000">
              <a:srgbClr val="000000">
                <a:alpha val="20000"/>
              </a:srgbClr>
            </a:outerShdw>
          </a:effectLst>
        </p:spPr>
      </p:sp>
      <p:sp>
        <p:nvSpPr>
          <p:cNvPr id="4" name="Text 2"/>
          <p:cNvSpPr/>
          <p:nvPr/>
        </p:nvSpPr>
        <p:spPr>
          <a:xfrm>
            <a:off x="1005840" y="1005840"/>
            <a:ext cx="7132320" cy="2926080"/>
          </a:xfrm>
          <a:prstGeom prst="rect">
            <a:avLst/>
          </a:prstGeom>
          <a:noFill/>
          <a:ln/>
        </p:spPr>
        <p:txBody>
          <a:bodyPr wrap="square" lIns="0" tIns="0" rIns="0" bIns="0" rtlCol="0" anchor="t"/>
          <a:lstStyle/>
          <a:p>
            <a:pPr indent="0" marL="0">
              <a:buNone/>
            </a:pPr>
            <a:r>
              <a:rPr lang="en-US" sz="1300" b="1" dirty="0">
                <a:solidFill>
                  <a:srgbClr val="5EEAD4"/>
                </a:solidFill>
                <a:latin typeface="Consolas" pitchFamily="34" charset="0"/>
                <a:ea typeface="Consolas" pitchFamily="34" charset="-122"/>
                <a:cs typeface="Consolas" pitchFamily="34" charset="-120"/>
              </a:rPr>
              <a:t>Write a Google Apps Script that cleans</a:t>
            </a:r>
            <a:endParaRPr lang="en-US" sz="1300" dirty="0"/>
          </a:p>
          <a:p>
            <a:pPr indent="0" marL="0">
              <a:buNone/>
            </a:pPr>
            <a:r>
              <a:rPr lang="en-US" sz="1300" b="1" dirty="0">
                <a:solidFill>
                  <a:srgbClr val="5EEAD4"/>
                </a:solidFill>
                <a:latin typeface="Consolas" pitchFamily="34" charset="0"/>
                <a:ea typeface="Consolas" pitchFamily="34" charset="-122"/>
                <a:cs typeface="Consolas" pitchFamily="34" charset="-120"/>
              </a:rPr>
              <a:t>messy CSV data in the active sheet:</a:t>
            </a:r>
            <a:endParaRPr lang="en-US" sz="1300" dirty="0"/>
          </a:p>
          <a:p>
            <a:pPr indent="0" marL="0">
              <a:buNone/>
            </a:pPr>
            <a:endParaRPr lang="en-US" sz="1300" dirty="0"/>
          </a:p>
          <a:p>
            <a:pPr indent="0" marL="0">
              <a:buNone/>
            </a:pPr>
            <a:r>
              <a:rPr lang="en-US" sz="1200" dirty="0">
                <a:solidFill>
                  <a:srgbClr val="B4E4D9"/>
                </a:solidFill>
                <a:latin typeface="Consolas" pitchFamily="34" charset="0"/>
                <a:ea typeface="Consolas" pitchFamily="34" charset="-122"/>
                <a:cs typeface="Consolas" pitchFamily="34" charset="-120"/>
              </a:rPr>
              <a:t>1. Trim whitespace from all text cells</a:t>
            </a:r>
            <a:endParaRPr lang="en-US" sz="1300" dirty="0"/>
          </a:p>
          <a:p>
            <a:pPr indent="0" marL="0">
              <a:buNone/>
            </a:pPr>
            <a:r>
              <a:rPr lang="en-US" sz="1200" dirty="0">
                <a:solidFill>
                  <a:srgbClr val="B4E4D9"/>
                </a:solidFill>
                <a:latin typeface="Consolas" pitchFamily="34" charset="0"/>
                <a:ea typeface="Consolas" pitchFamily="34" charset="-122"/>
                <a:cs typeface="Consolas" pitchFamily="34" charset="-120"/>
              </a:rPr>
              <a:t>2. Standardize names to Title Case</a:t>
            </a:r>
            <a:endParaRPr lang="en-US" sz="1300" dirty="0"/>
          </a:p>
          <a:p>
            <a:pPr indent="0" marL="0">
              <a:buNone/>
            </a:pPr>
            <a:r>
              <a:rPr lang="en-US" sz="1200" dirty="0">
                <a:solidFill>
                  <a:srgbClr val="B4E4D9"/>
                </a:solidFill>
                <a:latin typeface="Consolas" pitchFamily="34" charset="0"/>
                <a:ea typeface="Consolas" pitchFamily="34" charset="-122"/>
                <a:cs typeface="Consolas" pitchFamily="34" charset="-120"/>
              </a:rPr>
              <a:t>3. Lowercase all emails</a:t>
            </a:r>
            <a:endParaRPr lang="en-US" sz="1300" dirty="0"/>
          </a:p>
          <a:p>
            <a:pPr indent="0" marL="0">
              <a:buNone/>
            </a:pPr>
            <a:r>
              <a:rPr lang="en-US" sz="1200" dirty="0">
                <a:solidFill>
                  <a:srgbClr val="B4E4D9"/>
                </a:solidFill>
                <a:latin typeface="Consolas" pitchFamily="34" charset="0"/>
                <a:ea typeface="Consolas" pitchFamily="34" charset="-122"/>
                <a:cs typeface="Consolas" pitchFamily="34" charset="-120"/>
              </a:rPr>
              <a:t>4. Parse all date formats into YYYY-MM-DD</a:t>
            </a:r>
            <a:endParaRPr lang="en-US" sz="1300" dirty="0"/>
          </a:p>
          <a:p>
            <a:pPr indent="0" marL="0">
              <a:buNone/>
            </a:pPr>
            <a:r>
              <a:rPr lang="en-US" sz="1200" dirty="0">
                <a:solidFill>
                  <a:srgbClr val="B4E4D9"/>
                </a:solidFill>
                <a:latin typeface="Consolas" pitchFamily="34" charset="0"/>
                <a:ea typeface="Consolas" pitchFamily="34" charset="-122"/>
                <a:cs typeface="Consolas" pitchFamily="34" charset="-120"/>
              </a:rPr>
              <a:t>5. Standardize status to lowercase</a:t>
            </a:r>
            <a:endParaRPr lang="en-US" sz="1300" dirty="0"/>
          </a:p>
          <a:p>
            <a:pPr indent="0" marL="0">
              <a:buNone/>
            </a:pPr>
            <a:r>
              <a:rPr lang="en-US" sz="1200" dirty="0">
                <a:solidFill>
                  <a:srgbClr val="B4E4D9"/>
                </a:solidFill>
                <a:latin typeface="Consolas" pitchFamily="34" charset="0"/>
                <a:ea typeface="Consolas" pitchFamily="34" charset="-122"/>
                <a:cs typeface="Consolas" pitchFamily="34" charset="-120"/>
              </a:rPr>
              <a:t>6. Remove $ from numeric fields</a:t>
            </a:r>
            <a:endParaRPr lang="en-US" sz="1300" dirty="0"/>
          </a:p>
          <a:p>
            <a:pPr indent="0" marL="0">
              <a:buNone/>
            </a:pPr>
            <a:r>
              <a:rPr lang="en-US" sz="1200" dirty="0">
                <a:solidFill>
                  <a:srgbClr val="B4E4D9"/>
                </a:solidFill>
                <a:latin typeface="Consolas" pitchFamily="34" charset="0"/>
                <a:ea typeface="Consolas" pitchFamily="34" charset="-122"/>
                <a:cs typeface="Consolas" pitchFamily="34" charset="-120"/>
              </a:rPr>
              <a:t>7. Flag and remove duplicate rows by email</a:t>
            </a:r>
            <a:endParaRPr lang="en-US" sz="1300" dirty="0"/>
          </a:p>
        </p:txBody>
      </p:sp>
      <p:sp>
        <p:nvSpPr>
          <p:cNvPr id="5" name="Shape 3"/>
          <p:cNvSpPr/>
          <p:nvPr/>
        </p:nvSpPr>
        <p:spPr>
          <a:xfrm>
            <a:off x="731520" y="4160520"/>
            <a:ext cx="4114800" cy="502920"/>
          </a:xfrm>
          <a:prstGeom prst="rect">
            <a:avLst/>
          </a:prstGeom>
          <a:solidFill>
            <a:srgbClr val="0F3D4A"/>
          </a:solidFill>
          <a:ln/>
          <a:effectLst>
            <a:outerShdw sx="100000" sy="100000" kx="0" ky="0" algn="bl" rotWithShape="0" blurRad="76200" dist="25400" dir="8100000">
              <a:srgbClr val="000000">
                <a:alpha val="20000"/>
              </a:srgbClr>
            </a:outerShdw>
          </a:effectLst>
        </p:spPr>
      </p:sp>
      <p:sp>
        <p:nvSpPr>
          <p:cNvPr id="6" name="Shape 4"/>
          <p:cNvSpPr/>
          <p:nvPr/>
        </p:nvSpPr>
        <p:spPr>
          <a:xfrm>
            <a:off x="731520" y="4160520"/>
            <a:ext cx="54864" cy="502920"/>
          </a:xfrm>
          <a:prstGeom prst="rect">
            <a:avLst/>
          </a:prstGeom>
          <a:solidFill>
            <a:srgbClr val="22C55E"/>
          </a:solidFill>
          <a:ln/>
        </p:spPr>
      </p:sp>
      <p:sp>
        <p:nvSpPr>
          <p:cNvPr id="7" name="Text 5"/>
          <p:cNvSpPr/>
          <p:nvPr/>
        </p:nvSpPr>
        <p:spPr>
          <a:xfrm>
            <a:off x="1051560" y="4160520"/>
            <a:ext cx="3657600" cy="502920"/>
          </a:xfrm>
          <a:prstGeom prst="rect">
            <a:avLst/>
          </a:prstGeom>
          <a:noFill/>
          <a:ln/>
        </p:spPr>
        <p:txBody>
          <a:bodyPr wrap="square" lIns="0" tIns="0" rIns="0" bIns="0" rtlCol="0" anchor="ctr"/>
          <a:lstStyle/>
          <a:p>
            <a:pPr indent="0" marL="0">
              <a:buNone/>
            </a:pPr>
            <a:r>
              <a:rPr lang="en-US" sz="1200" b="1" dirty="0">
                <a:solidFill>
                  <a:srgbClr val="22C55E"/>
                </a:solidFill>
                <a:latin typeface="Calibri" pitchFamily="34" charset="0"/>
                <a:ea typeface="Calibri" pitchFamily="34" charset="-122"/>
                <a:cs typeface="Calibri" pitchFamily="34" charset="-120"/>
              </a:rPr>
              <a:t>AI generates a full cleaning script in ~90 seconds</a:t>
            </a:r>
            <a:endParaRPr lang="en-US" sz="1200" dirty="0"/>
          </a:p>
        </p:txBody>
      </p:sp>
      <p:sp>
        <p:nvSpPr>
          <p:cNvPr id="8" name="Text 6"/>
          <p:cNvSpPr/>
          <p:nvPr/>
        </p:nvSpPr>
        <p:spPr>
          <a:xfrm>
            <a:off x="6858000" y="4206240"/>
            <a:ext cx="1645920" cy="365760"/>
          </a:xfrm>
          <a:prstGeom prst="rect">
            <a:avLst/>
          </a:prstGeom>
          <a:noFill/>
          <a:ln/>
        </p:spPr>
        <p:txBody>
          <a:bodyPr wrap="square" lIns="0" tIns="0" rIns="0" bIns="0" rtlCol="0" anchor="ctr"/>
          <a:lstStyle/>
          <a:p>
            <a:pPr algn="ctr" indent="0" marL="0">
              <a:buNone/>
            </a:pPr>
            <a:r>
              <a:rPr lang="en-US" sz="1200" b="1" dirty="0">
                <a:solidFill>
                  <a:srgbClr val="F59E0B"/>
                </a:solidFill>
                <a:latin typeface="Arial" pitchFamily="34" charset="0"/>
                <a:ea typeface="Arial" pitchFamily="34" charset="-122"/>
                <a:cs typeface="Arial" pitchFamily="34" charset="-120"/>
              </a:rPr>
              <a:t>LIVE BUILD</a:t>
            </a:r>
            <a:endParaRPr lang="en-US" sz="1200" dirty="0"/>
          </a:p>
        </p:txBody>
      </p:sp>
      <p:sp>
        <p:nvSpPr>
          <p:cNvPr id="9" name="Shape 7"/>
          <p:cNvSpPr/>
          <p:nvPr/>
        </p:nvSpPr>
        <p:spPr>
          <a:xfrm>
            <a:off x="0" y="4800600"/>
            <a:ext cx="9144000" cy="342900"/>
          </a:xfrm>
          <a:prstGeom prst="rect">
            <a:avLst/>
          </a:prstGeom>
          <a:solidFill>
            <a:srgbClr val="14B8A6"/>
          </a:solidFill>
          <a:ln/>
        </p:spPr>
      </p:sp>
      <p:sp>
        <p:nvSpPr>
          <p:cNvPr id="10" name="Text 8"/>
          <p:cNvSpPr/>
          <p:nvPr/>
        </p:nvSpPr>
        <p:spPr>
          <a:xfrm>
            <a:off x="457200" y="4800600"/>
            <a:ext cx="8229600" cy="342900"/>
          </a:xfrm>
          <a:prstGeom prst="rect">
            <a:avLst/>
          </a:prstGeom>
          <a:noFill/>
          <a:ln/>
        </p:spPr>
        <p:txBody>
          <a:bodyPr wrap="square" lIns="0" tIns="0" rIns="0" bIns="0" rtlCol="0" anchor="ctr"/>
          <a:lstStyle/>
          <a:p>
            <a:pPr algn="l" indent="0" marL="0">
              <a:buNone/>
            </a:pPr>
            <a:r>
              <a:rPr lang="en-US" sz="900" b="1" dirty="0">
                <a:solidFill>
                  <a:srgbClr val="081E25"/>
                </a:solidFill>
                <a:latin typeface="Calibri" pitchFamily="34" charset="0"/>
                <a:ea typeface="Calibri" pitchFamily="34" charset="-122"/>
                <a:cs typeface="Calibri" pitchFamily="34" charset="-120"/>
              </a:rPr>
              <a:t>GOOGLE APPS SCRIPT: CSV DATA CLEANER</a:t>
            </a:r>
            <a:endParaRPr lang="en-US" sz="900" dirty="0"/>
          </a:p>
        </p:txBody>
      </p:sp>
      <p:sp>
        <p:nvSpPr>
          <p:cNvPr id="11" name="Text 9"/>
          <p:cNvSpPr/>
          <p:nvPr/>
        </p:nvSpPr>
        <p:spPr>
          <a:xfrm>
            <a:off x="8046720" y="4800600"/>
            <a:ext cx="914400" cy="342900"/>
          </a:xfrm>
          <a:prstGeom prst="rect">
            <a:avLst/>
          </a:prstGeom>
          <a:noFill/>
          <a:ln/>
        </p:spPr>
        <p:txBody>
          <a:bodyPr wrap="square" lIns="0" tIns="0" rIns="0" bIns="0" rtlCol="0" anchor="ctr"/>
          <a:lstStyle/>
          <a:p>
            <a:pPr algn="r" indent="0" marL="0">
              <a:buNone/>
            </a:pPr>
            <a:r>
              <a:rPr lang="en-US" sz="800" dirty="0">
                <a:solidFill>
                  <a:srgbClr val="081E25"/>
                </a:solidFill>
                <a:latin typeface="Calibri" pitchFamily="34" charset="0"/>
                <a:ea typeface="Calibri" pitchFamily="34" charset="-122"/>
                <a:cs typeface="Calibri" pitchFamily="34" charset="-120"/>
              </a:rPr>
              <a:t>8 / 31</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2E3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457200"/>
            <a:ext cx="365760" cy="365760"/>
          </a:xfrm>
          <a:prstGeom prst="rect">
            <a:avLst/>
          </a:prstGeom>
        </p:spPr>
      </p:pic>
      <p:sp>
        <p:nvSpPr>
          <p:cNvPr id="3" name="Text 0"/>
          <p:cNvSpPr/>
          <p:nvPr/>
        </p:nvSpPr>
        <p:spPr>
          <a:xfrm>
            <a:off x="1280160" y="457200"/>
            <a:ext cx="4572000" cy="365760"/>
          </a:xfrm>
          <a:prstGeom prst="rect">
            <a:avLst/>
          </a:prstGeom>
          <a:noFill/>
          <a:ln/>
        </p:spPr>
        <p:txBody>
          <a:bodyPr wrap="square" lIns="0" tIns="0" rIns="0" bIns="0" rtlCol="0" anchor="ctr"/>
          <a:lstStyle/>
          <a:p>
            <a:pPr indent="0" marL="0">
              <a:buNone/>
            </a:pPr>
            <a:r>
              <a:rPr lang="en-US" sz="1400" b="1" spc="300" kern="0" dirty="0">
                <a:solidFill>
                  <a:srgbClr val="F59E0B"/>
                </a:solidFill>
                <a:latin typeface="Arial" pitchFamily="34" charset="0"/>
                <a:ea typeface="Arial" pitchFamily="34" charset="-122"/>
                <a:cs typeface="Arial" pitchFamily="34" charset="-120"/>
              </a:rPr>
              <a:t>PROMPT TEARDOWN</a:t>
            </a:r>
            <a:endParaRPr lang="en-US" sz="1400" dirty="0"/>
          </a:p>
        </p:txBody>
      </p:sp>
      <p:sp>
        <p:nvSpPr>
          <p:cNvPr id="4" name="Text 1"/>
          <p:cNvSpPr/>
          <p:nvPr/>
        </p:nvSpPr>
        <p:spPr>
          <a:xfrm>
            <a:off x="731520" y="1005840"/>
            <a:ext cx="7315200" cy="548640"/>
          </a:xfrm>
          <a:prstGeom prst="rect">
            <a:avLst/>
          </a:prstGeom>
          <a:noFill/>
          <a:ln/>
        </p:spPr>
        <p:txBody>
          <a:bodyPr wrap="square" lIns="0" tIns="0" rIns="0" bIns="0" rtlCol="0" anchor="ctr"/>
          <a:lstStyle/>
          <a:p>
            <a:pPr indent="0" marL="0">
              <a:buNone/>
            </a:pPr>
            <a:r>
              <a:rPr lang="en-US" sz="2800" dirty="0">
                <a:solidFill>
                  <a:srgbClr val="F0FDFA"/>
                </a:solidFill>
                <a:latin typeface="Arial Black" pitchFamily="34" charset="0"/>
                <a:ea typeface="Arial Black" pitchFamily="34" charset="-122"/>
                <a:cs typeface="Arial Black" pitchFamily="34" charset="-120"/>
              </a:rPr>
              <a:t>What's wrong with this prompt?</a:t>
            </a:r>
            <a:endParaRPr lang="en-US" sz="2800" dirty="0"/>
          </a:p>
        </p:txBody>
      </p:sp>
      <p:sp>
        <p:nvSpPr>
          <p:cNvPr id="5" name="Shape 2"/>
          <p:cNvSpPr/>
          <p:nvPr/>
        </p:nvSpPr>
        <p:spPr>
          <a:xfrm>
            <a:off x="731520" y="1737360"/>
            <a:ext cx="7680960" cy="1463040"/>
          </a:xfrm>
          <a:prstGeom prst="rect">
            <a:avLst/>
          </a:prstGeom>
          <a:solidFill>
            <a:srgbClr val="0D1B21"/>
          </a:solidFill>
          <a:ln/>
          <a:effectLst>
            <a:outerShdw sx="100000" sy="100000" kx="0" ky="0" algn="bl" rotWithShape="0" blurRad="76200" dist="25400" dir="8100000">
              <a:srgbClr val="000000">
                <a:alpha val="20000"/>
              </a:srgbClr>
            </a:outerShdw>
          </a:effectLst>
        </p:spPr>
      </p:sp>
      <p:sp>
        <p:nvSpPr>
          <p:cNvPr id="6" name="Text 3"/>
          <p:cNvSpPr/>
          <p:nvPr/>
        </p:nvSpPr>
        <p:spPr>
          <a:xfrm>
            <a:off x="1005840" y="1828800"/>
            <a:ext cx="7132320" cy="1097280"/>
          </a:xfrm>
          <a:prstGeom prst="rect">
            <a:avLst/>
          </a:prstGeom>
          <a:noFill/>
          <a:ln/>
        </p:spPr>
        <p:txBody>
          <a:bodyPr wrap="square" lIns="0" tIns="0" rIns="0" bIns="0" rtlCol="0" anchor="ctr"/>
          <a:lstStyle/>
          <a:p>
            <a:pPr indent="0" marL="0">
              <a:buNone/>
            </a:pPr>
            <a:r>
              <a:rPr lang="en-US" sz="2200" i="1" dirty="0">
                <a:solidFill>
                  <a:srgbClr val="94A3B8"/>
                </a:solidFill>
                <a:latin typeface="Consolas" pitchFamily="34" charset="0"/>
                <a:ea typeface="Consolas" pitchFamily="34" charset="-122"/>
                <a:cs typeface="Consolas" pitchFamily="34" charset="-120"/>
              </a:rPr>
              <a:t>"Clean up the data in my spreadsheet."</a:t>
            </a:r>
            <a:endParaRPr lang="en-US" sz="2200" dirty="0"/>
          </a:p>
        </p:txBody>
      </p:sp>
      <p:sp>
        <p:nvSpPr>
          <p:cNvPr id="7" name="Shape 4"/>
          <p:cNvSpPr/>
          <p:nvPr/>
        </p:nvSpPr>
        <p:spPr>
          <a:xfrm>
            <a:off x="731520" y="3474720"/>
            <a:ext cx="7680960" cy="1097280"/>
          </a:xfrm>
          <a:prstGeom prst="rect">
            <a:avLst/>
          </a:prstGeom>
          <a:solidFill>
            <a:srgbClr val="0F3D4A"/>
          </a:solidFill>
          <a:ln/>
          <a:effectLst>
            <a:outerShdw sx="100000" sy="100000" kx="0" ky="0" algn="bl" rotWithShape="0" blurRad="76200" dist="25400" dir="8100000">
              <a:srgbClr val="000000">
                <a:alpha val="20000"/>
              </a:srgbClr>
            </a:outerShdw>
          </a:effectLst>
        </p:spPr>
      </p:sp>
      <p:pic>
        <p:nvPicPr>
          <p:cNvPr id="8" name="Image 1" descr="preencoded.png">    </p:cNvPr>
          <p:cNvPicPr>
            <a:picLocks noChangeAspect="1"/>
          </p:cNvPicPr>
          <p:nvPr/>
        </p:nvPicPr>
        <p:blipFill>
          <a:blip r:embed="rId2"/>
          <a:stretch>
            <a:fillRect/>
          </a:stretch>
        </p:blipFill>
        <p:spPr>
          <a:xfrm>
            <a:off x="1005840" y="3657600"/>
            <a:ext cx="365760" cy="365760"/>
          </a:xfrm>
          <a:prstGeom prst="rect">
            <a:avLst/>
          </a:prstGeom>
        </p:spPr>
      </p:pic>
      <p:sp>
        <p:nvSpPr>
          <p:cNvPr id="9" name="Text 5"/>
          <p:cNvSpPr/>
          <p:nvPr/>
        </p:nvSpPr>
        <p:spPr>
          <a:xfrm>
            <a:off x="1508760" y="3566160"/>
            <a:ext cx="1828800" cy="274320"/>
          </a:xfrm>
          <a:prstGeom prst="rect">
            <a:avLst/>
          </a:prstGeom>
          <a:noFill/>
          <a:ln/>
        </p:spPr>
        <p:txBody>
          <a:bodyPr wrap="square" lIns="0" tIns="0" rIns="0" bIns="0" rtlCol="0" anchor="ctr"/>
          <a:lstStyle/>
          <a:p>
            <a:pPr indent="0" marL="0">
              <a:buNone/>
            </a:pPr>
            <a:r>
              <a:rPr lang="en-US" sz="1200" b="1" dirty="0">
                <a:solidFill>
                  <a:srgbClr val="F59E0B"/>
                </a:solidFill>
                <a:latin typeface="Arial" pitchFamily="34" charset="0"/>
                <a:ea typeface="Arial" pitchFamily="34" charset="-122"/>
                <a:cs typeface="Arial" pitchFamily="34" charset="-120"/>
              </a:rPr>
              <a:t>YOUR TURN</a:t>
            </a:r>
            <a:endParaRPr lang="en-US" sz="1200" dirty="0"/>
          </a:p>
        </p:txBody>
      </p:sp>
      <p:sp>
        <p:nvSpPr>
          <p:cNvPr id="10" name="Text 6"/>
          <p:cNvSpPr/>
          <p:nvPr/>
        </p:nvSpPr>
        <p:spPr>
          <a:xfrm>
            <a:off x="1508760" y="3840480"/>
            <a:ext cx="5943600" cy="457200"/>
          </a:xfrm>
          <a:prstGeom prst="rect">
            <a:avLst/>
          </a:prstGeom>
          <a:noFill/>
          <a:ln/>
        </p:spPr>
        <p:txBody>
          <a:bodyPr wrap="square" lIns="0" tIns="0" rIns="0" bIns="0" rtlCol="0" anchor="ctr"/>
          <a:lstStyle/>
          <a:p>
            <a:pPr indent="0" marL="0">
              <a:buNone/>
            </a:pPr>
            <a:r>
              <a:rPr lang="en-US" sz="1600" dirty="0">
                <a:solidFill>
                  <a:srgbClr val="F0FDFA"/>
                </a:solidFill>
                <a:latin typeface="Calibri" pitchFamily="34" charset="0"/>
                <a:ea typeface="Calibri" pitchFamily="34" charset="-122"/>
                <a:cs typeface="Calibri" pitchFamily="34" charset="-120"/>
              </a:rPr>
              <a:t>Shout out what's missing. I'll take 2-3 answers.</a:t>
            </a:r>
            <a:endParaRPr lang="en-US" sz="1600" dirty="0"/>
          </a:p>
        </p:txBody>
      </p:sp>
      <p:sp>
        <p:nvSpPr>
          <p:cNvPr id="11" name="Shape 7"/>
          <p:cNvSpPr/>
          <p:nvPr/>
        </p:nvSpPr>
        <p:spPr>
          <a:xfrm>
            <a:off x="0" y="4800600"/>
            <a:ext cx="9144000" cy="342900"/>
          </a:xfrm>
          <a:prstGeom prst="rect">
            <a:avLst/>
          </a:prstGeom>
          <a:solidFill>
            <a:srgbClr val="14B8A6"/>
          </a:solidFill>
          <a:ln/>
        </p:spPr>
      </p:sp>
      <p:sp>
        <p:nvSpPr>
          <p:cNvPr id="12" name="Text 8"/>
          <p:cNvSpPr/>
          <p:nvPr/>
        </p:nvSpPr>
        <p:spPr>
          <a:xfrm>
            <a:off x="457200" y="4800600"/>
            <a:ext cx="8229600" cy="342900"/>
          </a:xfrm>
          <a:prstGeom prst="rect">
            <a:avLst/>
          </a:prstGeom>
          <a:noFill/>
          <a:ln/>
        </p:spPr>
        <p:txBody>
          <a:bodyPr wrap="square" lIns="0" tIns="0" rIns="0" bIns="0" rtlCol="0" anchor="ctr"/>
          <a:lstStyle/>
          <a:p>
            <a:pPr algn="l" indent="0" marL="0">
              <a:buNone/>
            </a:pPr>
            <a:r>
              <a:rPr lang="en-US" sz="900" b="1" dirty="0">
                <a:solidFill>
                  <a:srgbClr val="081E25"/>
                </a:solidFill>
                <a:latin typeface="Calibri" pitchFamily="34" charset="0"/>
                <a:ea typeface="Calibri" pitchFamily="34" charset="-122"/>
                <a:cs typeface="Calibri" pitchFamily="34" charset="-120"/>
              </a:rPr>
              <a:t>GOOGLE APPS SCRIPT: CSV DATA CLEANER</a:t>
            </a:r>
            <a:endParaRPr lang="en-US" sz="900" dirty="0"/>
          </a:p>
        </p:txBody>
      </p:sp>
      <p:sp>
        <p:nvSpPr>
          <p:cNvPr id="13" name="Text 9"/>
          <p:cNvSpPr/>
          <p:nvPr/>
        </p:nvSpPr>
        <p:spPr>
          <a:xfrm>
            <a:off x="8046720" y="4800600"/>
            <a:ext cx="914400" cy="342900"/>
          </a:xfrm>
          <a:prstGeom prst="rect">
            <a:avLst/>
          </a:prstGeom>
          <a:noFill/>
          <a:ln/>
        </p:spPr>
        <p:txBody>
          <a:bodyPr wrap="square" lIns="0" tIns="0" rIns="0" bIns="0" rtlCol="0" anchor="ctr"/>
          <a:lstStyle/>
          <a:p>
            <a:pPr algn="r" indent="0" marL="0">
              <a:buNone/>
            </a:pPr>
            <a:r>
              <a:rPr lang="en-US" sz="800" dirty="0">
                <a:solidFill>
                  <a:srgbClr val="081E25"/>
                </a:solidFill>
                <a:latin typeface="Calibri" pitchFamily="34" charset="0"/>
                <a:ea typeface="Calibri" pitchFamily="34" charset="-122"/>
                <a:cs typeface="Calibri" pitchFamily="34" charset="-120"/>
              </a:rPr>
              <a:t>9 / 31</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2E38"/>
        </a:solidFill>
      </p:bgPr>
    </p:bg>
    <p:spTree>
      <p:nvGrpSpPr>
        <p:cNvPr id="1" name=""/>
        <p:cNvGrpSpPr/>
        <p:nvPr/>
      </p:nvGrpSpPr>
      <p:grpSpPr>
        <a:xfrm>
          <a:off x="0" y="0"/>
          <a:ext cx="0" cy="0"/>
          <a:chOff x="0" y="0"/>
          <a:chExt cx="0" cy="0"/>
        </a:xfrm>
      </p:grpSpPr>
      <p:sp>
        <p:nvSpPr>
          <p:cNvPr id="2" name="Text 0"/>
          <p:cNvSpPr/>
          <p:nvPr/>
        </p:nvSpPr>
        <p:spPr>
          <a:xfrm>
            <a:off x="731520" y="457200"/>
            <a:ext cx="5486400" cy="365760"/>
          </a:xfrm>
          <a:prstGeom prst="rect">
            <a:avLst/>
          </a:prstGeom>
          <a:noFill/>
          <a:ln/>
        </p:spPr>
        <p:txBody>
          <a:bodyPr wrap="square" lIns="0" tIns="0" rIns="0" bIns="0" rtlCol="0" anchor="ctr"/>
          <a:lstStyle/>
          <a:p>
            <a:pPr indent="0" marL="0">
              <a:buNone/>
            </a:pPr>
            <a:r>
              <a:rPr lang="en-US" sz="1400" b="1" spc="300" kern="0" dirty="0">
                <a:solidFill>
                  <a:srgbClr val="14B8A6"/>
                </a:solidFill>
                <a:latin typeface="Arial" pitchFamily="34" charset="0"/>
                <a:ea typeface="Arial" pitchFamily="34" charset="-122"/>
                <a:cs typeface="Arial" pitchFamily="34" charset="-120"/>
              </a:rPr>
              <a:t>THE ITERATION LOOP</a:t>
            </a:r>
            <a:endParaRPr lang="en-US" sz="1400" dirty="0"/>
          </a:p>
        </p:txBody>
      </p:sp>
      <p:sp>
        <p:nvSpPr>
          <p:cNvPr id="3" name="Text 1"/>
          <p:cNvSpPr/>
          <p:nvPr/>
        </p:nvSpPr>
        <p:spPr>
          <a:xfrm>
            <a:off x="731520" y="1005840"/>
            <a:ext cx="7315200" cy="548640"/>
          </a:xfrm>
          <a:prstGeom prst="rect">
            <a:avLst/>
          </a:prstGeom>
          <a:noFill/>
          <a:ln/>
        </p:spPr>
        <p:txBody>
          <a:bodyPr wrap="square" lIns="0" tIns="0" rIns="0" bIns="0" rtlCol="0" anchor="ctr"/>
          <a:lstStyle/>
          <a:p>
            <a:pPr indent="0" marL="0">
              <a:buNone/>
            </a:pPr>
            <a:r>
              <a:rPr lang="en-US" sz="2200" dirty="0">
                <a:solidFill>
                  <a:srgbClr val="F0FDFA"/>
                </a:solidFill>
                <a:latin typeface="Arial Black" pitchFamily="34" charset="0"/>
                <a:ea typeface="Arial Black" pitchFamily="34" charset="-122"/>
                <a:cs typeface="Arial Black" pitchFamily="34" charset="-120"/>
              </a:rPr>
              <a:t>First attempt → failure → refinement → success</a:t>
            </a:r>
            <a:endParaRPr lang="en-US" sz="2200" dirty="0"/>
          </a:p>
        </p:txBody>
      </p:sp>
      <p:sp>
        <p:nvSpPr>
          <p:cNvPr id="4" name="Shape 2"/>
          <p:cNvSpPr/>
          <p:nvPr/>
        </p:nvSpPr>
        <p:spPr>
          <a:xfrm>
            <a:off x="731520" y="1828800"/>
            <a:ext cx="1828800" cy="2286000"/>
          </a:xfrm>
          <a:prstGeom prst="rect">
            <a:avLst/>
          </a:prstGeom>
          <a:solidFill>
            <a:srgbClr val="0F3D4A"/>
          </a:solidFill>
          <a:ln/>
          <a:effectLst>
            <a:outerShdw sx="100000" sy="100000" kx="0" ky="0" algn="bl" rotWithShape="0" blurRad="76200" dist="25400" dir="8100000">
              <a:srgbClr val="000000">
                <a:alpha val="20000"/>
              </a:srgbClr>
            </a:outerShdw>
          </a:effectLst>
        </p:spPr>
      </p:sp>
      <p:sp>
        <p:nvSpPr>
          <p:cNvPr id="5" name="Shape 3"/>
          <p:cNvSpPr/>
          <p:nvPr/>
        </p:nvSpPr>
        <p:spPr>
          <a:xfrm>
            <a:off x="1371600" y="1965960"/>
            <a:ext cx="502920" cy="502920"/>
          </a:xfrm>
          <a:prstGeom prst="oval">
            <a:avLst/>
          </a:prstGeom>
          <a:solidFill>
            <a:srgbClr val="14B8A6"/>
          </a:solidFill>
          <a:ln/>
        </p:spPr>
      </p:sp>
      <p:sp>
        <p:nvSpPr>
          <p:cNvPr id="6" name="Text 4"/>
          <p:cNvSpPr/>
          <p:nvPr/>
        </p:nvSpPr>
        <p:spPr>
          <a:xfrm>
            <a:off x="1371600" y="1965960"/>
            <a:ext cx="502920" cy="502920"/>
          </a:xfrm>
          <a:prstGeom prst="rect">
            <a:avLst/>
          </a:prstGeom>
          <a:noFill/>
          <a:ln/>
        </p:spPr>
        <p:txBody>
          <a:bodyPr wrap="square" lIns="0" tIns="0" rIns="0" bIns="0" rtlCol="0" anchor="ctr"/>
          <a:lstStyle/>
          <a:p>
            <a:pPr algn="ctr" indent="0" marL="0">
              <a:buNone/>
            </a:pPr>
            <a:r>
              <a:rPr lang="en-US" sz="1800" dirty="0">
                <a:solidFill>
                  <a:srgbClr val="081E25"/>
                </a:solidFill>
                <a:latin typeface="Arial Black" pitchFamily="34" charset="0"/>
                <a:ea typeface="Arial Black" pitchFamily="34" charset="-122"/>
                <a:cs typeface="Arial Black" pitchFamily="34" charset="-120"/>
              </a:rPr>
              <a:t>1</a:t>
            </a:r>
            <a:endParaRPr lang="en-US" sz="1800" dirty="0"/>
          </a:p>
        </p:txBody>
      </p:sp>
      <p:sp>
        <p:nvSpPr>
          <p:cNvPr id="7" name="Text 5"/>
          <p:cNvSpPr/>
          <p:nvPr/>
        </p:nvSpPr>
        <p:spPr>
          <a:xfrm>
            <a:off x="868680" y="2606040"/>
            <a:ext cx="1554480" cy="365760"/>
          </a:xfrm>
          <a:prstGeom prst="rect">
            <a:avLst/>
          </a:prstGeom>
          <a:noFill/>
          <a:ln/>
        </p:spPr>
        <p:txBody>
          <a:bodyPr wrap="square" lIns="0" tIns="0" rIns="0" bIns="0" rtlCol="0" anchor="ctr"/>
          <a:lstStyle/>
          <a:p>
            <a:pPr algn="ctr" indent="0" marL="0">
              <a:buNone/>
            </a:pPr>
            <a:r>
              <a:rPr lang="en-US" sz="1600" b="1" dirty="0">
                <a:solidFill>
                  <a:srgbClr val="14B8A6"/>
                </a:solidFill>
                <a:latin typeface="Arial" pitchFamily="34" charset="0"/>
                <a:ea typeface="Arial" pitchFamily="34" charset="-122"/>
                <a:cs typeface="Arial" pitchFamily="34" charset="-120"/>
              </a:rPr>
              <a:t>Generate</a:t>
            </a:r>
            <a:endParaRPr lang="en-US" sz="1600" dirty="0"/>
          </a:p>
        </p:txBody>
      </p:sp>
      <p:sp>
        <p:nvSpPr>
          <p:cNvPr id="8" name="Text 6"/>
          <p:cNvSpPr/>
          <p:nvPr/>
        </p:nvSpPr>
        <p:spPr>
          <a:xfrm>
            <a:off x="868680" y="3017520"/>
            <a:ext cx="1554480" cy="822960"/>
          </a:xfrm>
          <a:prstGeom prst="rect">
            <a:avLst/>
          </a:prstGeom>
          <a:noFill/>
          <a:ln/>
        </p:spPr>
        <p:txBody>
          <a:bodyPr wrap="square" lIns="0" tIns="0" rIns="0" bIns="0" rtlCol="0" anchor="t"/>
          <a:lstStyle/>
          <a:p>
            <a:pPr algn="ctr" indent="0" marL="0">
              <a:buNone/>
            </a:pPr>
            <a:r>
              <a:rPr lang="en-US" sz="1100" dirty="0">
                <a:solidFill>
                  <a:srgbClr val="B4E4D9"/>
                </a:solidFill>
                <a:latin typeface="Calibri" pitchFamily="34" charset="0"/>
                <a:ea typeface="Calibri" pitchFamily="34" charset="-122"/>
                <a:cs typeface="Calibri" pitchFamily="34" charset="-120"/>
              </a:rPr>
              <a:t>AI writes cleaning script</a:t>
            </a:r>
            <a:endParaRPr lang="en-US" sz="1100" dirty="0"/>
          </a:p>
          <a:p>
            <a:pPr algn="ctr" indent="0" marL="0">
              <a:buNone/>
            </a:pPr>
            <a:r>
              <a:rPr lang="en-US" sz="1100" dirty="0">
                <a:solidFill>
                  <a:srgbClr val="B4E4D9"/>
                </a:solidFill>
                <a:latin typeface="Calibri" pitchFamily="34" charset="0"/>
                <a:ea typeface="Calibri" pitchFamily="34" charset="-122"/>
                <a:cs typeface="Calibri" pitchFamily="34" charset="-120"/>
              </a:rPr>
              <a:t>from specific prompt</a:t>
            </a:r>
            <a:endParaRPr lang="en-US" sz="1100" dirty="0"/>
          </a:p>
        </p:txBody>
      </p:sp>
      <p:sp>
        <p:nvSpPr>
          <p:cNvPr id="9" name="Shape 7"/>
          <p:cNvSpPr/>
          <p:nvPr/>
        </p:nvSpPr>
        <p:spPr>
          <a:xfrm>
            <a:off x="2834640" y="1828800"/>
            <a:ext cx="1828800" cy="2286000"/>
          </a:xfrm>
          <a:prstGeom prst="rect">
            <a:avLst/>
          </a:prstGeom>
          <a:solidFill>
            <a:srgbClr val="0F3D4A"/>
          </a:solidFill>
          <a:ln/>
          <a:effectLst>
            <a:outerShdw sx="100000" sy="100000" kx="0" ky="0" algn="bl" rotWithShape="0" blurRad="76200" dist="25400" dir="8100000">
              <a:srgbClr val="000000">
                <a:alpha val="20000"/>
              </a:srgbClr>
            </a:outerShdw>
          </a:effectLst>
        </p:spPr>
      </p:sp>
      <p:sp>
        <p:nvSpPr>
          <p:cNvPr id="10" name="Shape 8"/>
          <p:cNvSpPr/>
          <p:nvPr/>
        </p:nvSpPr>
        <p:spPr>
          <a:xfrm>
            <a:off x="3474720" y="1965960"/>
            <a:ext cx="502920" cy="502920"/>
          </a:xfrm>
          <a:prstGeom prst="oval">
            <a:avLst/>
          </a:prstGeom>
          <a:solidFill>
            <a:srgbClr val="F59E0B"/>
          </a:solidFill>
          <a:ln/>
        </p:spPr>
      </p:sp>
      <p:sp>
        <p:nvSpPr>
          <p:cNvPr id="11" name="Text 9"/>
          <p:cNvSpPr/>
          <p:nvPr/>
        </p:nvSpPr>
        <p:spPr>
          <a:xfrm>
            <a:off x="3474720" y="1965960"/>
            <a:ext cx="502920" cy="502920"/>
          </a:xfrm>
          <a:prstGeom prst="rect">
            <a:avLst/>
          </a:prstGeom>
          <a:noFill/>
          <a:ln/>
        </p:spPr>
        <p:txBody>
          <a:bodyPr wrap="square" lIns="0" tIns="0" rIns="0" bIns="0" rtlCol="0" anchor="ctr"/>
          <a:lstStyle/>
          <a:p>
            <a:pPr algn="ctr" indent="0" marL="0">
              <a:buNone/>
            </a:pPr>
            <a:r>
              <a:rPr lang="en-US" sz="1800" dirty="0">
                <a:solidFill>
                  <a:srgbClr val="081E25"/>
                </a:solidFill>
                <a:latin typeface="Arial Black" pitchFamily="34" charset="0"/>
                <a:ea typeface="Arial Black" pitchFamily="34" charset="-122"/>
                <a:cs typeface="Arial Black" pitchFamily="34" charset="-120"/>
              </a:rPr>
              <a:t>2</a:t>
            </a:r>
            <a:endParaRPr lang="en-US" sz="1800" dirty="0"/>
          </a:p>
        </p:txBody>
      </p:sp>
      <p:sp>
        <p:nvSpPr>
          <p:cNvPr id="12" name="Text 10"/>
          <p:cNvSpPr/>
          <p:nvPr/>
        </p:nvSpPr>
        <p:spPr>
          <a:xfrm>
            <a:off x="2971800" y="2606040"/>
            <a:ext cx="1554480" cy="365760"/>
          </a:xfrm>
          <a:prstGeom prst="rect">
            <a:avLst/>
          </a:prstGeom>
          <a:noFill/>
          <a:ln/>
        </p:spPr>
        <p:txBody>
          <a:bodyPr wrap="square" lIns="0" tIns="0" rIns="0" bIns="0" rtlCol="0" anchor="ctr"/>
          <a:lstStyle/>
          <a:p>
            <a:pPr algn="ctr" indent="0" marL="0">
              <a:buNone/>
            </a:pPr>
            <a:r>
              <a:rPr lang="en-US" sz="1600" b="1" dirty="0">
                <a:solidFill>
                  <a:srgbClr val="F59E0B"/>
                </a:solidFill>
                <a:latin typeface="Arial" pitchFamily="34" charset="0"/>
                <a:ea typeface="Arial" pitchFamily="34" charset="-122"/>
                <a:cs typeface="Arial" pitchFamily="34" charset="-120"/>
              </a:rPr>
              <a:t>Run</a:t>
            </a:r>
            <a:endParaRPr lang="en-US" sz="1600" dirty="0"/>
          </a:p>
        </p:txBody>
      </p:sp>
      <p:sp>
        <p:nvSpPr>
          <p:cNvPr id="13" name="Text 11"/>
          <p:cNvSpPr/>
          <p:nvPr/>
        </p:nvSpPr>
        <p:spPr>
          <a:xfrm>
            <a:off x="2971800" y="3017520"/>
            <a:ext cx="1554480" cy="822960"/>
          </a:xfrm>
          <a:prstGeom prst="rect">
            <a:avLst/>
          </a:prstGeom>
          <a:noFill/>
          <a:ln/>
        </p:spPr>
        <p:txBody>
          <a:bodyPr wrap="square" lIns="0" tIns="0" rIns="0" bIns="0" rtlCol="0" anchor="t"/>
          <a:lstStyle/>
          <a:p>
            <a:pPr algn="ctr" indent="0" marL="0">
              <a:buNone/>
            </a:pPr>
            <a:r>
              <a:rPr lang="en-US" sz="1100" dirty="0">
                <a:solidFill>
                  <a:srgbClr val="B4E4D9"/>
                </a:solidFill>
                <a:latin typeface="Calibri" pitchFamily="34" charset="0"/>
                <a:ea typeface="Calibri" pitchFamily="34" charset="-122"/>
                <a:cs typeface="Calibri" pitchFamily="34" charset="-120"/>
              </a:rPr>
              <a:t>Paste into Apps Script</a:t>
            </a:r>
            <a:endParaRPr lang="en-US" sz="1100" dirty="0"/>
          </a:p>
          <a:p>
            <a:pPr algn="ctr" indent="0" marL="0">
              <a:buNone/>
            </a:pPr>
            <a:r>
              <a:rPr lang="en-US" sz="1100" dirty="0">
                <a:solidFill>
                  <a:srgbClr val="B4E4D9"/>
                </a:solidFill>
                <a:latin typeface="Calibri" pitchFamily="34" charset="0"/>
                <a:ea typeface="Calibri" pitchFamily="34" charset="-122"/>
                <a:cs typeface="Calibri" pitchFamily="34" charset="-120"/>
              </a:rPr>
              <a:t>editor, execute on Sheet</a:t>
            </a:r>
            <a:endParaRPr lang="en-US" sz="1100" dirty="0"/>
          </a:p>
        </p:txBody>
      </p:sp>
      <p:sp>
        <p:nvSpPr>
          <p:cNvPr id="14" name="Shape 12"/>
          <p:cNvSpPr/>
          <p:nvPr/>
        </p:nvSpPr>
        <p:spPr>
          <a:xfrm>
            <a:off x="4937760" y="1828800"/>
            <a:ext cx="1828800" cy="2286000"/>
          </a:xfrm>
          <a:prstGeom prst="rect">
            <a:avLst/>
          </a:prstGeom>
          <a:solidFill>
            <a:srgbClr val="0F3D4A"/>
          </a:solidFill>
          <a:ln/>
          <a:effectLst>
            <a:outerShdw sx="100000" sy="100000" kx="0" ky="0" algn="bl" rotWithShape="0" blurRad="76200" dist="25400" dir="8100000">
              <a:srgbClr val="000000">
                <a:alpha val="20000"/>
              </a:srgbClr>
            </a:outerShdw>
          </a:effectLst>
        </p:spPr>
      </p:sp>
      <p:sp>
        <p:nvSpPr>
          <p:cNvPr id="15" name="Shape 13"/>
          <p:cNvSpPr/>
          <p:nvPr/>
        </p:nvSpPr>
        <p:spPr>
          <a:xfrm>
            <a:off x="5577840" y="1965960"/>
            <a:ext cx="502920" cy="502920"/>
          </a:xfrm>
          <a:prstGeom prst="oval">
            <a:avLst/>
          </a:prstGeom>
          <a:solidFill>
            <a:srgbClr val="EF4444"/>
          </a:solidFill>
          <a:ln/>
        </p:spPr>
      </p:sp>
      <p:sp>
        <p:nvSpPr>
          <p:cNvPr id="16" name="Text 14"/>
          <p:cNvSpPr/>
          <p:nvPr/>
        </p:nvSpPr>
        <p:spPr>
          <a:xfrm>
            <a:off x="5577840" y="1965960"/>
            <a:ext cx="502920" cy="502920"/>
          </a:xfrm>
          <a:prstGeom prst="rect">
            <a:avLst/>
          </a:prstGeom>
          <a:noFill/>
          <a:ln/>
        </p:spPr>
        <p:txBody>
          <a:bodyPr wrap="square" lIns="0" tIns="0" rIns="0" bIns="0" rtlCol="0" anchor="ctr"/>
          <a:lstStyle/>
          <a:p>
            <a:pPr algn="ctr" indent="0" marL="0">
              <a:buNone/>
            </a:pPr>
            <a:r>
              <a:rPr lang="en-US" sz="1800" dirty="0">
                <a:solidFill>
                  <a:srgbClr val="081E25"/>
                </a:solidFill>
                <a:latin typeface="Arial Black" pitchFamily="34" charset="0"/>
                <a:ea typeface="Arial Black" pitchFamily="34" charset="-122"/>
                <a:cs typeface="Arial Black" pitchFamily="34" charset="-120"/>
              </a:rPr>
              <a:t>3</a:t>
            </a:r>
            <a:endParaRPr lang="en-US" sz="1800" dirty="0"/>
          </a:p>
        </p:txBody>
      </p:sp>
      <p:sp>
        <p:nvSpPr>
          <p:cNvPr id="17" name="Text 15"/>
          <p:cNvSpPr/>
          <p:nvPr/>
        </p:nvSpPr>
        <p:spPr>
          <a:xfrm>
            <a:off x="5074920" y="2606040"/>
            <a:ext cx="1554480" cy="365760"/>
          </a:xfrm>
          <a:prstGeom prst="rect">
            <a:avLst/>
          </a:prstGeom>
          <a:noFill/>
          <a:ln/>
        </p:spPr>
        <p:txBody>
          <a:bodyPr wrap="square" lIns="0" tIns="0" rIns="0" bIns="0" rtlCol="0" anchor="ctr"/>
          <a:lstStyle/>
          <a:p>
            <a:pPr algn="ctr" indent="0" marL="0">
              <a:buNone/>
            </a:pPr>
            <a:r>
              <a:rPr lang="en-US" sz="1600" b="1" dirty="0">
                <a:solidFill>
                  <a:srgbClr val="EF4444"/>
                </a:solidFill>
                <a:latin typeface="Arial" pitchFamily="34" charset="0"/>
                <a:ea typeface="Arial" pitchFamily="34" charset="-122"/>
                <a:cs typeface="Arial" pitchFamily="34" charset="-120"/>
              </a:rPr>
              <a:t>Inspect</a:t>
            </a:r>
            <a:endParaRPr lang="en-US" sz="1600" dirty="0"/>
          </a:p>
        </p:txBody>
      </p:sp>
      <p:sp>
        <p:nvSpPr>
          <p:cNvPr id="18" name="Text 16"/>
          <p:cNvSpPr/>
          <p:nvPr/>
        </p:nvSpPr>
        <p:spPr>
          <a:xfrm>
            <a:off x="5074920" y="3017520"/>
            <a:ext cx="1554480" cy="822960"/>
          </a:xfrm>
          <a:prstGeom prst="rect">
            <a:avLst/>
          </a:prstGeom>
          <a:noFill/>
          <a:ln/>
        </p:spPr>
        <p:txBody>
          <a:bodyPr wrap="square" lIns="0" tIns="0" rIns="0" bIns="0" rtlCol="0" anchor="t"/>
          <a:lstStyle/>
          <a:p>
            <a:pPr algn="ctr" indent="0" marL="0">
              <a:buNone/>
            </a:pPr>
            <a:r>
              <a:rPr lang="en-US" sz="1100" dirty="0">
                <a:solidFill>
                  <a:srgbClr val="B4E4D9"/>
                </a:solidFill>
                <a:latin typeface="Calibri" pitchFamily="34" charset="0"/>
                <a:ea typeface="Calibri" pitchFamily="34" charset="-122"/>
                <a:cs typeface="Calibri" pitchFamily="34" charset="-120"/>
              </a:rPr>
              <a:t>'July 20th 2024' didn't</a:t>
            </a:r>
            <a:endParaRPr lang="en-US" sz="1100" dirty="0"/>
          </a:p>
          <a:p>
            <a:pPr algn="ctr" indent="0" marL="0">
              <a:buNone/>
            </a:pPr>
            <a:r>
              <a:rPr lang="en-US" sz="1100" dirty="0">
                <a:solidFill>
                  <a:srgbClr val="B4E4D9"/>
                </a:solidFill>
                <a:latin typeface="Calibri" pitchFamily="34" charset="0"/>
                <a:ea typeface="Calibri" pitchFamily="34" charset="-122"/>
                <a:cs typeface="Calibri" pitchFamily="34" charset="-120"/>
              </a:rPr>
              <a:t>parse — edge case missed</a:t>
            </a:r>
            <a:endParaRPr lang="en-US" sz="1100" dirty="0"/>
          </a:p>
        </p:txBody>
      </p:sp>
      <p:sp>
        <p:nvSpPr>
          <p:cNvPr id="19" name="Shape 17"/>
          <p:cNvSpPr/>
          <p:nvPr/>
        </p:nvSpPr>
        <p:spPr>
          <a:xfrm>
            <a:off x="7040880" y="1828800"/>
            <a:ext cx="1828800" cy="2286000"/>
          </a:xfrm>
          <a:prstGeom prst="rect">
            <a:avLst/>
          </a:prstGeom>
          <a:solidFill>
            <a:srgbClr val="0F3D4A"/>
          </a:solidFill>
          <a:ln/>
          <a:effectLst>
            <a:outerShdw sx="100000" sy="100000" kx="0" ky="0" algn="bl" rotWithShape="0" blurRad="76200" dist="25400" dir="8100000">
              <a:srgbClr val="000000">
                <a:alpha val="20000"/>
              </a:srgbClr>
            </a:outerShdw>
          </a:effectLst>
        </p:spPr>
      </p:sp>
      <p:sp>
        <p:nvSpPr>
          <p:cNvPr id="20" name="Shape 18"/>
          <p:cNvSpPr/>
          <p:nvPr/>
        </p:nvSpPr>
        <p:spPr>
          <a:xfrm>
            <a:off x="7680960" y="1965960"/>
            <a:ext cx="502920" cy="502920"/>
          </a:xfrm>
          <a:prstGeom prst="oval">
            <a:avLst/>
          </a:prstGeom>
          <a:solidFill>
            <a:srgbClr val="22C55E"/>
          </a:solidFill>
          <a:ln/>
        </p:spPr>
      </p:sp>
      <p:sp>
        <p:nvSpPr>
          <p:cNvPr id="21" name="Text 19"/>
          <p:cNvSpPr/>
          <p:nvPr/>
        </p:nvSpPr>
        <p:spPr>
          <a:xfrm>
            <a:off x="7680960" y="1965960"/>
            <a:ext cx="502920" cy="502920"/>
          </a:xfrm>
          <a:prstGeom prst="rect">
            <a:avLst/>
          </a:prstGeom>
          <a:noFill/>
          <a:ln/>
        </p:spPr>
        <p:txBody>
          <a:bodyPr wrap="square" lIns="0" tIns="0" rIns="0" bIns="0" rtlCol="0" anchor="ctr"/>
          <a:lstStyle/>
          <a:p>
            <a:pPr algn="ctr" indent="0" marL="0">
              <a:buNone/>
            </a:pPr>
            <a:r>
              <a:rPr lang="en-US" sz="1800" dirty="0">
                <a:solidFill>
                  <a:srgbClr val="081E25"/>
                </a:solidFill>
                <a:latin typeface="Arial Black" pitchFamily="34" charset="0"/>
                <a:ea typeface="Arial Black" pitchFamily="34" charset="-122"/>
                <a:cs typeface="Arial Black" pitchFamily="34" charset="-120"/>
              </a:rPr>
              <a:t>4</a:t>
            </a:r>
            <a:endParaRPr lang="en-US" sz="1800" dirty="0"/>
          </a:p>
        </p:txBody>
      </p:sp>
      <p:sp>
        <p:nvSpPr>
          <p:cNvPr id="22" name="Text 20"/>
          <p:cNvSpPr/>
          <p:nvPr/>
        </p:nvSpPr>
        <p:spPr>
          <a:xfrm>
            <a:off x="7178040" y="2606040"/>
            <a:ext cx="1554480" cy="365760"/>
          </a:xfrm>
          <a:prstGeom prst="rect">
            <a:avLst/>
          </a:prstGeom>
          <a:noFill/>
          <a:ln/>
        </p:spPr>
        <p:txBody>
          <a:bodyPr wrap="square" lIns="0" tIns="0" rIns="0" bIns="0" rtlCol="0" anchor="ctr"/>
          <a:lstStyle/>
          <a:p>
            <a:pPr algn="ctr" indent="0" marL="0">
              <a:buNone/>
            </a:pPr>
            <a:r>
              <a:rPr lang="en-US" sz="1600" b="1" dirty="0">
                <a:solidFill>
                  <a:srgbClr val="22C55E"/>
                </a:solidFill>
                <a:latin typeface="Arial" pitchFamily="34" charset="0"/>
                <a:ea typeface="Arial" pitchFamily="34" charset="-122"/>
                <a:cs typeface="Arial" pitchFamily="34" charset="-120"/>
              </a:rPr>
              <a:t>Fix</a:t>
            </a:r>
            <a:endParaRPr lang="en-US" sz="1600" dirty="0"/>
          </a:p>
        </p:txBody>
      </p:sp>
      <p:sp>
        <p:nvSpPr>
          <p:cNvPr id="23" name="Text 21"/>
          <p:cNvSpPr/>
          <p:nvPr/>
        </p:nvSpPr>
        <p:spPr>
          <a:xfrm>
            <a:off x="7178040" y="3017520"/>
            <a:ext cx="1554480" cy="822960"/>
          </a:xfrm>
          <a:prstGeom prst="rect">
            <a:avLst/>
          </a:prstGeom>
          <a:noFill/>
          <a:ln/>
        </p:spPr>
        <p:txBody>
          <a:bodyPr wrap="square" lIns="0" tIns="0" rIns="0" bIns="0" rtlCol="0" anchor="t"/>
          <a:lstStyle/>
          <a:p>
            <a:pPr algn="ctr" indent="0" marL="0">
              <a:buNone/>
            </a:pPr>
            <a:r>
              <a:rPr lang="en-US" sz="1100" dirty="0">
                <a:solidFill>
                  <a:srgbClr val="B4E4D9"/>
                </a:solidFill>
                <a:latin typeface="Calibri" pitchFamily="34" charset="0"/>
                <a:ea typeface="Calibri" pitchFamily="34" charset="-122"/>
                <a:cs typeface="Calibri" pitchFamily="34" charset="-120"/>
              </a:rPr>
              <a:t>Tell AI: "this date failed"</a:t>
            </a:r>
            <a:endParaRPr lang="en-US" sz="1100" dirty="0"/>
          </a:p>
          <a:p>
            <a:pPr algn="ctr" indent="0" marL="0">
              <a:buNone/>
            </a:pPr>
            <a:r>
              <a:rPr lang="en-US" sz="1100" dirty="0">
                <a:solidFill>
                  <a:srgbClr val="B4E4D9"/>
                </a:solidFill>
                <a:latin typeface="Calibri" pitchFamily="34" charset="0"/>
                <a:ea typeface="Calibri" pitchFamily="34" charset="-122"/>
                <a:cs typeface="Calibri" pitchFamily="34" charset="-120"/>
              </a:rPr>
              <a:t>→ fixed in 30 seconds</a:t>
            </a:r>
            <a:endParaRPr lang="en-US" sz="1100" dirty="0"/>
          </a:p>
        </p:txBody>
      </p:sp>
      <p:sp>
        <p:nvSpPr>
          <p:cNvPr id="24" name="Shape 22"/>
          <p:cNvSpPr/>
          <p:nvPr/>
        </p:nvSpPr>
        <p:spPr>
          <a:xfrm>
            <a:off x="731520" y="4297680"/>
            <a:ext cx="7680960" cy="502920"/>
          </a:xfrm>
          <a:prstGeom prst="rect">
            <a:avLst/>
          </a:prstGeom>
          <a:solidFill>
            <a:srgbClr val="0F3D4A"/>
          </a:solidFill>
          <a:ln/>
          <a:effectLst>
            <a:outerShdw sx="100000" sy="100000" kx="0" ky="0" algn="bl" rotWithShape="0" blurRad="76200" dist="25400" dir="8100000">
              <a:srgbClr val="000000">
                <a:alpha val="20000"/>
              </a:srgbClr>
            </a:outerShdw>
          </a:effectLst>
        </p:spPr>
      </p:sp>
      <p:sp>
        <p:nvSpPr>
          <p:cNvPr id="25" name="Shape 23"/>
          <p:cNvSpPr/>
          <p:nvPr/>
        </p:nvSpPr>
        <p:spPr>
          <a:xfrm>
            <a:off x="731520" y="4297680"/>
            <a:ext cx="54864" cy="502920"/>
          </a:xfrm>
          <a:prstGeom prst="rect">
            <a:avLst/>
          </a:prstGeom>
          <a:solidFill>
            <a:srgbClr val="F59E0B"/>
          </a:solidFill>
          <a:ln/>
        </p:spPr>
      </p:sp>
      <p:sp>
        <p:nvSpPr>
          <p:cNvPr id="26" name="Text 24"/>
          <p:cNvSpPr/>
          <p:nvPr/>
        </p:nvSpPr>
        <p:spPr>
          <a:xfrm>
            <a:off x="1051560" y="4297680"/>
            <a:ext cx="7132320" cy="502920"/>
          </a:xfrm>
          <a:prstGeom prst="rect">
            <a:avLst/>
          </a:prstGeom>
          <a:noFill/>
          <a:ln/>
        </p:spPr>
        <p:txBody>
          <a:bodyPr wrap="square" lIns="0" tIns="0" rIns="0" bIns="0"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Key insight: The error message IS the next prompt. AI fixes its own mistakes faster than you can.</a:t>
            </a:r>
            <a:endParaRPr lang="en-US" sz="1300" dirty="0"/>
          </a:p>
        </p:txBody>
      </p:sp>
      <p:sp>
        <p:nvSpPr>
          <p:cNvPr id="27" name="Shape 25"/>
          <p:cNvSpPr/>
          <p:nvPr/>
        </p:nvSpPr>
        <p:spPr>
          <a:xfrm>
            <a:off x="0" y="4800600"/>
            <a:ext cx="9144000" cy="342900"/>
          </a:xfrm>
          <a:prstGeom prst="rect">
            <a:avLst/>
          </a:prstGeom>
          <a:solidFill>
            <a:srgbClr val="14B8A6"/>
          </a:solidFill>
          <a:ln/>
        </p:spPr>
      </p:sp>
      <p:sp>
        <p:nvSpPr>
          <p:cNvPr id="28" name="Text 26"/>
          <p:cNvSpPr/>
          <p:nvPr/>
        </p:nvSpPr>
        <p:spPr>
          <a:xfrm>
            <a:off x="457200" y="4800600"/>
            <a:ext cx="8229600" cy="342900"/>
          </a:xfrm>
          <a:prstGeom prst="rect">
            <a:avLst/>
          </a:prstGeom>
          <a:noFill/>
          <a:ln/>
        </p:spPr>
        <p:txBody>
          <a:bodyPr wrap="square" lIns="0" tIns="0" rIns="0" bIns="0" rtlCol="0" anchor="ctr"/>
          <a:lstStyle/>
          <a:p>
            <a:pPr algn="l" indent="0" marL="0">
              <a:buNone/>
            </a:pPr>
            <a:r>
              <a:rPr lang="en-US" sz="900" b="1" dirty="0">
                <a:solidFill>
                  <a:srgbClr val="081E25"/>
                </a:solidFill>
                <a:latin typeface="Calibri" pitchFamily="34" charset="0"/>
                <a:ea typeface="Calibri" pitchFamily="34" charset="-122"/>
                <a:cs typeface="Calibri" pitchFamily="34" charset="-120"/>
              </a:rPr>
              <a:t>GOOGLE APPS SCRIPT: CSV DATA CLEANER</a:t>
            </a:r>
            <a:endParaRPr lang="en-US" sz="900" dirty="0"/>
          </a:p>
        </p:txBody>
      </p:sp>
      <p:sp>
        <p:nvSpPr>
          <p:cNvPr id="29" name="Text 27"/>
          <p:cNvSpPr/>
          <p:nvPr/>
        </p:nvSpPr>
        <p:spPr>
          <a:xfrm>
            <a:off x="8046720" y="4800600"/>
            <a:ext cx="914400" cy="342900"/>
          </a:xfrm>
          <a:prstGeom prst="rect">
            <a:avLst/>
          </a:prstGeom>
          <a:noFill/>
          <a:ln/>
        </p:spPr>
        <p:txBody>
          <a:bodyPr wrap="square" lIns="0" tIns="0" rIns="0" bIns="0" rtlCol="0" anchor="ctr"/>
          <a:lstStyle/>
          <a:p>
            <a:pPr algn="r" indent="0" marL="0">
              <a:buNone/>
            </a:pPr>
            <a:r>
              <a:rPr lang="en-US" sz="800" dirty="0">
                <a:solidFill>
                  <a:srgbClr val="081E25"/>
                </a:solidFill>
                <a:latin typeface="Calibri" pitchFamily="34" charset="0"/>
                <a:ea typeface="Calibri" pitchFamily="34" charset="-122"/>
                <a:cs typeface="Calibri" pitchFamily="34" charset="-120"/>
              </a:rPr>
              <a:t>10 / 31</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81E25"/>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F59E0B"/>
          </a:solidFill>
          <a:ln/>
        </p:spPr>
      </p:sp>
      <p:sp>
        <p:nvSpPr>
          <p:cNvPr id="3" name="Text 1"/>
          <p:cNvSpPr/>
          <p:nvPr/>
        </p:nvSpPr>
        <p:spPr>
          <a:xfrm>
            <a:off x="731520" y="914400"/>
            <a:ext cx="3657600" cy="365760"/>
          </a:xfrm>
          <a:prstGeom prst="rect">
            <a:avLst/>
          </a:prstGeom>
          <a:noFill/>
          <a:ln/>
        </p:spPr>
        <p:txBody>
          <a:bodyPr wrap="square" lIns="0" tIns="0" rIns="0" bIns="0" rtlCol="0" anchor="ctr"/>
          <a:lstStyle/>
          <a:p>
            <a:pPr indent="0" marL="0">
              <a:buNone/>
            </a:pPr>
            <a:r>
              <a:rPr lang="en-US" sz="1400" b="1" spc="400" kern="0" dirty="0">
                <a:solidFill>
                  <a:srgbClr val="F59E0B"/>
                </a:solidFill>
                <a:latin typeface="Arial" pitchFamily="34" charset="0"/>
                <a:ea typeface="Arial" pitchFamily="34" charset="-122"/>
                <a:cs typeface="Arial" pitchFamily="34" charset="-120"/>
              </a:rPr>
              <a:t>DEEP DIVE  #2</a:t>
            </a:r>
            <a:endParaRPr lang="en-US" sz="1400" dirty="0"/>
          </a:p>
        </p:txBody>
      </p:sp>
      <p:sp>
        <p:nvSpPr>
          <p:cNvPr id="4" name="Text 2"/>
          <p:cNvSpPr/>
          <p:nvPr/>
        </p:nvSpPr>
        <p:spPr>
          <a:xfrm>
            <a:off x="731520" y="1463040"/>
            <a:ext cx="7315200" cy="1463040"/>
          </a:xfrm>
          <a:prstGeom prst="rect">
            <a:avLst/>
          </a:prstGeom>
          <a:noFill/>
          <a:ln/>
        </p:spPr>
        <p:txBody>
          <a:bodyPr wrap="square" lIns="0" tIns="0" rIns="0" bIns="0" rtlCol="0" anchor="ctr"/>
          <a:lstStyle/>
          <a:p>
            <a:pPr indent="0" marL="0">
              <a:buNone/>
            </a:pPr>
            <a:r>
              <a:rPr lang="en-US" sz="4200" dirty="0">
                <a:solidFill>
                  <a:srgbClr val="F0FDFA"/>
                </a:solidFill>
                <a:latin typeface="Arial Black" pitchFamily="34" charset="0"/>
                <a:ea typeface="Arial Black" pitchFamily="34" charset="-122"/>
                <a:cs typeface="Arial Black" pitchFamily="34" charset="-120"/>
              </a:rPr>
              <a:t>R&amp;D Tax Credit</a:t>
            </a:r>
            <a:endParaRPr lang="en-US" sz="4200" dirty="0"/>
          </a:p>
          <a:p>
            <a:pPr indent="0" marL="0">
              <a:buNone/>
            </a:pPr>
            <a:r>
              <a:rPr lang="en-US" sz="4200" dirty="0">
                <a:solidFill>
                  <a:srgbClr val="F0FDFA"/>
                </a:solidFill>
                <a:latin typeface="Arial Black" pitchFamily="34" charset="0"/>
                <a:ea typeface="Arial Black" pitchFamily="34" charset="-122"/>
                <a:cs typeface="Arial Black" pitchFamily="34" charset="-120"/>
              </a:rPr>
              <a:t>Analysis</a:t>
            </a:r>
            <a:endParaRPr lang="en-US" sz="4200" dirty="0"/>
          </a:p>
        </p:txBody>
      </p:sp>
      <p:sp>
        <p:nvSpPr>
          <p:cNvPr id="5" name="Text 3"/>
          <p:cNvSpPr/>
          <p:nvPr/>
        </p:nvSpPr>
        <p:spPr>
          <a:xfrm>
            <a:off x="731520" y="3108960"/>
            <a:ext cx="7315200" cy="457200"/>
          </a:xfrm>
          <a:prstGeom prst="rect">
            <a:avLst/>
          </a:prstGeom>
          <a:noFill/>
          <a:ln/>
        </p:spPr>
        <p:txBody>
          <a:bodyPr wrap="square" lIns="0" tIns="0" rIns="0" bIns="0" rtlCol="0" anchor="ctr"/>
          <a:lstStyle/>
          <a:p>
            <a:pPr indent="0" marL="0">
              <a:buNone/>
            </a:pPr>
            <a:r>
              <a:rPr lang="en-US" sz="1800" i="1" dirty="0">
                <a:solidFill>
                  <a:srgbClr val="5EEAD4"/>
                </a:solidFill>
                <a:latin typeface="Georgia" pitchFamily="34" charset="0"/>
                <a:ea typeface="Georgia" pitchFamily="34" charset="-122"/>
                <a:cs typeface="Georgia" pitchFamily="34" charset="-120"/>
              </a:rPr>
              <a:t>"I taught AI to evaluate IRS tax law."</a:t>
            </a:r>
            <a:endParaRPr lang="en-US" sz="1800" dirty="0"/>
          </a:p>
        </p:txBody>
      </p:sp>
      <p:pic>
        <p:nvPicPr>
          <p:cNvPr id="6" name="Image 0" descr="preencoded.png">    </p:cNvPr>
          <p:cNvPicPr>
            <a:picLocks noChangeAspect="1"/>
          </p:cNvPicPr>
          <p:nvPr/>
        </p:nvPicPr>
        <p:blipFill>
          <a:blip r:embed="rId1"/>
          <a:stretch>
            <a:fillRect/>
          </a:stretch>
        </p:blipFill>
        <p:spPr>
          <a:xfrm>
            <a:off x="7498080" y="1645920"/>
            <a:ext cx="914400" cy="914400"/>
          </a:xfrm>
          <a:prstGeom prst="rect">
            <a:avLst/>
          </a:prstGeom>
        </p:spPr>
      </p:pic>
      <p:sp>
        <p:nvSpPr>
          <p:cNvPr id="7" name="Shape 4"/>
          <p:cNvSpPr/>
          <p:nvPr/>
        </p:nvSpPr>
        <p:spPr>
          <a:xfrm>
            <a:off x="731520" y="3840480"/>
            <a:ext cx="4572000" cy="502920"/>
          </a:xfrm>
          <a:prstGeom prst="rect">
            <a:avLst/>
          </a:prstGeom>
          <a:solidFill>
            <a:srgbClr val="0F3D4A"/>
          </a:solidFill>
          <a:ln/>
          <a:effectLst>
            <a:outerShdw sx="100000" sy="100000" kx="0" ky="0" algn="bl" rotWithShape="0" blurRad="76200" dist="25400" dir="8100000">
              <a:srgbClr val="000000">
                <a:alpha val="20000"/>
              </a:srgbClr>
            </a:outerShdw>
          </a:effectLst>
        </p:spPr>
      </p:sp>
      <p:sp>
        <p:nvSpPr>
          <p:cNvPr id="8" name="Shape 5"/>
          <p:cNvSpPr/>
          <p:nvPr/>
        </p:nvSpPr>
        <p:spPr>
          <a:xfrm>
            <a:off x="731520" y="3840480"/>
            <a:ext cx="54864" cy="502920"/>
          </a:xfrm>
          <a:prstGeom prst="rect">
            <a:avLst/>
          </a:prstGeom>
          <a:solidFill>
            <a:srgbClr val="F59E0B"/>
          </a:solidFill>
          <a:ln/>
        </p:spPr>
      </p:sp>
      <p:sp>
        <p:nvSpPr>
          <p:cNvPr id="9" name="Text 6"/>
          <p:cNvSpPr/>
          <p:nvPr/>
        </p:nvSpPr>
        <p:spPr>
          <a:xfrm>
            <a:off x="1005840" y="3840480"/>
            <a:ext cx="4114800" cy="502920"/>
          </a:xfrm>
          <a:prstGeom prst="rect">
            <a:avLst/>
          </a:prstGeom>
          <a:noFill/>
          <a:ln/>
        </p:spPr>
        <p:txBody>
          <a:bodyPr wrap="square" lIns="0" tIns="0" rIns="0" bIns="0"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Pattern: Research → Evaluate → Decide</a:t>
            </a:r>
            <a:endParaRPr lang="en-US" sz="1300" dirty="0"/>
          </a:p>
        </p:txBody>
      </p:sp>
      <p:sp>
        <p:nvSpPr>
          <p:cNvPr id="10" name="Shape 7"/>
          <p:cNvSpPr/>
          <p:nvPr/>
        </p:nvSpPr>
        <p:spPr>
          <a:xfrm>
            <a:off x="0" y="4800600"/>
            <a:ext cx="9144000" cy="342900"/>
          </a:xfrm>
          <a:prstGeom prst="rect">
            <a:avLst/>
          </a:prstGeom>
          <a:solidFill>
            <a:srgbClr val="14B8A6"/>
          </a:solidFill>
          <a:ln/>
        </p:spPr>
      </p:sp>
      <p:sp>
        <p:nvSpPr>
          <p:cNvPr id="11" name="Text 8"/>
          <p:cNvSpPr/>
          <p:nvPr/>
        </p:nvSpPr>
        <p:spPr>
          <a:xfrm>
            <a:off x="457200" y="4800600"/>
            <a:ext cx="8229600" cy="342900"/>
          </a:xfrm>
          <a:prstGeom prst="rect">
            <a:avLst/>
          </a:prstGeom>
          <a:noFill/>
          <a:ln/>
        </p:spPr>
        <p:txBody>
          <a:bodyPr wrap="square" lIns="0" tIns="0" rIns="0" bIns="0" rtlCol="0" anchor="ctr"/>
          <a:lstStyle/>
          <a:p>
            <a:pPr algn="l" indent="0" marL="0">
              <a:buNone/>
            </a:pPr>
            <a:r>
              <a:rPr lang="en-US" sz="900" b="1" dirty="0">
                <a:solidFill>
                  <a:srgbClr val="081E25"/>
                </a:solidFill>
                <a:latin typeface="Calibri" pitchFamily="34" charset="0"/>
                <a:ea typeface="Calibri" pitchFamily="34" charset="-122"/>
                <a:cs typeface="Calibri" pitchFamily="34" charset="-120"/>
              </a:rPr>
              <a:t>R&amp;D TAX CREDIT ANALYSIS</a:t>
            </a:r>
            <a:endParaRPr lang="en-US" sz="900" dirty="0"/>
          </a:p>
        </p:txBody>
      </p:sp>
      <p:sp>
        <p:nvSpPr>
          <p:cNvPr id="12" name="Text 9"/>
          <p:cNvSpPr/>
          <p:nvPr/>
        </p:nvSpPr>
        <p:spPr>
          <a:xfrm>
            <a:off x="8046720" y="4800600"/>
            <a:ext cx="914400" cy="342900"/>
          </a:xfrm>
          <a:prstGeom prst="rect">
            <a:avLst/>
          </a:prstGeom>
          <a:noFill/>
          <a:ln/>
        </p:spPr>
        <p:txBody>
          <a:bodyPr wrap="square" lIns="0" tIns="0" rIns="0" bIns="0" rtlCol="0" anchor="ctr"/>
          <a:lstStyle/>
          <a:p>
            <a:pPr algn="r" indent="0" marL="0">
              <a:buNone/>
            </a:pPr>
            <a:r>
              <a:rPr lang="en-US" sz="800" dirty="0">
                <a:solidFill>
                  <a:srgbClr val="081E25"/>
                </a:solidFill>
                <a:latin typeface="Calibri" pitchFamily="34" charset="0"/>
                <a:ea typeface="Calibri" pitchFamily="34" charset="-122"/>
                <a:cs typeface="Calibri" pitchFamily="34" charset="-120"/>
              </a:rPr>
              <a:t>11 / 31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2E38"/>
        </a:solidFill>
      </p:bgPr>
    </p:bg>
    <p:spTree>
      <p:nvGrpSpPr>
        <p:cNvPr id="1" name=""/>
        <p:cNvGrpSpPr/>
        <p:nvPr/>
      </p:nvGrpSpPr>
      <p:grpSpPr>
        <a:xfrm>
          <a:off x="0" y="0"/>
          <a:ext cx="0" cy="0"/>
          <a:chOff x="0" y="0"/>
          <a:chExt cx="0" cy="0"/>
        </a:xfrm>
      </p:grpSpPr>
      <p:sp>
        <p:nvSpPr>
          <p:cNvPr id="2" name="Text 0"/>
          <p:cNvSpPr/>
          <p:nvPr/>
        </p:nvSpPr>
        <p:spPr>
          <a:xfrm>
            <a:off x="731520" y="365760"/>
            <a:ext cx="5486400" cy="365760"/>
          </a:xfrm>
          <a:prstGeom prst="rect">
            <a:avLst/>
          </a:prstGeom>
          <a:noFill/>
          <a:ln/>
        </p:spPr>
        <p:txBody>
          <a:bodyPr wrap="square" lIns="0" tIns="0" rIns="0" bIns="0" rtlCol="0" anchor="ctr"/>
          <a:lstStyle/>
          <a:p>
            <a:pPr indent="0" marL="0">
              <a:buNone/>
            </a:pPr>
            <a:r>
              <a:rPr lang="en-US" sz="1400" b="1" spc="300" kern="0" dirty="0">
                <a:solidFill>
                  <a:srgbClr val="F59E0B"/>
                </a:solidFill>
                <a:latin typeface="Arial" pitchFamily="34" charset="0"/>
                <a:ea typeface="Arial" pitchFamily="34" charset="-122"/>
                <a:cs typeface="Arial" pitchFamily="34" charset="-120"/>
              </a:rPr>
              <a:t>THE IRS 4-PART TEST</a:t>
            </a:r>
            <a:endParaRPr lang="en-US" sz="1400" dirty="0"/>
          </a:p>
        </p:txBody>
      </p:sp>
      <p:sp>
        <p:nvSpPr>
          <p:cNvPr id="3" name="Text 1"/>
          <p:cNvSpPr/>
          <p:nvPr/>
        </p:nvSpPr>
        <p:spPr>
          <a:xfrm>
            <a:off x="731520" y="822960"/>
            <a:ext cx="7315200" cy="365760"/>
          </a:xfrm>
          <a:prstGeom prst="rect">
            <a:avLst/>
          </a:prstGeom>
          <a:noFill/>
          <a:ln/>
        </p:spPr>
        <p:txBody>
          <a:bodyPr wrap="square" lIns="0" tIns="0" rIns="0" bIns="0" rtlCol="0" anchor="ctr"/>
          <a:lstStyle/>
          <a:p>
            <a:pPr indent="0" marL="0">
              <a:buNone/>
            </a:pPr>
            <a:r>
              <a:rPr lang="en-US" sz="1600" i="1" dirty="0">
                <a:solidFill>
                  <a:srgbClr val="94A3B8"/>
                </a:solidFill>
                <a:latin typeface="Calibri" pitchFamily="34" charset="0"/>
                <a:ea typeface="Calibri" pitchFamily="34" charset="-122"/>
                <a:cs typeface="Calibri" pitchFamily="34" charset="-120"/>
              </a:rPr>
              <a:t>Think of it like unit test assertions for tax eligibility</a:t>
            </a:r>
            <a:endParaRPr lang="en-US" sz="1600" dirty="0"/>
          </a:p>
        </p:txBody>
      </p:sp>
      <p:sp>
        <p:nvSpPr>
          <p:cNvPr id="4" name="Shape 2"/>
          <p:cNvSpPr/>
          <p:nvPr/>
        </p:nvSpPr>
        <p:spPr>
          <a:xfrm>
            <a:off x="731520" y="1371600"/>
            <a:ext cx="7680960" cy="594360"/>
          </a:xfrm>
          <a:prstGeom prst="rect">
            <a:avLst/>
          </a:prstGeom>
          <a:solidFill>
            <a:srgbClr val="0F3D4A"/>
          </a:solidFill>
          <a:ln/>
          <a:effectLst>
            <a:outerShdw sx="100000" sy="100000" kx="0" ky="0" algn="bl" rotWithShape="0" blurRad="76200" dist="25400" dir="8100000">
              <a:srgbClr val="000000">
                <a:alpha val="20000"/>
              </a:srgbClr>
            </a:outerShdw>
          </a:effectLst>
        </p:spPr>
      </p:sp>
      <p:sp>
        <p:nvSpPr>
          <p:cNvPr id="5" name="Shape 3"/>
          <p:cNvSpPr/>
          <p:nvPr/>
        </p:nvSpPr>
        <p:spPr>
          <a:xfrm>
            <a:off x="731520" y="1371600"/>
            <a:ext cx="594360" cy="594360"/>
          </a:xfrm>
          <a:prstGeom prst="rect">
            <a:avLst/>
          </a:prstGeom>
          <a:solidFill>
            <a:srgbClr val="F59E0B"/>
          </a:solidFill>
          <a:ln/>
        </p:spPr>
      </p:sp>
      <p:sp>
        <p:nvSpPr>
          <p:cNvPr id="6" name="Text 4"/>
          <p:cNvSpPr/>
          <p:nvPr/>
        </p:nvSpPr>
        <p:spPr>
          <a:xfrm>
            <a:off x="731520" y="1371600"/>
            <a:ext cx="594360" cy="594360"/>
          </a:xfrm>
          <a:prstGeom prst="rect">
            <a:avLst/>
          </a:prstGeom>
          <a:noFill/>
          <a:ln/>
        </p:spPr>
        <p:txBody>
          <a:bodyPr wrap="square" lIns="0" tIns="0" rIns="0" bIns="0" rtlCol="0" anchor="ctr"/>
          <a:lstStyle/>
          <a:p>
            <a:pPr algn="ctr" indent="0" marL="0">
              <a:buNone/>
            </a:pPr>
            <a:r>
              <a:rPr lang="en-US" sz="2000" dirty="0">
                <a:solidFill>
                  <a:srgbClr val="081E25"/>
                </a:solidFill>
                <a:latin typeface="Arial Black" pitchFamily="34" charset="0"/>
                <a:ea typeface="Arial Black" pitchFamily="34" charset="-122"/>
                <a:cs typeface="Arial Black" pitchFamily="34" charset="-120"/>
              </a:rPr>
              <a:t>1</a:t>
            </a:r>
            <a:endParaRPr lang="en-US" sz="2000" dirty="0"/>
          </a:p>
        </p:txBody>
      </p:sp>
      <p:sp>
        <p:nvSpPr>
          <p:cNvPr id="7" name="Text 5"/>
          <p:cNvSpPr/>
          <p:nvPr/>
        </p:nvSpPr>
        <p:spPr>
          <a:xfrm>
            <a:off x="1508760" y="1371600"/>
            <a:ext cx="2743200" cy="594360"/>
          </a:xfrm>
          <a:prstGeom prst="rect">
            <a:avLst/>
          </a:prstGeom>
          <a:noFill/>
          <a:ln/>
        </p:spPr>
        <p:txBody>
          <a:bodyPr wrap="square" lIns="0" tIns="0" rIns="0" bIns="0" rtlCol="0" anchor="ctr"/>
          <a:lstStyle/>
          <a:p>
            <a:pPr indent="0" marL="0">
              <a:buNone/>
            </a:pPr>
            <a:r>
              <a:rPr lang="en-US" sz="1400" b="1" dirty="0">
                <a:solidFill>
                  <a:srgbClr val="F0FDFA"/>
                </a:solidFill>
                <a:latin typeface="Arial" pitchFamily="34" charset="0"/>
                <a:ea typeface="Arial" pitchFamily="34" charset="-122"/>
                <a:cs typeface="Arial" pitchFamily="34" charset="-120"/>
              </a:rPr>
              <a:t>Permitted Purpose</a:t>
            </a:r>
            <a:endParaRPr lang="en-US" sz="1400" dirty="0"/>
          </a:p>
        </p:txBody>
      </p:sp>
      <p:sp>
        <p:nvSpPr>
          <p:cNvPr id="8" name="Text 6"/>
          <p:cNvSpPr/>
          <p:nvPr/>
        </p:nvSpPr>
        <p:spPr>
          <a:xfrm>
            <a:off x="4251960" y="1371600"/>
            <a:ext cx="3931920" cy="594360"/>
          </a:xfrm>
          <a:prstGeom prst="rect">
            <a:avLst/>
          </a:prstGeom>
          <a:noFill/>
          <a:ln/>
        </p:spPr>
        <p:txBody>
          <a:bodyPr wrap="square" lIns="0" tIns="0" rIns="0" bIns="0" rtlCol="0" anchor="ctr"/>
          <a:lstStyle/>
          <a:p>
            <a:pPr indent="0" marL="0">
              <a:buNone/>
            </a:pPr>
            <a:r>
              <a:rPr lang="en-US" sz="1100" dirty="0">
                <a:solidFill>
                  <a:srgbClr val="B4E4D9"/>
                </a:solidFill>
                <a:latin typeface="Calibri" pitchFamily="34" charset="0"/>
                <a:ea typeface="Calibri" pitchFamily="34" charset="-122"/>
                <a:cs typeface="Calibri" pitchFamily="34" charset="-120"/>
              </a:rPr>
              <a:t>New or improved function, performance, reliability, or quality</a:t>
            </a:r>
            <a:endParaRPr lang="en-US" sz="1100" dirty="0"/>
          </a:p>
        </p:txBody>
      </p:sp>
      <p:sp>
        <p:nvSpPr>
          <p:cNvPr id="9" name="Shape 7"/>
          <p:cNvSpPr/>
          <p:nvPr/>
        </p:nvSpPr>
        <p:spPr>
          <a:xfrm>
            <a:off x="731520" y="2103120"/>
            <a:ext cx="7680960" cy="594360"/>
          </a:xfrm>
          <a:prstGeom prst="rect">
            <a:avLst/>
          </a:prstGeom>
          <a:solidFill>
            <a:srgbClr val="0F3D4A"/>
          </a:solidFill>
          <a:ln/>
          <a:effectLst>
            <a:outerShdw sx="100000" sy="100000" kx="0" ky="0" algn="bl" rotWithShape="0" blurRad="76200" dist="25400" dir="8100000">
              <a:srgbClr val="000000">
                <a:alpha val="20000"/>
              </a:srgbClr>
            </a:outerShdw>
          </a:effectLst>
        </p:spPr>
      </p:sp>
      <p:sp>
        <p:nvSpPr>
          <p:cNvPr id="10" name="Shape 8"/>
          <p:cNvSpPr/>
          <p:nvPr/>
        </p:nvSpPr>
        <p:spPr>
          <a:xfrm>
            <a:off x="731520" y="2103120"/>
            <a:ext cx="594360" cy="594360"/>
          </a:xfrm>
          <a:prstGeom prst="rect">
            <a:avLst/>
          </a:prstGeom>
          <a:solidFill>
            <a:srgbClr val="F59E0B"/>
          </a:solidFill>
          <a:ln/>
        </p:spPr>
      </p:sp>
      <p:sp>
        <p:nvSpPr>
          <p:cNvPr id="11" name="Text 9"/>
          <p:cNvSpPr/>
          <p:nvPr/>
        </p:nvSpPr>
        <p:spPr>
          <a:xfrm>
            <a:off x="731520" y="2103120"/>
            <a:ext cx="594360" cy="594360"/>
          </a:xfrm>
          <a:prstGeom prst="rect">
            <a:avLst/>
          </a:prstGeom>
          <a:noFill/>
          <a:ln/>
        </p:spPr>
        <p:txBody>
          <a:bodyPr wrap="square" lIns="0" tIns="0" rIns="0" bIns="0" rtlCol="0" anchor="ctr"/>
          <a:lstStyle/>
          <a:p>
            <a:pPr algn="ctr" indent="0" marL="0">
              <a:buNone/>
            </a:pPr>
            <a:r>
              <a:rPr lang="en-US" sz="2000" dirty="0">
                <a:solidFill>
                  <a:srgbClr val="081E25"/>
                </a:solidFill>
                <a:latin typeface="Arial Black" pitchFamily="34" charset="0"/>
                <a:ea typeface="Arial Black" pitchFamily="34" charset="-122"/>
                <a:cs typeface="Arial Black" pitchFamily="34" charset="-120"/>
              </a:rPr>
              <a:t>2</a:t>
            </a:r>
            <a:endParaRPr lang="en-US" sz="2000" dirty="0"/>
          </a:p>
        </p:txBody>
      </p:sp>
      <p:sp>
        <p:nvSpPr>
          <p:cNvPr id="12" name="Text 10"/>
          <p:cNvSpPr/>
          <p:nvPr/>
        </p:nvSpPr>
        <p:spPr>
          <a:xfrm>
            <a:off x="1508760" y="2103120"/>
            <a:ext cx="2743200" cy="594360"/>
          </a:xfrm>
          <a:prstGeom prst="rect">
            <a:avLst/>
          </a:prstGeom>
          <a:noFill/>
          <a:ln/>
        </p:spPr>
        <p:txBody>
          <a:bodyPr wrap="square" lIns="0" tIns="0" rIns="0" bIns="0" rtlCol="0" anchor="ctr"/>
          <a:lstStyle/>
          <a:p>
            <a:pPr indent="0" marL="0">
              <a:buNone/>
            </a:pPr>
            <a:r>
              <a:rPr lang="en-US" sz="1400" b="1" dirty="0">
                <a:solidFill>
                  <a:srgbClr val="F0FDFA"/>
                </a:solidFill>
                <a:latin typeface="Arial" pitchFamily="34" charset="0"/>
                <a:ea typeface="Arial" pitchFamily="34" charset="-122"/>
                <a:cs typeface="Arial" pitchFamily="34" charset="-120"/>
              </a:rPr>
              <a:t>Technological Uncertainty</a:t>
            </a:r>
            <a:endParaRPr lang="en-US" sz="1400" dirty="0"/>
          </a:p>
        </p:txBody>
      </p:sp>
      <p:sp>
        <p:nvSpPr>
          <p:cNvPr id="13" name="Text 11"/>
          <p:cNvSpPr/>
          <p:nvPr/>
        </p:nvSpPr>
        <p:spPr>
          <a:xfrm>
            <a:off x="4251960" y="2103120"/>
            <a:ext cx="3931920" cy="594360"/>
          </a:xfrm>
          <a:prstGeom prst="rect">
            <a:avLst/>
          </a:prstGeom>
          <a:noFill/>
          <a:ln/>
        </p:spPr>
        <p:txBody>
          <a:bodyPr wrap="square" lIns="0" tIns="0" rIns="0" bIns="0" rtlCol="0" anchor="ctr"/>
          <a:lstStyle/>
          <a:p>
            <a:pPr indent="0" marL="0">
              <a:buNone/>
            </a:pPr>
            <a:r>
              <a:rPr lang="en-US" sz="1100" dirty="0">
                <a:solidFill>
                  <a:srgbClr val="B4E4D9"/>
                </a:solidFill>
                <a:latin typeface="Calibri" pitchFamily="34" charset="0"/>
                <a:ea typeface="Calibri" pitchFamily="34" charset="-122"/>
                <a:cs typeface="Calibri" pitchFamily="34" charset="-120"/>
              </a:rPr>
              <a:t>Developer didn't know the method, design, or capability upfront</a:t>
            </a:r>
            <a:endParaRPr lang="en-US" sz="1100" dirty="0"/>
          </a:p>
        </p:txBody>
      </p:sp>
      <p:sp>
        <p:nvSpPr>
          <p:cNvPr id="14" name="Shape 12"/>
          <p:cNvSpPr/>
          <p:nvPr/>
        </p:nvSpPr>
        <p:spPr>
          <a:xfrm>
            <a:off x="731520" y="2834640"/>
            <a:ext cx="7680960" cy="594360"/>
          </a:xfrm>
          <a:prstGeom prst="rect">
            <a:avLst/>
          </a:prstGeom>
          <a:solidFill>
            <a:srgbClr val="0F3D4A"/>
          </a:solidFill>
          <a:ln/>
          <a:effectLst>
            <a:outerShdw sx="100000" sy="100000" kx="0" ky="0" algn="bl" rotWithShape="0" blurRad="76200" dist="25400" dir="8100000">
              <a:srgbClr val="000000">
                <a:alpha val="20000"/>
              </a:srgbClr>
            </a:outerShdw>
          </a:effectLst>
        </p:spPr>
      </p:sp>
      <p:sp>
        <p:nvSpPr>
          <p:cNvPr id="15" name="Shape 13"/>
          <p:cNvSpPr/>
          <p:nvPr/>
        </p:nvSpPr>
        <p:spPr>
          <a:xfrm>
            <a:off x="731520" y="2834640"/>
            <a:ext cx="594360" cy="594360"/>
          </a:xfrm>
          <a:prstGeom prst="rect">
            <a:avLst/>
          </a:prstGeom>
          <a:solidFill>
            <a:srgbClr val="F59E0B"/>
          </a:solidFill>
          <a:ln/>
        </p:spPr>
      </p:sp>
      <p:sp>
        <p:nvSpPr>
          <p:cNvPr id="16" name="Text 14"/>
          <p:cNvSpPr/>
          <p:nvPr/>
        </p:nvSpPr>
        <p:spPr>
          <a:xfrm>
            <a:off x="731520" y="2834640"/>
            <a:ext cx="594360" cy="594360"/>
          </a:xfrm>
          <a:prstGeom prst="rect">
            <a:avLst/>
          </a:prstGeom>
          <a:noFill/>
          <a:ln/>
        </p:spPr>
        <p:txBody>
          <a:bodyPr wrap="square" lIns="0" tIns="0" rIns="0" bIns="0" rtlCol="0" anchor="ctr"/>
          <a:lstStyle/>
          <a:p>
            <a:pPr algn="ctr" indent="0" marL="0">
              <a:buNone/>
            </a:pPr>
            <a:r>
              <a:rPr lang="en-US" sz="2000" dirty="0">
                <a:solidFill>
                  <a:srgbClr val="081E25"/>
                </a:solidFill>
                <a:latin typeface="Arial Black" pitchFamily="34" charset="0"/>
                <a:ea typeface="Arial Black" pitchFamily="34" charset="-122"/>
                <a:cs typeface="Arial Black" pitchFamily="34" charset="-120"/>
              </a:rPr>
              <a:t>3</a:t>
            </a:r>
            <a:endParaRPr lang="en-US" sz="2000" dirty="0"/>
          </a:p>
        </p:txBody>
      </p:sp>
      <p:sp>
        <p:nvSpPr>
          <p:cNvPr id="17" name="Text 15"/>
          <p:cNvSpPr/>
          <p:nvPr/>
        </p:nvSpPr>
        <p:spPr>
          <a:xfrm>
            <a:off x="1508760" y="2834640"/>
            <a:ext cx="2743200" cy="594360"/>
          </a:xfrm>
          <a:prstGeom prst="rect">
            <a:avLst/>
          </a:prstGeom>
          <a:noFill/>
          <a:ln/>
        </p:spPr>
        <p:txBody>
          <a:bodyPr wrap="square" lIns="0" tIns="0" rIns="0" bIns="0" rtlCol="0" anchor="ctr"/>
          <a:lstStyle/>
          <a:p>
            <a:pPr indent="0" marL="0">
              <a:buNone/>
            </a:pPr>
            <a:r>
              <a:rPr lang="en-US" sz="1400" b="1" dirty="0">
                <a:solidFill>
                  <a:srgbClr val="F0FDFA"/>
                </a:solidFill>
                <a:latin typeface="Arial" pitchFamily="34" charset="0"/>
                <a:ea typeface="Arial" pitchFamily="34" charset="-122"/>
                <a:cs typeface="Arial" pitchFamily="34" charset="-120"/>
              </a:rPr>
              <a:t>Process of Experimentation</a:t>
            </a:r>
            <a:endParaRPr lang="en-US" sz="1400" dirty="0"/>
          </a:p>
        </p:txBody>
      </p:sp>
      <p:sp>
        <p:nvSpPr>
          <p:cNvPr id="18" name="Text 16"/>
          <p:cNvSpPr/>
          <p:nvPr/>
        </p:nvSpPr>
        <p:spPr>
          <a:xfrm>
            <a:off x="4251960" y="2834640"/>
            <a:ext cx="3931920" cy="594360"/>
          </a:xfrm>
          <a:prstGeom prst="rect">
            <a:avLst/>
          </a:prstGeom>
          <a:noFill/>
          <a:ln/>
        </p:spPr>
        <p:txBody>
          <a:bodyPr wrap="square" lIns="0" tIns="0" rIns="0" bIns="0" rtlCol="0" anchor="ctr"/>
          <a:lstStyle/>
          <a:p>
            <a:pPr indent="0" marL="0">
              <a:buNone/>
            </a:pPr>
            <a:r>
              <a:rPr lang="en-US" sz="1100" dirty="0">
                <a:solidFill>
                  <a:srgbClr val="B4E4D9"/>
                </a:solidFill>
                <a:latin typeface="Calibri" pitchFamily="34" charset="0"/>
                <a:ea typeface="Calibri" pitchFamily="34" charset="-122"/>
                <a:cs typeface="Calibri" pitchFamily="34" charset="-120"/>
              </a:rPr>
              <a:t>Systematic trial-and-error, testing alternatives, modeling</a:t>
            </a:r>
            <a:endParaRPr lang="en-US" sz="1100" dirty="0"/>
          </a:p>
        </p:txBody>
      </p:sp>
      <p:sp>
        <p:nvSpPr>
          <p:cNvPr id="19" name="Shape 17"/>
          <p:cNvSpPr/>
          <p:nvPr/>
        </p:nvSpPr>
        <p:spPr>
          <a:xfrm>
            <a:off x="731520" y="3566160"/>
            <a:ext cx="7680960" cy="594360"/>
          </a:xfrm>
          <a:prstGeom prst="rect">
            <a:avLst/>
          </a:prstGeom>
          <a:solidFill>
            <a:srgbClr val="0F3D4A"/>
          </a:solidFill>
          <a:ln/>
          <a:effectLst>
            <a:outerShdw sx="100000" sy="100000" kx="0" ky="0" algn="bl" rotWithShape="0" blurRad="76200" dist="25400" dir="8100000">
              <a:srgbClr val="000000">
                <a:alpha val="20000"/>
              </a:srgbClr>
            </a:outerShdw>
          </a:effectLst>
        </p:spPr>
      </p:sp>
      <p:sp>
        <p:nvSpPr>
          <p:cNvPr id="20" name="Shape 18"/>
          <p:cNvSpPr/>
          <p:nvPr/>
        </p:nvSpPr>
        <p:spPr>
          <a:xfrm>
            <a:off x="731520" y="3566160"/>
            <a:ext cx="594360" cy="594360"/>
          </a:xfrm>
          <a:prstGeom prst="rect">
            <a:avLst/>
          </a:prstGeom>
          <a:solidFill>
            <a:srgbClr val="F59E0B"/>
          </a:solidFill>
          <a:ln/>
        </p:spPr>
      </p:sp>
      <p:sp>
        <p:nvSpPr>
          <p:cNvPr id="21" name="Text 19"/>
          <p:cNvSpPr/>
          <p:nvPr/>
        </p:nvSpPr>
        <p:spPr>
          <a:xfrm>
            <a:off x="731520" y="3566160"/>
            <a:ext cx="594360" cy="594360"/>
          </a:xfrm>
          <a:prstGeom prst="rect">
            <a:avLst/>
          </a:prstGeom>
          <a:noFill/>
          <a:ln/>
        </p:spPr>
        <p:txBody>
          <a:bodyPr wrap="square" lIns="0" tIns="0" rIns="0" bIns="0" rtlCol="0" anchor="ctr"/>
          <a:lstStyle/>
          <a:p>
            <a:pPr algn="ctr" indent="0" marL="0">
              <a:buNone/>
            </a:pPr>
            <a:r>
              <a:rPr lang="en-US" sz="2000" dirty="0">
                <a:solidFill>
                  <a:srgbClr val="081E25"/>
                </a:solidFill>
                <a:latin typeface="Arial Black" pitchFamily="34" charset="0"/>
                <a:ea typeface="Arial Black" pitchFamily="34" charset="-122"/>
                <a:cs typeface="Arial Black" pitchFamily="34" charset="-120"/>
              </a:rPr>
              <a:t>4</a:t>
            </a:r>
            <a:endParaRPr lang="en-US" sz="2000" dirty="0"/>
          </a:p>
        </p:txBody>
      </p:sp>
      <p:sp>
        <p:nvSpPr>
          <p:cNvPr id="22" name="Text 20"/>
          <p:cNvSpPr/>
          <p:nvPr/>
        </p:nvSpPr>
        <p:spPr>
          <a:xfrm>
            <a:off x="1508760" y="3566160"/>
            <a:ext cx="2743200" cy="594360"/>
          </a:xfrm>
          <a:prstGeom prst="rect">
            <a:avLst/>
          </a:prstGeom>
          <a:noFill/>
          <a:ln/>
        </p:spPr>
        <p:txBody>
          <a:bodyPr wrap="square" lIns="0" tIns="0" rIns="0" bIns="0" rtlCol="0" anchor="ctr"/>
          <a:lstStyle/>
          <a:p>
            <a:pPr indent="0" marL="0">
              <a:buNone/>
            </a:pPr>
            <a:r>
              <a:rPr lang="en-US" sz="1400" b="1" dirty="0">
                <a:solidFill>
                  <a:srgbClr val="F0FDFA"/>
                </a:solidFill>
                <a:latin typeface="Arial" pitchFamily="34" charset="0"/>
                <a:ea typeface="Arial" pitchFamily="34" charset="-122"/>
                <a:cs typeface="Arial" pitchFamily="34" charset="-120"/>
              </a:rPr>
              <a:t>Technological in Nature</a:t>
            </a:r>
            <a:endParaRPr lang="en-US" sz="1400" dirty="0"/>
          </a:p>
        </p:txBody>
      </p:sp>
      <p:sp>
        <p:nvSpPr>
          <p:cNvPr id="23" name="Text 21"/>
          <p:cNvSpPr/>
          <p:nvPr/>
        </p:nvSpPr>
        <p:spPr>
          <a:xfrm>
            <a:off x="4251960" y="3566160"/>
            <a:ext cx="3931920" cy="594360"/>
          </a:xfrm>
          <a:prstGeom prst="rect">
            <a:avLst/>
          </a:prstGeom>
          <a:noFill/>
          <a:ln/>
        </p:spPr>
        <p:txBody>
          <a:bodyPr wrap="square" lIns="0" tIns="0" rIns="0" bIns="0" rtlCol="0" anchor="ctr"/>
          <a:lstStyle/>
          <a:p>
            <a:pPr indent="0" marL="0">
              <a:buNone/>
            </a:pPr>
            <a:r>
              <a:rPr lang="en-US" sz="1100" dirty="0">
                <a:solidFill>
                  <a:srgbClr val="B4E4D9"/>
                </a:solidFill>
                <a:latin typeface="Calibri" pitchFamily="34" charset="0"/>
                <a:ea typeface="Calibri" pitchFamily="34" charset="-122"/>
                <a:cs typeface="Calibri" pitchFamily="34" charset="-120"/>
              </a:rPr>
              <a:t>Relies on engineering, computer science, or physical sciences</a:t>
            </a:r>
            <a:endParaRPr lang="en-US" sz="1100" dirty="0"/>
          </a:p>
        </p:txBody>
      </p:sp>
      <p:sp>
        <p:nvSpPr>
          <p:cNvPr id="24" name="Text 22"/>
          <p:cNvSpPr/>
          <p:nvPr/>
        </p:nvSpPr>
        <p:spPr>
          <a:xfrm>
            <a:off x="731520" y="4434840"/>
            <a:ext cx="7315200" cy="274320"/>
          </a:xfrm>
          <a:prstGeom prst="rect">
            <a:avLst/>
          </a:prstGeom>
          <a:noFill/>
          <a:ln/>
        </p:spPr>
        <p:txBody>
          <a:bodyPr wrap="square" lIns="0" tIns="0" rIns="0" bIns="0" rtlCol="0" anchor="ctr"/>
          <a:lstStyle/>
          <a:p>
            <a:pPr indent="0" marL="0">
              <a:buNone/>
            </a:pPr>
            <a:r>
              <a:rPr lang="en-US" sz="1200" i="1" dirty="0">
                <a:solidFill>
                  <a:srgbClr val="5EEAD4"/>
                </a:solidFill>
                <a:latin typeface="Georgia" pitchFamily="34" charset="0"/>
                <a:ea typeface="Georgia" pitchFamily="34" charset="-122"/>
                <a:cs typeface="Georgia" pitchFamily="34" charset="-120"/>
              </a:rPr>
              <a:t>"If your software solves a problem nobody solved before — you probably qualify."</a:t>
            </a:r>
            <a:endParaRPr lang="en-US" sz="1200" dirty="0"/>
          </a:p>
        </p:txBody>
      </p:sp>
      <p:sp>
        <p:nvSpPr>
          <p:cNvPr id="25" name="Shape 23"/>
          <p:cNvSpPr/>
          <p:nvPr/>
        </p:nvSpPr>
        <p:spPr>
          <a:xfrm>
            <a:off x="0" y="4800600"/>
            <a:ext cx="9144000" cy="342900"/>
          </a:xfrm>
          <a:prstGeom prst="rect">
            <a:avLst/>
          </a:prstGeom>
          <a:solidFill>
            <a:srgbClr val="14B8A6"/>
          </a:solidFill>
          <a:ln/>
        </p:spPr>
      </p:sp>
      <p:sp>
        <p:nvSpPr>
          <p:cNvPr id="26" name="Text 24"/>
          <p:cNvSpPr/>
          <p:nvPr/>
        </p:nvSpPr>
        <p:spPr>
          <a:xfrm>
            <a:off x="457200" y="4800600"/>
            <a:ext cx="8229600" cy="342900"/>
          </a:xfrm>
          <a:prstGeom prst="rect">
            <a:avLst/>
          </a:prstGeom>
          <a:noFill/>
          <a:ln/>
        </p:spPr>
        <p:txBody>
          <a:bodyPr wrap="square" lIns="0" tIns="0" rIns="0" bIns="0" rtlCol="0" anchor="ctr"/>
          <a:lstStyle/>
          <a:p>
            <a:pPr algn="l" indent="0" marL="0">
              <a:buNone/>
            </a:pPr>
            <a:r>
              <a:rPr lang="en-US" sz="900" b="1" dirty="0">
                <a:solidFill>
                  <a:srgbClr val="081E25"/>
                </a:solidFill>
                <a:latin typeface="Calibri" pitchFamily="34" charset="0"/>
                <a:ea typeface="Calibri" pitchFamily="34" charset="-122"/>
                <a:cs typeface="Calibri" pitchFamily="34" charset="-120"/>
              </a:rPr>
              <a:t>R&amp;D TAX CREDIT ANALYSIS</a:t>
            </a:r>
            <a:endParaRPr lang="en-US" sz="900" dirty="0"/>
          </a:p>
        </p:txBody>
      </p:sp>
      <p:sp>
        <p:nvSpPr>
          <p:cNvPr id="27" name="Text 25"/>
          <p:cNvSpPr/>
          <p:nvPr/>
        </p:nvSpPr>
        <p:spPr>
          <a:xfrm>
            <a:off x="8046720" y="4800600"/>
            <a:ext cx="914400" cy="342900"/>
          </a:xfrm>
          <a:prstGeom prst="rect">
            <a:avLst/>
          </a:prstGeom>
          <a:noFill/>
          <a:ln/>
        </p:spPr>
        <p:txBody>
          <a:bodyPr wrap="square" lIns="0" tIns="0" rIns="0" bIns="0" rtlCol="0" anchor="ctr"/>
          <a:lstStyle/>
          <a:p>
            <a:pPr algn="r" indent="0" marL="0">
              <a:buNone/>
            </a:pPr>
            <a:r>
              <a:rPr lang="en-US" sz="800" dirty="0">
                <a:solidFill>
                  <a:srgbClr val="081E25"/>
                </a:solidFill>
                <a:latin typeface="Calibri" pitchFamily="34" charset="0"/>
                <a:ea typeface="Calibri" pitchFamily="34" charset="-122"/>
                <a:cs typeface="Calibri" pitchFamily="34" charset="-120"/>
              </a:rPr>
              <a:t>12 / 31</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2E38"/>
        </a:solidFill>
      </p:bgPr>
    </p:bg>
    <p:spTree>
      <p:nvGrpSpPr>
        <p:cNvPr id="1" name=""/>
        <p:cNvGrpSpPr/>
        <p:nvPr/>
      </p:nvGrpSpPr>
      <p:grpSpPr>
        <a:xfrm>
          <a:off x="0" y="0"/>
          <a:ext cx="0" cy="0"/>
          <a:chOff x="0" y="0"/>
          <a:chExt cx="0" cy="0"/>
        </a:xfrm>
      </p:grpSpPr>
      <p:sp>
        <p:nvSpPr>
          <p:cNvPr id="2" name="Text 0"/>
          <p:cNvSpPr/>
          <p:nvPr/>
        </p:nvSpPr>
        <p:spPr>
          <a:xfrm>
            <a:off x="731520" y="365760"/>
            <a:ext cx="5486400" cy="365760"/>
          </a:xfrm>
          <a:prstGeom prst="rect">
            <a:avLst/>
          </a:prstGeom>
          <a:noFill/>
          <a:ln/>
        </p:spPr>
        <p:txBody>
          <a:bodyPr wrap="square" lIns="0" tIns="0" rIns="0" bIns="0" rtlCol="0" anchor="ctr"/>
          <a:lstStyle/>
          <a:p>
            <a:pPr indent="0" marL="0">
              <a:buNone/>
            </a:pPr>
            <a:r>
              <a:rPr lang="en-US" sz="1400" b="1" spc="300" kern="0" dirty="0">
                <a:solidFill>
                  <a:srgbClr val="14B8A6"/>
                </a:solidFill>
                <a:latin typeface="Arial" pitchFamily="34" charset="0"/>
                <a:ea typeface="Arial" pitchFamily="34" charset="-122"/>
                <a:cs typeface="Arial" pitchFamily="34" charset="-120"/>
              </a:rPr>
              <a:t>AI EVALUATION OUTPUT</a:t>
            </a:r>
            <a:endParaRPr lang="en-US" sz="1400" dirty="0"/>
          </a:p>
        </p:txBody>
      </p:sp>
      <p:sp>
        <p:nvSpPr>
          <p:cNvPr id="3" name="Text 1"/>
          <p:cNvSpPr/>
          <p:nvPr/>
        </p:nvSpPr>
        <p:spPr>
          <a:xfrm>
            <a:off x="731520" y="822960"/>
            <a:ext cx="7315200" cy="365760"/>
          </a:xfrm>
          <a:prstGeom prst="rect">
            <a:avLst/>
          </a:prstGeom>
          <a:noFill/>
          <a:ln/>
        </p:spPr>
        <p:txBody>
          <a:bodyPr wrap="square" lIns="0" tIns="0" rIns="0" bIns="0" rtlCol="0" anchor="ctr"/>
          <a:lstStyle/>
          <a:p>
            <a:pPr indent="0" marL="0">
              <a:buNone/>
            </a:pPr>
            <a:r>
              <a:rPr lang="en-US" sz="1800" b="1" dirty="0">
                <a:solidFill>
                  <a:srgbClr val="F0FDFA"/>
                </a:solidFill>
                <a:latin typeface="Calibri" pitchFamily="34" charset="0"/>
                <a:ea typeface="Calibri" pitchFamily="34" charset="-122"/>
                <a:cs typeface="Calibri" pitchFamily="34" charset="-120"/>
              </a:rPr>
              <a:t>Project: LLM Gateway Migration</a:t>
            </a:r>
            <a:endParaRPr lang="en-US" sz="1800" dirty="0"/>
          </a:p>
        </p:txBody>
      </p:sp>
      <p:sp>
        <p:nvSpPr>
          <p:cNvPr id="4" name="Shape 2"/>
          <p:cNvSpPr/>
          <p:nvPr/>
        </p:nvSpPr>
        <p:spPr>
          <a:xfrm>
            <a:off x="731520" y="1371600"/>
            <a:ext cx="5029200" cy="640080"/>
          </a:xfrm>
          <a:prstGeom prst="rect">
            <a:avLst/>
          </a:prstGeom>
          <a:solidFill>
            <a:srgbClr val="0F3D4A"/>
          </a:solidFill>
          <a:ln/>
          <a:effectLst>
            <a:outerShdw sx="100000" sy="100000" kx="0" ky="0" algn="bl" rotWithShape="0" blurRad="76200" dist="25400" dir="8100000">
              <a:srgbClr val="000000">
                <a:alpha val="20000"/>
              </a:srgbClr>
            </a:outerShdw>
          </a:effectLst>
        </p:spPr>
      </p:sp>
      <p:sp>
        <p:nvSpPr>
          <p:cNvPr id="5" name="Text 3"/>
          <p:cNvSpPr/>
          <p:nvPr/>
        </p:nvSpPr>
        <p:spPr>
          <a:xfrm>
            <a:off x="914400" y="1371600"/>
            <a:ext cx="2286000" cy="640080"/>
          </a:xfrm>
          <a:prstGeom prst="rect">
            <a:avLst/>
          </a:prstGeom>
          <a:noFill/>
          <a:ln/>
        </p:spPr>
        <p:txBody>
          <a:bodyPr wrap="square" lIns="0" tIns="0" rIns="0" bIns="0" rtlCol="0" anchor="ctr"/>
          <a:lstStyle/>
          <a:p>
            <a:pPr indent="0" marL="0">
              <a:buNone/>
            </a:pPr>
            <a:r>
              <a:rPr lang="en-US" sz="1300" dirty="0">
                <a:solidFill>
                  <a:srgbClr val="B4E4D9"/>
                </a:solidFill>
                <a:latin typeface="Calibri" pitchFamily="34" charset="0"/>
                <a:ea typeface="Calibri" pitchFamily="34" charset="-122"/>
                <a:cs typeface="Calibri" pitchFamily="34" charset="-120"/>
              </a:rPr>
              <a:t>Permitted Purpose</a:t>
            </a:r>
            <a:endParaRPr lang="en-US" sz="1300" dirty="0"/>
          </a:p>
        </p:txBody>
      </p:sp>
      <p:sp>
        <p:nvSpPr>
          <p:cNvPr id="6" name="Shape 4"/>
          <p:cNvSpPr/>
          <p:nvPr/>
        </p:nvSpPr>
        <p:spPr>
          <a:xfrm>
            <a:off x="3291840" y="1554480"/>
            <a:ext cx="1371600" cy="228600"/>
          </a:xfrm>
          <a:prstGeom prst="rect">
            <a:avLst/>
          </a:prstGeom>
          <a:solidFill>
            <a:srgbClr val="1A5C6B"/>
          </a:solidFill>
          <a:ln/>
        </p:spPr>
      </p:sp>
      <p:sp>
        <p:nvSpPr>
          <p:cNvPr id="7" name="Shape 5"/>
          <p:cNvSpPr/>
          <p:nvPr/>
        </p:nvSpPr>
        <p:spPr>
          <a:xfrm>
            <a:off x="3291840" y="1554480"/>
            <a:ext cx="1261872" cy="228600"/>
          </a:xfrm>
          <a:prstGeom prst="rect">
            <a:avLst/>
          </a:prstGeom>
          <a:solidFill>
            <a:srgbClr val="22C55E"/>
          </a:solidFill>
          <a:ln/>
        </p:spPr>
      </p:sp>
      <p:sp>
        <p:nvSpPr>
          <p:cNvPr id="8" name="Text 6"/>
          <p:cNvSpPr/>
          <p:nvPr/>
        </p:nvSpPr>
        <p:spPr>
          <a:xfrm>
            <a:off x="4754880" y="1371600"/>
            <a:ext cx="548640" cy="640080"/>
          </a:xfrm>
          <a:prstGeom prst="rect">
            <a:avLst/>
          </a:prstGeom>
          <a:noFill/>
          <a:ln/>
        </p:spPr>
        <p:txBody>
          <a:bodyPr wrap="square" lIns="0" tIns="0" rIns="0" bIns="0" rtlCol="0" anchor="ctr"/>
          <a:lstStyle/>
          <a:p>
            <a:pPr indent="0" marL="0">
              <a:buNone/>
            </a:pPr>
            <a:r>
              <a:rPr lang="en-US" sz="1400" b="1" dirty="0">
                <a:solidFill>
                  <a:srgbClr val="22C55E"/>
                </a:solidFill>
                <a:latin typeface="Arial" pitchFamily="34" charset="0"/>
                <a:ea typeface="Arial" pitchFamily="34" charset="-122"/>
                <a:cs typeface="Arial" pitchFamily="34" charset="-120"/>
              </a:rPr>
              <a:t>92%</a:t>
            </a:r>
            <a:endParaRPr lang="en-US" sz="1400" dirty="0"/>
          </a:p>
        </p:txBody>
      </p:sp>
      <p:sp>
        <p:nvSpPr>
          <p:cNvPr id="9" name="Text 7"/>
          <p:cNvSpPr/>
          <p:nvPr/>
        </p:nvSpPr>
        <p:spPr>
          <a:xfrm>
            <a:off x="5303520" y="1371600"/>
            <a:ext cx="822960" cy="640080"/>
          </a:xfrm>
          <a:prstGeom prst="rect">
            <a:avLst/>
          </a:prstGeom>
          <a:noFill/>
          <a:ln/>
        </p:spPr>
        <p:txBody>
          <a:bodyPr wrap="square" lIns="0" tIns="0" rIns="0" bIns="0" rtlCol="0" anchor="ctr"/>
          <a:lstStyle/>
          <a:p>
            <a:pPr indent="0" marL="0">
              <a:buNone/>
            </a:pPr>
            <a:r>
              <a:rPr lang="en-US" sz="1000" b="1" dirty="0">
                <a:solidFill>
                  <a:srgbClr val="22C55E"/>
                </a:solidFill>
                <a:latin typeface="Arial" pitchFamily="34" charset="0"/>
                <a:ea typeface="Arial" pitchFamily="34" charset="-122"/>
                <a:cs typeface="Arial" pitchFamily="34" charset="-120"/>
              </a:rPr>
              <a:t>QUALIFIES</a:t>
            </a:r>
            <a:endParaRPr lang="en-US" sz="1000" dirty="0"/>
          </a:p>
        </p:txBody>
      </p:sp>
      <p:sp>
        <p:nvSpPr>
          <p:cNvPr id="10" name="Shape 8"/>
          <p:cNvSpPr/>
          <p:nvPr/>
        </p:nvSpPr>
        <p:spPr>
          <a:xfrm>
            <a:off x="731520" y="2148840"/>
            <a:ext cx="5029200" cy="640080"/>
          </a:xfrm>
          <a:prstGeom prst="rect">
            <a:avLst/>
          </a:prstGeom>
          <a:solidFill>
            <a:srgbClr val="0F3D4A"/>
          </a:solidFill>
          <a:ln/>
          <a:effectLst>
            <a:outerShdw sx="100000" sy="100000" kx="0" ky="0" algn="bl" rotWithShape="0" blurRad="76200" dist="25400" dir="8100000">
              <a:srgbClr val="000000">
                <a:alpha val="20000"/>
              </a:srgbClr>
            </a:outerShdw>
          </a:effectLst>
        </p:spPr>
      </p:sp>
      <p:sp>
        <p:nvSpPr>
          <p:cNvPr id="11" name="Text 9"/>
          <p:cNvSpPr/>
          <p:nvPr/>
        </p:nvSpPr>
        <p:spPr>
          <a:xfrm>
            <a:off x="914400" y="2148840"/>
            <a:ext cx="2286000" cy="640080"/>
          </a:xfrm>
          <a:prstGeom prst="rect">
            <a:avLst/>
          </a:prstGeom>
          <a:noFill/>
          <a:ln/>
        </p:spPr>
        <p:txBody>
          <a:bodyPr wrap="square" lIns="0" tIns="0" rIns="0" bIns="0" rtlCol="0" anchor="ctr"/>
          <a:lstStyle/>
          <a:p>
            <a:pPr indent="0" marL="0">
              <a:buNone/>
            </a:pPr>
            <a:r>
              <a:rPr lang="en-US" sz="1300" dirty="0">
                <a:solidFill>
                  <a:srgbClr val="B4E4D9"/>
                </a:solidFill>
                <a:latin typeface="Calibri" pitchFamily="34" charset="0"/>
                <a:ea typeface="Calibri" pitchFamily="34" charset="-122"/>
                <a:cs typeface="Calibri" pitchFamily="34" charset="-120"/>
              </a:rPr>
              <a:t>Tech Uncertainty</a:t>
            </a:r>
            <a:endParaRPr lang="en-US" sz="1300" dirty="0"/>
          </a:p>
        </p:txBody>
      </p:sp>
      <p:sp>
        <p:nvSpPr>
          <p:cNvPr id="12" name="Shape 10"/>
          <p:cNvSpPr/>
          <p:nvPr/>
        </p:nvSpPr>
        <p:spPr>
          <a:xfrm>
            <a:off x="3291840" y="2331720"/>
            <a:ext cx="1371600" cy="228600"/>
          </a:xfrm>
          <a:prstGeom prst="rect">
            <a:avLst/>
          </a:prstGeom>
          <a:solidFill>
            <a:srgbClr val="1A5C6B"/>
          </a:solidFill>
          <a:ln/>
        </p:spPr>
      </p:sp>
      <p:sp>
        <p:nvSpPr>
          <p:cNvPr id="13" name="Shape 11"/>
          <p:cNvSpPr/>
          <p:nvPr/>
        </p:nvSpPr>
        <p:spPr>
          <a:xfrm>
            <a:off x="3291840" y="2331720"/>
            <a:ext cx="1207008" cy="228600"/>
          </a:xfrm>
          <a:prstGeom prst="rect">
            <a:avLst/>
          </a:prstGeom>
          <a:solidFill>
            <a:srgbClr val="22C55E"/>
          </a:solidFill>
          <a:ln/>
        </p:spPr>
      </p:sp>
      <p:sp>
        <p:nvSpPr>
          <p:cNvPr id="14" name="Text 12"/>
          <p:cNvSpPr/>
          <p:nvPr/>
        </p:nvSpPr>
        <p:spPr>
          <a:xfrm>
            <a:off x="4754880" y="2148840"/>
            <a:ext cx="548640" cy="640080"/>
          </a:xfrm>
          <a:prstGeom prst="rect">
            <a:avLst/>
          </a:prstGeom>
          <a:noFill/>
          <a:ln/>
        </p:spPr>
        <p:txBody>
          <a:bodyPr wrap="square" lIns="0" tIns="0" rIns="0" bIns="0" rtlCol="0" anchor="ctr"/>
          <a:lstStyle/>
          <a:p>
            <a:pPr indent="0" marL="0">
              <a:buNone/>
            </a:pPr>
            <a:r>
              <a:rPr lang="en-US" sz="1400" b="1" dirty="0">
                <a:solidFill>
                  <a:srgbClr val="22C55E"/>
                </a:solidFill>
                <a:latin typeface="Arial" pitchFamily="34" charset="0"/>
                <a:ea typeface="Arial" pitchFamily="34" charset="-122"/>
                <a:cs typeface="Arial" pitchFamily="34" charset="-120"/>
              </a:rPr>
              <a:t>88%</a:t>
            </a:r>
            <a:endParaRPr lang="en-US" sz="1400" dirty="0"/>
          </a:p>
        </p:txBody>
      </p:sp>
      <p:sp>
        <p:nvSpPr>
          <p:cNvPr id="15" name="Text 13"/>
          <p:cNvSpPr/>
          <p:nvPr/>
        </p:nvSpPr>
        <p:spPr>
          <a:xfrm>
            <a:off x="5303520" y="2148840"/>
            <a:ext cx="822960" cy="640080"/>
          </a:xfrm>
          <a:prstGeom prst="rect">
            <a:avLst/>
          </a:prstGeom>
          <a:noFill/>
          <a:ln/>
        </p:spPr>
        <p:txBody>
          <a:bodyPr wrap="square" lIns="0" tIns="0" rIns="0" bIns="0" rtlCol="0" anchor="ctr"/>
          <a:lstStyle/>
          <a:p>
            <a:pPr indent="0" marL="0">
              <a:buNone/>
            </a:pPr>
            <a:r>
              <a:rPr lang="en-US" sz="1000" b="1" dirty="0">
                <a:solidFill>
                  <a:srgbClr val="22C55E"/>
                </a:solidFill>
                <a:latin typeface="Arial" pitchFamily="34" charset="0"/>
                <a:ea typeface="Arial" pitchFamily="34" charset="-122"/>
                <a:cs typeface="Arial" pitchFamily="34" charset="-120"/>
              </a:rPr>
              <a:t>QUALIFIES</a:t>
            </a:r>
            <a:endParaRPr lang="en-US" sz="1000" dirty="0"/>
          </a:p>
        </p:txBody>
      </p:sp>
      <p:sp>
        <p:nvSpPr>
          <p:cNvPr id="16" name="Shape 14"/>
          <p:cNvSpPr/>
          <p:nvPr/>
        </p:nvSpPr>
        <p:spPr>
          <a:xfrm>
            <a:off x="731520" y="2926080"/>
            <a:ext cx="5029200" cy="640080"/>
          </a:xfrm>
          <a:prstGeom prst="rect">
            <a:avLst/>
          </a:prstGeom>
          <a:solidFill>
            <a:srgbClr val="0F3D4A"/>
          </a:solidFill>
          <a:ln/>
          <a:effectLst>
            <a:outerShdw sx="100000" sy="100000" kx="0" ky="0" algn="bl" rotWithShape="0" blurRad="76200" dist="25400" dir="8100000">
              <a:srgbClr val="000000">
                <a:alpha val="20000"/>
              </a:srgbClr>
            </a:outerShdw>
          </a:effectLst>
        </p:spPr>
      </p:sp>
      <p:sp>
        <p:nvSpPr>
          <p:cNvPr id="17" name="Text 15"/>
          <p:cNvSpPr/>
          <p:nvPr/>
        </p:nvSpPr>
        <p:spPr>
          <a:xfrm>
            <a:off x="914400" y="2926080"/>
            <a:ext cx="2286000" cy="640080"/>
          </a:xfrm>
          <a:prstGeom prst="rect">
            <a:avLst/>
          </a:prstGeom>
          <a:noFill/>
          <a:ln/>
        </p:spPr>
        <p:txBody>
          <a:bodyPr wrap="square" lIns="0" tIns="0" rIns="0" bIns="0" rtlCol="0" anchor="ctr"/>
          <a:lstStyle/>
          <a:p>
            <a:pPr indent="0" marL="0">
              <a:buNone/>
            </a:pPr>
            <a:r>
              <a:rPr lang="en-US" sz="1300" dirty="0">
                <a:solidFill>
                  <a:srgbClr val="B4E4D9"/>
                </a:solidFill>
                <a:latin typeface="Calibri" pitchFamily="34" charset="0"/>
                <a:ea typeface="Calibri" pitchFamily="34" charset="-122"/>
                <a:cs typeface="Calibri" pitchFamily="34" charset="-120"/>
              </a:rPr>
              <a:t>Experimentation</a:t>
            </a:r>
            <a:endParaRPr lang="en-US" sz="1300" dirty="0"/>
          </a:p>
        </p:txBody>
      </p:sp>
      <p:sp>
        <p:nvSpPr>
          <p:cNvPr id="18" name="Shape 16"/>
          <p:cNvSpPr/>
          <p:nvPr/>
        </p:nvSpPr>
        <p:spPr>
          <a:xfrm>
            <a:off x="3291840" y="3108960"/>
            <a:ext cx="1371600" cy="228600"/>
          </a:xfrm>
          <a:prstGeom prst="rect">
            <a:avLst/>
          </a:prstGeom>
          <a:solidFill>
            <a:srgbClr val="1A5C6B"/>
          </a:solidFill>
          <a:ln/>
        </p:spPr>
      </p:sp>
      <p:sp>
        <p:nvSpPr>
          <p:cNvPr id="19" name="Shape 17"/>
          <p:cNvSpPr/>
          <p:nvPr/>
        </p:nvSpPr>
        <p:spPr>
          <a:xfrm>
            <a:off x="3291840" y="3108960"/>
            <a:ext cx="1165860" cy="228600"/>
          </a:xfrm>
          <a:prstGeom prst="rect">
            <a:avLst/>
          </a:prstGeom>
          <a:solidFill>
            <a:srgbClr val="22C55E"/>
          </a:solidFill>
          <a:ln/>
        </p:spPr>
      </p:sp>
      <p:sp>
        <p:nvSpPr>
          <p:cNvPr id="20" name="Text 18"/>
          <p:cNvSpPr/>
          <p:nvPr/>
        </p:nvSpPr>
        <p:spPr>
          <a:xfrm>
            <a:off x="4754880" y="2926080"/>
            <a:ext cx="548640" cy="640080"/>
          </a:xfrm>
          <a:prstGeom prst="rect">
            <a:avLst/>
          </a:prstGeom>
          <a:noFill/>
          <a:ln/>
        </p:spPr>
        <p:txBody>
          <a:bodyPr wrap="square" lIns="0" tIns="0" rIns="0" bIns="0" rtlCol="0" anchor="ctr"/>
          <a:lstStyle/>
          <a:p>
            <a:pPr indent="0" marL="0">
              <a:buNone/>
            </a:pPr>
            <a:r>
              <a:rPr lang="en-US" sz="1400" b="1" dirty="0">
                <a:solidFill>
                  <a:srgbClr val="22C55E"/>
                </a:solidFill>
                <a:latin typeface="Arial" pitchFamily="34" charset="0"/>
                <a:ea typeface="Arial" pitchFamily="34" charset="-122"/>
                <a:cs typeface="Arial" pitchFamily="34" charset="-120"/>
              </a:rPr>
              <a:t>85%</a:t>
            </a:r>
            <a:endParaRPr lang="en-US" sz="1400" dirty="0"/>
          </a:p>
        </p:txBody>
      </p:sp>
      <p:sp>
        <p:nvSpPr>
          <p:cNvPr id="21" name="Text 19"/>
          <p:cNvSpPr/>
          <p:nvPr/>
        </p:nvSpPr>
        <p:spPr>
          <a:xfrm>
            <a:off x="5303520" y="2926080"/>
            <a:ext cx="822960" cy="640080"/>
          </a:xfrm>
          <a:prstGeom prst="rect">
            <a:avLst/>
          </a:prstGeom>
          <a:noFill/>
          <a:ln/>
        </p:spPr>
        <p:txBody>
          <a:bodyPr wrap="square" lIns="0" tIns="0" rIns="0" bIns="0" rtlCol="0" anchor="ctr"/>
          <a:lstStyle/>
          <a:p>
            <a:pPr indent="0" marL="0">
              <a:buNone/>
            </a:pPr>
            <a:r>
              <a:rPr lang="en-US" sz="1000" b="1" dirty="0">
                <a:solidFill>
                  <a:srgbClr val="22C55E"/>
                </a:solidFill>
                <a:latin typeface="Arial" pitchFamily="34" charset="0"/>
                <a:ea typeface="Arial" pitchFamily="34" charset="-122"/>
                <a:cs typeface="Arial" pitchFamily="34" charset="-120"/>
              </a:rPr>
              <a:t>QUALIFIES</a:t>
            </a:r>
            <a:endParaRPr lang="en-US" sz="1000" dirty="0"/>
          </a:p>
        </p:txBody>
      </p:sp>
      <p:sp>
        <p:nvSpPr>
          <p:cNvPr id="22" name="Shape 20"/>
          <p:cNvSpPr/>
          <p:nvPr/>
        </p:nvSpPr>
        <p:spPr>
          <a:xfrm>
            <a:off x="731520" y="3703320"/>
            <a:ext cx="5029200" cy="640080"/>
          </a:xfrm>
          <a:prstGeom prst="rect">
            <a:avLst/>
          </a:prstGeom>
          <a:solidFill>
            <a:srgbClr val="0F3D4A"/>
          </a:solidFill>
          <a:ln/>
          <a:effectLst>
            <a:outerShdw sx="100000" sy="100000" kx="0" ky="0" algn="bl" rotWithShape="0" blurRad="76200" dist="25400" dir="8100000">
              <a:srgbClr val="000000">
                <a:alpha val="20000"/>
              </a:srgbClr>
            </a:outerShdw>
          </a:effectLst>
        </p:spPr>
      </p:sp>
      <p:sp>
        <p:nvSpPr>
          <p:cNvPr id="23" name="Text 21"/>
          <p:cNvSpPr/>
          <p:nvPr/>
        </p:nvSpPr>
        <p:spPr>
          <a:xfrm>
            <a:off x="914400" y="3703320"/>
            <a:ext cx="2286000" cy="640080"/>
          </a:xfrm>
          <a:prstGeom prst="rect">
            <a:avLst/>
          </a:prstGeom>
          <a:noFill/>
          <a:ln/>
        </p:spPr>
        <p:txBody>
          <a:bodyPr wrap="square" lIns="0" tIns="0" rIns="0" bIns="0" rtlCol="0" anchor="ctr"/>
          <a:lstStyle/>
          <a:p>
            <a:pPr indent="0" marL="0">
              <a:buNone/>
            </a:pPr>
            <a:r>
              <a:rPr lang="en-US" sz="1300" dirty="0">
                <a:solidFill>
                  <a:srgbClr val="B4E4D9"/>
                </a:solidFill>
                <a:latin typeface="Calibri" pitchFamily="34" charset="0"/>
                <a:ea typeface="Calibri" pitchFamily="34" charset="-122"/>
                <a:cs typeface="Calibri" pitchFamily="34" charset="-120"/>
              </a:rPr>
              <a:t>Tech in Nature</a:t>
            </a:r>
            <a:endParaRPr lang="en-US" sz="1300" dirty="0"/>
          </a:p>
        </p:txBody>
      </p:sp>
      <p:sp>
        <p:nvSpPr>
          <p:cNvPr id="24" name="Shape 22"/>
          <p:cNvSpPr/>
          <p:nvPr/>
        </p:nvSpPr>
        <p:spPr>
          <a:xfrm>
            <a:off x="3291840" y="3886200"/>
            <a:ext cx="1371600" cy="228600"/>
          </a:xfrm>
          <a:prstGeom prst="rect">
            <a:avLst/>
          </a:prstGeom>
          <a:solidFill>
            <a:srgbClr val="1A5C6B"/>
          </a:solidFill>
          <a:ln/>
        </p:spPr>
      </p:sp>
      <p:sp>
        <p:nvSpPr>
          <p:cNvPr id="25" name="Shape 23"/>
          <p:cNvSpPr/>
          <p:nvPr/>
        </p:nvSpPr>
        <p:spPr>
          <a:xfrm>
            <a:off x="3291840" y="3886200"/>
            <a:ext cx="1303020" cy="228600"/>
          </a:xfrm>
          <a:prstGeom prst="rect">
            <a:avLst/>
          </a:prstGeom>
          <a:solidFill>
            <a:srgbClr val="22C55E"/>
          </a:solidFill>
          <a:ln/>
        </p:spPr>
      </p:sp>
      <p:sp>
        <p:nvSpPr>
          <p:cNvPr id="26" name="Text 24"/>
          <p:cNvSpPr/>
          <p:nvPr/>
        </p:nvSpPr>
        <p:spPr>
          <a:xfrm>
            <a:off x="4754880" y="3703320"/>
            <a:ext cx="548640" cy="640080"/>
          </a:xfrm>
          <a:prstGeom prst="rect">
            <a:avLst/>
          </a:prstGeom>
          <a:noFill/>
          <a:ln/>
        </p:spPr>
        <p:txBody>
          <a:bodyPr wrap="square" lIns="0" tIns="0" rIns="0" bIns="0" rtlCol="0" anchor="ctr"/>
          <a:lstStyle/>
          <a:p>
            <a:pPr indent="0" marL="0">
              <a:buNone/>
            </a:pPr>
            <a:r>
              <a:rPr lang="en-US" sz="1400" b="1" dirty="0">
                <a:solidFill>
                  <a:srgbClr val="22C55E"/>
                </a:solidFill>
                <a:latin typeface="Arial" pitchFamily="34" charset="0"/>
                <a:ea typeface="Arial" pitchFamily="34" charset="-122"/>
                <a:cs typeface="Arial" pitchFamily="34" charset="-120"/>
              </a:rPr>
              <a:t>95%</a:t>
            </a:r>
            <a:endParaRPr lang="en-US" sz="1400" dirty="0"/>
          </a:p>
        </p:txBody>
      </p:sp>
      <p:sp>
        <p:nvSpPr>
          <p:cNvPr id="27" name="Text 25"/>
          <p:cNvSpPr/>
          <p:nvPr/>
        </p:nvSpPr>
        <p:spPr>
          <a:xfrm>
            <a:off x="5303520" y="3703320"/>
            <a:ext cx="822960" cy="640080"/>
          </a:xfrm>
          <a:prstGeom prst="rect">
            <a:avLst/>
          </a:prstGeom>
          <a:noFill/>
          <a:ln/>
        </p:spPr>
        <p:txBody>
          <a:bodyPr wrap="square" lIns="0" tIns="0" rIns="0" bIns="0" rtlCol="0" anchor="ctr"/>
          <a:lstStyle/>
          <a:p>
            <a:pPr indent="0" marL="0">
              <a:buNone/>
            </a:pPr>
            <a:r>
              <a:rPr lang="en-US" sz="1000" b="1" dirty="0">
                <a:solidFill>
                  <a:srgbClr val="22C55E"/>
                </a:solidFill>
                <a:latin typeface="Arial" pitchFamily="34" charset="0"/>
                <a:ea typeface="Arial" pitchFamily="34" charset="-122"/>
                <a:cs typeface="Arial" pitchFamily="34" charset="-120"/>
              </a:rPr>
              <a:t>QUALIFIES</a:t>
            </a:r>
            <a:endParaRPr lang="en-US" sz="1000" dirty="0"/>
          </a:p>
        </p:txBody>
      </p:sp>
      <p:sp>
        <p:nvSpPr>
          <p:cNvPr id="28" name="Shape 26"/>
          <p:cNvSpPr/>
          <p:nvPr/>
        </p:nvSpPr>
        <p:spPr>
          <a:xfrm>
            <a:off x="5943600" y="1371600"/>
            <a:ext cx="2560320" cy="3108960"/>
          </a:xfrm>
          <a:prstGeom prst="rect">
            <a:avLst/>
          </a:prstGeom>
          <a:solidFill>
            <a:srgbClr val="0F3D4A"/>
          </a:solidFill>
          <a:ln/>
          <a:effectLst>
            <a:outerShdw sx="100000" sy="100000" kx="0" ky="0" algn="bl" rotWithShape="0" blurRad="76200" dist="25400" dir="8100000">
              <a:srgbClr val="000000">
                <a:alpha val="20000"/>
              </a:srgbClr>
            </a:outerShdw>
          </a:effectLst>
        </p:spPr>
      </p:sp>
      <p:sp>
        <p:nvSpPr>
          <p:cNvPr id="29" name="Shape 27"/>
          <p:cNvSpPr/>
          <p:nvPr/>
        </p:nvSpPr>
        <p:spPr>
          <a:xfrm>
            <a:off x="5943600" y="1371600"/>
            <a:ext cx="54864" cy="3108960"/>
          </a:xfrm>
          <a:prstGeom prst="rect">
            <a:avLst/>
          </a:prstGeom>
          <a:solidFill>
            <a:srgbClr val="F59E0B"/>
          </a:solidFill>
          <a:ln/>
        </p:spPr>
      </p:sp>
      <p:sp>
        <p:nvSpPr>
          <p:cNvPr id="30" name="Text 28"/>
          <p:cNvSpPr/>
          <p:nvPr/>
        </p:nvSpPr>
        <p:spPr>
          <a:xfrm>
            <a:off x="6217920" y="1463040"/>
            <a:ext cx="2103120" cy="365760"/>
          </a:xfrm>
          <a:prstGeom prst="rect">
            <a:avLst/>
          </a:prstGeom>
          <a:noFill/>
          <a:ln/>
        </p:spPr>
        <p:txBody>
          <a:bodyPr wrap="square" lIns="0" tIns="0" rIns="0" bIns="0" rtlCol="0" anchor="ctr"/>
          <a:lstStyle/>
          <a:p>
            <a:pPr indent="0" marL="0">
              <a:buNone/>
            </a:pPr>
            <a:r>
              <a:rPr lang="en-US" sz="1200" b="1" dirty="0">
                <a:solidFill>
                  <a:srgbClr val="F59E0B"/>
                </a:solidFill>
                <a:latin typeface="Arial" pitchFamily="34" charset="0"/>
                <a:ea typeface="Arial" pitchFamily="34" charset="-122"/>
                <a:cs typeface="Arial" pitchFamily="34" charset="-120"/>
              </a:rPr>
              <a:t>What AI provides:</a:t>
            </a:r>
            <a:endParaRPr lang="en-US" sz="1200" dirty="0"/>
          </a:p>
        </p:txBody>
      </p:sp>
      <p:sp>
        <p:nvSpPr>
          <p:cNvPr id="31" name="Text 29"/>
          <p:cNvSpPr/>
          <p:nvPr/>
        </p:nvSpPr>
        <p:spPr>
          <a:xfrm>
            <a:off x="6217920" y="1920240"/>
            <a:ext cx="2103120" cy="2286000"/>
          </a:xfrm>
          <a:prstGeom prst="rect">
            <a:avLst/>
          </a:prstGeom>
          <a:noFill/>
          <a:ln/>
        </p:spPr>
        <p:txBody>
          <a:bodyPr wrap="square" lIns="0" tIns="0" rIns="0" bIns="0" rtlCol="0" anchor="t"/>
          <a:lstStyle/>
          <a:p>
            <a:pPr marL="342900" indent="-342900">
              <a:buSzPct val="100000"/>
              <a:buChar char="•"/>
            </a:pPr>
            <a:r>
              <a:rPr lang="en-US" sz="1100" dirty="0">
                <a:solidFill>
                  <a:srgbClr val="B4E4D9"/>
                </a:solidFill>
                <a:latin typeface="Calibri" pitchFamily="34" charset="0"/>
                <a:ea typeface="Calibri" pitchFamily="34" charset="-122"/>
                <a:cs typeface="Calibri" pitchFamily="34" charset="-120"/>
              </a:rPr>
              <a:t>Supporting evidence for each test</a:t>
            </a:r>
            <a:endParaRPr lang="en-US" sz="1100" dirty="0"/>
          </a:p>
          <a:p>
            <a:pPr marL="342900" indent="-342900">
              <a:buSzPct val="100000"/>
              <a:buChar char="•"/>
            </a:pPr>
            <a:r>
              <a:rPr lang="en-US" sz="1100" dirty="0">
                <a:solidFill>
                  <a:srgbClr val="B4E4D9"/>
                </a:solidFill>
                <a:latin typeface="Calibri" pitchFamily="34" charset="0"/>
                <a:ea typeface="Calibri" pitchFamily="34" charset="-122"/>
                <a:cs typeface="Calibri" pitchFamily="34" charset="-120"/>
              </a:rPr>
              <a:t>Opposing evidence (devil's advocate)</a:t>
            </a:r>
            <a:endParaRPr lang="en-US" sz="1100" dirty="0"/>
          </a:p>
          <a:p>
            <a:pPr marL="342900" indent="-342900">
              <a:buSzPct val="100000"/>
              <a:buChar char="•"/>
            </a:pPr>
            <a:r>
              <a:rPr lang="en-US" sz="1100" dirty="0">
                <a:solidFill>
                  <a:srgbClr val="B4E4D9"/>
                </a:solidFill>
                <a:latin typeface="Calibri" pitchFamily="34" charset="0"/>
                <a:ea typeface="Calibri" pitchFamily="34" charset="-122"/>
                <a:cs typeface="Calibri" pitchFamily="34" charset="-120"/>
              </a:rPr>
              <a:t>Confidence scores with reasoning</a:t>
            </a:r>
            <a:endParaRPr lang="en-US" sz="1100" dirty="0"/>
          </a:p>
          <a:p>
            <a:pPr marL="342900" indent="-342900">
              <a:buSzPct val="100000"/>
              <a:buChar char="•"/>
            </a:pPr>
            <a:r>
              <a:rPr lang="en-US" sz="1100" dirty="0">
                <a:solidFill>
                  <a:srgbClr val="B4E4D9"/>
                </a:solidFill>
                <a:latin typeface="Calibri" pitchFamily="34" charset="0"/>
                <a:ea typeface="Calibri" pitchFamily="34" charset="-122"/>
                <a:cs typeface="Calibri" pitchFamily="34" charset="-120"/>
              </a:rPr>
              <a:t>Preliminary assessment (not legal advice)</a:t>
            </a:r>
            <a:endParaRPr lang="en-US" sz="1100" dirty="0"/>
          </a:p>
        </p:txBody>
      </p:sp>
      <p:sp>
        <p:nvSpPr>
          <p:cNvPr id="32" name="Shape 30"/>
          <p:cNvSpPr/>
          <p:nvPr/>
        </p:nvSpPr>
        <p:spPr>
          <a:xfrm>
            <a:off x="0" y="4800600"/>
            <a:ext cx="9144000" cy="342900"/>
          </a:xfrm>
          <a:prstGeom prst="rect">
            <a:avLst/>
          </a:prstGeom>
          <a:solidFill>
            <a:srgbClr val="14B8A6"/>
          </a:solidFill>
          <a:ln/>
        </p:spPr>
      </p:sp>
      <p:sp>
        <p:nvSpPr>
          <p:cNvPr id="33" name="Text 31"/>
          <p:cNvSpPr/>
          <p:nvPr/>
        </p:nvSpPr>
        <p:spPr>
          <a:xfrm>
            <a:off x="457200" y="4800600"/>
            <a:ext cx="8229600" cy="342900"/>
          </a:xfrm>
          <a:prstGeom prst="rect">
            <a:avLst/>
          </a:prstGeom>
          <a:noFill/>
          <a:ln/>
        </p:spPr>
        <p:txBody>
          <a:bodyPr wrap="square" lIns="0" tIns="0" rIns="0" bIns="0" rtlCol="0" anchor="ctr"/>
          <a:lstStyle/>
          <a:p>
            <a:pPr algn="l" indent="0" marL="0">
              <a:buNone/>
            </a:pPr>
            <a:r>
              <a:rPr lang="en-US" sz="900" b="1" dirty="0">
                <a:solidFill>
                  <a:srgbClr val="081E25"/>
                </a:solidFill>
                <a:latin typeface="Calibri" pitchFamily="34" charset="0"/>
                <a:ea typeface="Calibri" pitchFamily="34" charset="-122"/>
                <a:cs typeface="Calibri" pitchFamily="34" charset="-120"/>
              </a:rPr>
              <a:t>R&amp;D TAX CREDIT ANALYSIS</a:t>
            </a:r>
            <a:endParaRPr lang="en-US" sz="900" dirty="0"/>
          </a:p>
        </p:txBody>
      </p:sp>
      <p:sp>
        <p:nvSpPr>
          <p:cNvPr id="34" name="Text 32"/>
          <p:cNvSpPr/>
          <p:nvPr/>
        </p:nvSpPr>
        <p:spPr>
          <a:xfrm>
            <a:off x="8046720" y="4800600"/>
            <a:ext cx="914400" cy="342900"/>
          </a:xfrm>
          <a:prstGeom prst="rect">
            <a:avLst/>
          </a:prstGeom>
          <a:noFill/>
          <a:ln/>
        </p:spPr>
        <p:txBody>
          <a:bodyPr wrap="square" lIns="0" tIns="0" rIns="0" bIns="0" rtlCol="0" anchor="ctr"/>
          <a:lstStyle/>
          <a:p>
            <a:pPr algn="r" indent="0" marL="0">
              <a:buNone/>
            </a:pPr>
            <a:r>
              <a:rPr lang="en-US" sz="800" dirty="0">
                <a:solidFill>
                  <a:srgbClr val="081E25"/>
                </a:solidFill>
                <a:latin typeface="Calibri" pitchFamily="34" charset="0"/>
                <a:ea typeface="Calibri" pitchFamily="34" charset="-122"/>
                <a:cs typeface="Calibri" pitchFamily="34" charset="-120"/>
              </a:rPr>
              <a:t>13 / 31</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2E3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3200400" y="731520"/>
            <a:ext cx="457200" cy="457200"/>
          </a:xfrm>
          <a:prstGeom prst="rect">
            <a:avLst/>
          </a:prstGeom>
        </p:spPr>
      </p:pic>
      <p:sp>
        <p:nvSpPr>
          <p:cNvPr id="3" name="Text 0"/>
          <p:cNvSpPr/>
          <p:nvPr/>
        </p:nvSpPr>
        <p:spPr>
          <a:xfrm>
            <a:off x="3840480" y="731520"/>
            <a:ext cx="2743200" cy="457200"/>
          </a:xfrm>
          <a:prstGeom prst="rect">
            <a:avLst/>
          </a:prstGeom>
          <a:noFill/>
          <a:ln/>
        </p:spPr>
        <p:txBody>
          <a:bodyPr wrap="square" lIns="0" tIns="0" rIns="0" bIns="0" rtlCol="0" anchor="ctr"/>
          <a:lstStyle/>
          <a:p>
            <a:pPr indent="0" marL="0">
              <a:buNone/>
            </a:pPr>
            <a:r>
              <a:rPr lang="en-US" sz="1400" b="1" spc="300" kern="0" dirty="0">
                <a:solidFill>
                  <a:srgbClr val="F59E0B"/>
                </a:solidFill>
                <a:latin typeface="Arial" pitchFamily="34" charset="0"/>
                <a:ea typeface="Arial" pitchFamily="34" charset="-122"/>
                <a:cs typeface="Arial" pitchFamily="34" charset="-120"/>
              </a:rPr>
              <a:t>QUICK POLL</a:t>
            </a:r>
            <a:endParaRPr lang="en-US" sz="1400" dirty="0"/>
          </a:p>
        </p:txBody>
      </p:sp>
      <p:sp>
        <p:nvSpPr>
          <p:cNvPr id="4" name="Text 1"/>
          <p:cNvSpPr/>
          <p:nvPr/>
        </p:nvSpPr>
        <p:spPr>
          <a:xfrm>
            <a:off x="914400" y="1463040"/>
            <a:ext cx="7315200" cy="914400"/>
          </a:xfrm>
          <a:prstGeom prst="rect">
            <a:avLst/>
          </a:prstGeom>
          <a:noFill/>
          <a:ln/>
        </p:spPr>
        <p:txBody>
          <a:bodyPr wrap="square" lIns="0" tIns="0" rIns="0" bIns="0" rtlCol="0" anchor="ctr"/>
          <a:lstStyle/>
          <a:p>
            <a:pPr algn="ctr" indent="0" marL="0">
              <a:buNone/>
            </a:pPr>
            <a:r>
              <a:rPr lang="en-US" sz="3000" dirty="0">
                <a:solidFill>
                  <a:srgbClr val="F0FDFA"/>
                </a:solidFill>
                <a:latin typeface="Arial Black" pitchFamily="34" charset="0"/>
                <a:ea typeface="Arial Black" pitchFamily="34" charset="-122"/>
                <a:cs typeface="Arial Black" pitchFamily="34" charset="-120"/>
              </a:rPr>
              <a:t>Whose company has claimed</a:t>
            </a:r>
            <a:endParaRPr lang="en-US" sz="3000" dirty="0"/>
          </a:p>
          <a:p>
            <a:pPr algn="ctr" indent="0" marL="0">
              <a:buNone/>
            </a:pPr>
            <a:r>
              <a:rPr lang="en-US" sz="3000" dirty="0">
                <a:solidFill>
                  <a:srgbClr val="F0FDFA"/>
                </a:solidFill>
                <a:latin typeface="Arial Black" pitchFamily="34" charset="0"/>
                <a:ea typeface="Arial Black" pitchFamily="34" charset="-122"/>
                <a:cs typeface="Arial Black" pitchFamily="34" charset="-120"/>
              </a:rPr>
              <a:t>R&amp;D tax credits before?</a:t>
            </a:r>
            <a:endParaRPr lang="en-US" sz="3000" dirty="0"/>
          </a:p>
        </p:txBody>
      </p:sp>
      <p:sp>
        <p:nvSpPr>
          <p:cNvPr id="5" name="Shape 2"/>
          <p:cNvSpPr/>
          <p:nvPr/>
        </p:nvSpPr>
        <p:spPr>
          <a:xfrm>
            <a:off x="2743200" y="2743200"/>
            <a:ext cx="3657600" cy="36576"/>
          </a:xfrm>
          <a:prstGeom prst="rect">
            <a:avLst/>
          </a:prstGeom>
          <a:solidFill>
            <a:srgbClr val="F59E0B"/>
          </a:solidFill>
          <a:ln/>
        </p:spPr>
      </p:sp>
      <p:sp>
        <p:nvSpPr>
          <p:cNvPr id="6" name="Text 3"/>
          <p:cNvSpPr/>
          <p:nvPr/>
        </p:nvSpPr>
        <p:spPr>
          <a:xfrm>
            <a:off x="914400" y="3017520"/>
            <a:ext cx="7315200" cy="914400"/>
          </a:xfrm>
          <a:prstGeom prst="rect">
            <a:avLst/>
          </a:prstGeom>
          <a:noFill/>
          <a:ln/>
        </p:spPr>
        <p:txBody>
          <a:bodyPr wrap="square" lIns="0" tIns="0" rIns="0" bIns="0" rtlCol="0" anchor="ctr"/>
          <a:lstStyle/>
          <a:p>
            <a:pPr algn="ctr" indent="0" marL="0">
              <a:buNone/>
            </a:pPr>
            <a:r>
              <a:rPr lang="en-US" sz="2400" dirty="0">
                <a:solidFill>
                  <a:srgbClr val="5EEAD4"/>
                </a:solidFill>
                <a:latin typeface="Calibri" pitchFamily="34" charset="0"/>
                <a:ea typeface="Calibri" pitchFamily="34" charset="-122"/>
                <a:cs typeface="Calibri" pitchFamily="34" charset="-120"/>
              </a:rPr>
              <a:t>Who writes software that solves problems</a:t>
            </a:r>
            <a:endParaRPr lang="en-US" sz="2400" dirty="0"/>
          </a:p>
          <a:p>
            <a:pPr algn="ctr" indent="0" marL="0">
              <a:buNone/>
            </a:pPr>
            <a:r>
              <a:rPr lang="en-US" sz="2400" dirty="0">
                <a:solidFill>
                  <a:srgbClr val="5EEAD4"/>
                </a:solidFill>
                <a:latin typeface="Calibri" pitchFamily="34" charset="0"/>
                <a:ea typeface="Calibri" pitchFamily="34" charset="-122"/>
                <a:cs typeface="Calibri" pitchFamily="34" charset="-120"/>
              </a:rPr>
              <a:t>nobody has solved before?</a:t>
            </a:r>
            <a:endParaRPr lang="en-US" sz="2400" dirty="0"/>
          </a:p>
        </p:txBody>
      </p:sp>
      <p:sp>
        <p:nvSpPr>
          <p:cNvPr id="7" name="Shape 4"/>
          <p:cNvSpPr/>
          <p:nvPr/>
        </p:nvSpPr>
        <p:spPr>
          <a:xfrm>
            <a:off x="1828800" y="4114800"/>
            <a:ext cx="5486400" cy="548640"/>
          </a:xfrm>
          <a:prstGeom prst="rect">
            <a:avLst/>
          </a:prstGeom>
          <a:solidFill>
            <a:srgbClr val="0F3D4A"/>
          </a:solidFill>
          <a:ln/>
          <a:effectLst>
            <a:outerShdw sx="100000" sy="100000" kx="0" ky="0" algn="bl" rotWithShape="0" blurRad="76200" dist="25400" dir="8100000">
              <a:srgbClr val="000000">
                <a:alpha val="20000"/>
              </a:srgbClr>
            </a:outerShdw>
          </a:effectLst>
        </p:spPr>
      </p:sp>
      <p:sp>
        <p:nvSpPr>
          <p:cNvPr id="8" name="Text 5"/>
          <p:cNvSpPr/>
          <p:nvPr/>
        </p:nvSpPr>
        <p:spPr>
          <a:xfrm>
            <a:off x="2011680" y="4114800"/>
            <a:ext cx="5029200" cy="548640"/>
          </a:xfrm>
          <a:prstGeom prst="rect">
            <a:avLst/>
          </a:prstGeom>
          <a:noFill/>
          <a:ln/>
        </p:spPr>
        <p:txBody>
          <a:bodyPr wrap="square" lIns="0" tIns="0" rIns="0" bIns="0" rtlCol="0" anchor="ctr"/>
          <a:lstStyle/>
          <a:p>
            <a:pPr algn="ctr" indent="0" marL="0">
              <a:buNone/>
            </a:pPr>
            <a:r>
              <a:rPr lang="en-US" sz="1300" b="1" dirty="0">
                <a:solidFill>
                  <a:srgbClr val="F59E0B"/>
                </a:solidFill>
                <a:latin typeface="Calibri" pitchFamily="34" charset="0"/>
                <a:ea typeface="Calibri" pitchFamily="34" charset="-122"/>
                <a:cs typeface="Calibri" pitchFamily="34" charset="-120"/>
              </a:rPr>
              <a:t>That's the IRS definition of qualifying R&amp;D. Your finance team would love to talk to you.</a:t>
            </a:r>
            <a:endParaRPr lang="en-US" sz="1300" dirty="0"/>
          </a:p>
        </p:txBody>
      </p:sp>
      <p:sp>
        <p:nvSpPr>
          <p:cNvPr id="9" name="Shape 6"/>
          <p:cNvSpPr/>
          <p:nvPr/>
        </p:nvSpPr>
        <p:spPr>
          <a:xfrm>
            <a:off x="0" y="4800600"/>
            <a:ext cx="9144000" cy="342900"/>
          </a:xfrm>
          <a:prstGeom prst="rect">
            <a:avLst/>
          </a:prstGeom>
          <a:solidFill>
            <a:srgbClr val="14B8A6"/>
          </a:solidFill>
          <a:ln/>
        </p:spPr>
      </p:sp>
      <p:sp>
        <p:nvSpPr>
          <p:cNvPr id="10" name="Text 7"/>
          <p:cNvSpPr/>
          <p:nvPr/>
        </p:nvSpPr>
        <p:spPr>
          <a:xfrm>
            <a:off x="457200" y="4800600"/>
            <a:ext cx="8229600" cy="342900"/>
          </a:xfrm>
          <a:prstGeom prst="rect">
            <a:avLst/>
          </a:prstGeom>
          <a:noFill/>
          <a:ln/>
        </p:spPr>
        <p:txBody>
          <a:bodyPr wrap="square" lIns="0" tIns="0" rIns="0" bIns="0" rtlCol="0" anchor="ctr"/>
          <a:lstStyle/>
          <a:p>
            <a:pPr algn="l" indent="0" marL="0">
              <a:buNone/>
            </a:pPr>
            <a:r>
              <a:rPr lang="en-US" sz="900" b="1" dirty="0">
                <a:solidFill>
                  <a:srgbClr val="081E25"/>
                </a:solidFill>
                <a:latin typeface="Calibri" pitchFamily="34" charset="0"/>
                <a:ea typeface="Calibri" pitchFamily="34" charset="-122"/>
                <a:cs typeface="Calibri" pitchFamily="34" charset="-120"/>
              </a:rPr>
              <a:t>R&amp;D TAX CREDIT ANALYSIS</a:t>
            </a:r>
            <a:endParaRPr lang="en-US" sz="900" dirty="0"/>
          </a:p>
        </p:txBody>
      </p:sp>
      <p:sp>
        <p:nvSpPr>
          <p:cNvPr id="11" name="Text 8"/>
          <p:cNvSpPr/>
          <p:nvPr/>
        </p:nvSpPr>
        <p:spPr>
          <a:xfrm>
            <a:off x="8046720" y="4800600"/>
            <a:ext cx="914400" cy="342900"/>
          </a:xfrm>
          <a:prstGeom prst="rect">
            <a:avLst/>
          </a:prstGeom>
          <a:noFill/>
          <a:ln/>
        </p:spPr>
        <p:txBody>
          <a:bodyPr wrap="square" lIns="0" tIns="0" rIns="0" bIns="0" rtlCol="0" anchor="ctr"/>
          <a:lstStyle/>
          <a:p>
            <a:pPr algn="r" indent="0" marL="0">
              <a:buNone/>
            </a:pPr>
            <a:r>
              <a:rPr lang="en-US" sz="800" dirty="0">
                <a:solidFill>
                  <a:srgbClr val="081E25"/>
                </a:solidFill>
                <a:latin typeface="Calibri" pitchFamily="34" charset="0"/>
                <a:ea typeface="Calibri" pitchFamily="34" charset="-122"/>
                <a:cs typeface="Calibri" pitchFamily="34" charset="-120"/>
              </a:rPr>
              <a:t>14 / 31</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81E25"/>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14B8A6"/>
          </a:solidFill>
          <a:ln/>
        </p:spPr>
      </p:sp>
      <p:sp>
        <p:nvSpPr>
          <p:cNvPr id="3" name="Text 1"/>
          <p:cNvSpPr/>
          <p:nvPr/>
        </p:nvSpPr>
        <p:spPr>
          <a:xfrm>
            <a:off x="731520" y="914400"/>
            <a:ext cx="3657600" cy="365760"/>
          </a:xfrm>
          <a:prstGeom prst="rect">
            <a:avLst/>
          </a:prstGeom>
          <a:noFill/>
          <a:ln/>
        </p:spPr>
        <p:txBody>
          <a:bodyPr wrap="square" lIns="0" tIns="0" rIns="0" bIns="0" rtlCol="0" anchor="ctr"/>
          <a:lstStyle/>
          <a:p>
            <a:pPr indent="0" marL="0">
              <a:buNone/>
            </a:pPr>
            <a:r>
              <a:rPr lang="en-US" sz="1400" b="1" spc="400" kern="0" dirty="0">
                <a:solidFill>
                  <a:srgbClr val="14B8A6"/>
                </a:solidFill>
                <a:latin typeface="Arial" pitchFamily="34" charset="0"/>
                <a:ea typeface="Arial" pitchFamily="34" charset="-122"/>
                <a:cs typeface="Arial" pitchFamily="34" charset="-120"/>
              </a:rPr>
              <a:t>BRIDGE</a:t>
            </a:r>
            <a:endParaRPr lang="en-US" sz="1400" dirty="0"/>
          </a:p>
        </p:txBody>
      </p:sp>
      <p:sp>
        <p:nvSpPr>
          <p:cNvPr id="4" name="Text 2"/>
          <p:cNvSpPr/>
          <p:nvPr/>
        </p:nvSpPr>
        <p:spPr>
          <a:xfrm>
            <a:off x="731520" y="1463040"/>
            <a:ext cx="7315200" cy="1828800"/>
          </a:xfrm>
          <a:prstGeom prst="rect">
            <a:avLst/>
          </a:prstGeom>
          <a:noFill/>
          <a:ln/>
        </p:spPr>
        <p:txBody>
          <a:bodyPr wrap="square" lIns="0" tIns="0" rIns="0" bIns="0" rtlCol="0" anchor="ctr"/>
          <a:lstStyle/>
          <a:p>
            <a:pPr indent="0" marL="0">
              <a:buNone/>
            </a:pPr>
            <a:r>
              <a:rPr lang="en-US" sz="3800" dirty="0">
                <a:solidFill>
                  <a:srgbClr val="F0FDFA"/>
                </a:solidFill>
                <a:latin typeface="Arial Black" pitchFamily="34" charset="0"/>
                <a:ea typeface="Arial Black" pitchFamily="34" charset="-122"/>
                <a:cs typeface="Arial Black" pitchFamily="34" charset="-120"/>
              </a:rPr>
              <a:t>Custom GPT:</a:t>
            </a:r>
            <a:endParaRPr lang="en-US" sz="3800" dirty="0"/>
          </a:p>
          <a:p>
            <a:pPr indent="0" marL="0">
              <a:buNone/>
            </a:pPr>
            <a:r>
              <a:rPr lang="en-US" sz="3800" dirty="0">
                <a:solidFill>
                  <a:srgbClr val="F0FDFA"/>
                </a:solidFill>
                <a:latin typeface="Arial Black" pitchFamily="34" charset="0"/>
                <a:ea typeface="Arial Black" pitchFamily="34" charset="-122"/>
                <a:cs typeface="Arial Black" pitchFamily="34" charset="-120"/>
              </a:rPr>
              <a:t>Executive Reporting</a:t>
            </a:r>
            <a:endParaRPr lang="en-US" sz="3800" dirty="0"/>
          </a:p>
          <a:p>
            <a:pPr indent="0" marL="0">
              <a:buNone/>
            </a:pPr>
            <a:r>
              <a:rPr lang="en-US" sz="3800" dirty="0">
                <a:solidFill>
                  <a:srgbClr val="F0FDFA"/>
                </a:solidFill>
                <a:latin typeface="Arial Black" pitchFamily="34" charset="0"/>
                <a:ea typeface="Arial Black" pitchFamily="34" charset="-122"/>
                <a:cs typeface="Arial Black" pitchFamily="34" charset="-120"/>
              </a:rPr>
              <a:t>Assistant</a:t>
            </a:r>
            <a:endParaRPr lang="en-US" sz="3800" dirty="0"/>
          </a:p>
        </p:txBody>
      </p:sp>
      <p:sp>
        <p:nvSpPr>
          <p:cNvPr id="5" name="Text 3"/>
          <p:cNvSpPr/>
          <p:nvPr/>
        </p:nvSpPr>
        <p:spPr>
          <a:xfrm>
            <a:off x="731520" y="3474720"/>
            <a:ext cx="7315200" cy="457200"/>
          </a:xfrm>
          <a:prstGeom prst="rect">
            <a:avLst/>
          </a:prstGeom>
          <a:noFill/>
          <a:ln/>
        </p:spPr>
        <p:txBody>
          <a:bodyPr wrap="square" lIns="0" tIns="0" rIns="0" bIns="0" rtlCol="0" anchor="ctr"/>
          <a:lstStyle/>
          <a:p>
            <a:pPr indent="0" marL="0">
              <a:buNone/>
            </a:pPr>
            <a:r>
              <a:rPr lang="en-US" sz="1600" dirty="0">
                <a:solidFill>
                  <a:srgbClr val="5EEAD4"/>
                </a:solidFill>
                <a:latin typeface="Calibri" pitchFamily="34" charset="0"/>
                <a:ea typeface="Calibri" pitchFamily="34" charset="-122"/>
                <a:cs typeface="Calibri" pitchFamily="34" charset="-120"/>
              </a:rPr>
              <a:t>The difference between a prompt and a system</a:t>
            </a:r>
            <a:endParaRPr lang="en-US" sz="1600" dirty="0"/>
          </a:p>
        </p:txBody>
      </p:sp>
      <p:pic>
        <p:nvPicPr>
          <p:cNvPr id="6" name="Image 0" descr="preencoded.png">    </p:cNvPr>
          <p:cNvPicPr>
            <a:picLocks noChangeAspect="1"/>
          </p:cNvPicPr>
          <p:nvPr/>
        </p:nvPicPr>
        <p:blipFill>
          <a:blip r:embed="rId1"/>
          <a:stretch>
            <a:fillRect/>
          </a:stretch>
        </p:blipFill>
        <p:spPr>
          <a:xfrm>
            <a:off x="7498080" y="1645920"/>
            <a:ext cx="914400" cy="914400"/>
          </a:xfrm>
          <a:prstGeom prst="rect">
            <a:avLst/>
          </a:prstGeom>
        </p:spPr>
      </p:pic>
      <p:sp>
        <p:nvSpPr>
          <p:cNvPr id="7" name="Shape 4"/>
          <p:cNvSpPr/>
          <p:nvPr/>
        </p:nvSpPr>
        <p:spPr>
          <a:xfrm>
            <a:off x="731520" y="4114800"/>
            <a:ext cx="5029200" cy="502920"/>
          </a:xfrm>
          <a:prstGeom prst="rect">
            <a:avLst/>
          </a:prstGeom>
          <a:solidFill>
            <a:srgbClr val="0F3D4A"/>
          </a:solidFill>
          <a:ln/>
          <a:effectLst>
            <a:outerShdw sx="100000" sy="100000" kx="0" ky="0" algn="bl" rotWithShape="0" blurRad="76200" dist="25400" dir="8100000">
              <a:srgbClr val="000000">
                <a:alpha val="20000"/>
              </a:srgbClr>
            </a:outerShdw>
          </a:effectLst>
        </p:spPr>
      </p:sp>
      <p:sp>
        <p:nvSpPr>
          <p:cNvPr id="8" name="Shape 5"/>
          <p:cNvSpPr/>
          <p:nvPr/>
        </p:nvSpPr>
        <p:spPr>
          <a:xfrm>
            <a:off x="731520" y="4114800"/>
            <a:ext cx="54864" cy="502920"/>
          </a:xfrm>
          <a:prstGeom prst="rect">
            <a:avLst/>
          </a:prstGeom>
          <a:solidFill>
            <a:srgbClr val="14B8A6"/>
          </a:solidFill>
          <a:ln/>
        </p:spPr>
      </p:sp>
      <p:sp>
        <p:nvSpPr>
          <p:cNvPr id="9" name="Text 6"/>
          <p:cNvSpPr/>
          <p:nvPr/>
        </p:nvSpPr>
        <p:spPr>
          <a:xfrm>
            <a:off x="1005840" y="4114800"/>
            <a:ext cx="4572000" cy="502920"/>
          </a:xfrm>
          <a:prstGeom prst="rect">
            <a:avLst/>
          </a:prstGeom>
          <a:noFill/>
          <a:ln/>
        </p:spPr>
        <p:txBody>
          <a:bodyPr wrap="square" lIns="0" tIns="0" rIns="0" bIns="0" rtlCol="0" anchor="ctr"/>
          <a:lstStyle/>
          <a:p>
            <a:pPr indent="0" marL="0">
              <a:buNone/>
            </a:pPr>
            <a:r>
              <a:rPr lang="en-US" sz="1300" b="1" dirty="0">
                <a:solidFill>
                  <a:srgbClr val="14B8A6"/>
                </a:solidFill>
                <a:latin typeface="Calibri" pitchFamily="34" charset="0"/>
                <a:ea typeface="Calibri" pitchFamily="34" charset="-122"/>
                <a:cs typeface="Calibri" pitchFamily="34" charset="-120"/>
              </a:rPr>
              <a:t>Pattern: Translate → Synthesize → Act</a:t>
            </a:r>
            <a:endParaRPr lang="en-US" sz="1300" dirty="0"/>
          </a:p>
        </p:txBody>
      </p:sp>
      <p:sp>
        <p:nvSpPr>
          <p:cNvPr id="10" name="Shape 7"/>
          <p:cNvSpPr/>
          <p:nvPr/>
        </p:nvSpPr>
        <p:spPr>
          <a:xfrm>
            <a:off x="0" y="4800600"/>
            <a:ext cx="9144000" cy="342900"/>
          </a:xfrm>
          <a:prstGeom prst="rect">
            <a:avLst/>
          </a:prstGeom>
          <a:solidFill>
            <a:srgbClr val="14B8A6"/>
          </a:solidFill>
          <a:ln/>
        </p:spPr>
      </p:sp>
      <p:sp>
        <p:nvSpPr>
          <p:cNvPr id="11" name="Text 8"/>
          <p:cNvSpPr/>
          <p:nvPr/>
        </p:nvSpPr>
        <p:spPr>
          <a:xfrm>
            <a:off x="457200" y="4800600"/>
            <a:ext cx="8229600" cy="342900"/>
          </a:xfrm>
          <a:prstGeom prst="rect">
            <a:avLst/>
          </a:prstGeom>
          <a:noFill/>
          <a:ln/>
        </p:spPr>
        <p:txBody>
          <a:bodyPr wrap="square" lIns="0" tIns="0" rIns="0" bIns="0" rtlCol="0" anchor="ctr"/>
          <a:lstStyle/>
          <a:p>
            <a:pPr algn="l" indent="0" marL="0">
              <a:buNone/>
            </a:pPr>
            <a:r>
              <a:rPr lang="en-US" sz="900" b="1" dirty="0">
                <a:solidFill>
                  <a:srgbClr val="081E25"/>
                </a:solidFill>
                <a:latin typeface="Calibri" pitchFamily="34" charset="0"/>
                <a:ea typeface="Calibri" pitchFamily="34" charset="-122"/>
                <a:cs typeface="Calibri" pitchFamily="34" charset="-120"/>
              </a:rPr>
              <a:t>CUSTOM GPT CONFIGURATION</a:t>
            </a:r>
            <a:endParaRPr lang="en-US" sz="900" dirty="0"/>
          </a:p>
        </p:txBody>
      </p:sp>
      <p:sp>
        <p:nvSpPr>
          <p:cNvPr id="12" name="Text 9"/>
          <p:cNvSpPr/>
          <p:nvPr/>
        </p:nvSpPr>
        <p:spPr>
          <a:xfrm>
            <a:off x="8046720" y="4800600"/>
            <a:ext cx="914400" cy="342900"/>
          </a:xfrm>
          <a:prstGeom prst="rect">
            <a:avLst/>
          </a:prstGeom>
          <a:noFill/>
          <a:ln/>
        </p:spPr>
        <p:txBody>
          <a:bodyPr wrap="square" lIns="0" tIns="0" rIns="0" bIns="0" rtlCol="0" anchor="ctr"/>
          <a:lstStyle/>
          <a:p>
            <a:pPr algn="r" indent="0" marL="0">
              <a:buNone/>
            </a:pPr>
            <a:r>
              <a:rPr lang="en-US" sz="800" dirty="0">
                <a:solidFill>
                  <a:srgbClr val="081E25"/>
                </a:solidFill>
                <a:latin typeface="Calibri" pitchFamily="34" charset="0"/>
                <a:ea typeface="Calibri" pitchFamily="34" charset="-122"/>
                <a:cs typeface="Calibri" pitchFamily="34" charset="-120"/>
              </a:rPr>
              <a:t>15 / 31</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2E38"/>
        </a:solidFill>
      </p:bgPr>
    </p:bg>
    <p:spTree>
      <p:nvGrpSpPr>
        <p:cNvPr id="1" name=""/>
        <p:cNvGrpSpPr/>
        <p:nvPr/>
      </p:nvGrpSpPr>
      <p:grpSpPr>
        <a:xfrm>
          <a:off x="0" y="0"/>
          <a:ext cx="0" cy="0"/>
          <a:chOff x="0" y="0"/>
          <a:chExt cx="0" cy="0"/>
        </a:xfrm>
      </p:grpSpPr>
      <p:sp>
        <p:nvSpPr>
          <p:cNvPr id="2" name="Text 0"/>
          <p:cNvSpPr/>
          <p:nvPr/>
        </p:nvSpPr>
        <p:spPr>
          <a:xfrm>
            <a:off x="731520" y="365760"/>
            <a:ext cx="5486400" cy="365760"/>
          </a:xfrm>
          <a:prstGeom prst="rect">
            <a:avLst/>
          </a:prstGeom>
          <a:noFill/>
          <a:ln/>
        </p:spPr>
        <p:txBody>
          <a:bodyPr wrap="square" lIns="0" tIns="0" rIns="0" bIns="0" rtlCol="0" anchor="ctr"/>
          <a:lstStyle/>
          <a:p>
            <a:pPr indent="0" marL="0">
              <a:buNone/>
            </a:pPr>
            <a:r>
              <a:rPr lang="en-US" sz="1400" b="1" spc="300" kern="0" dirty="0">
                <a:solidFill>
                  <a:srgbClr val="14B8A6"/>
                </a:solidFill>
                <a:latin typeface="Arial" pitchFamily="34" charset="0"/>
                <a:ea typeface="Arial" pitchFamily="34" charset="-122"/>
                <a:cs typeface="Arial" pitchFamily="34" charset="-120"/>
              </a:rPr>
              <a:t>THE ARCHITECTURE</a:t>
            </a:r>
            <a:endParaRPr lang="en-US" sz="1400" dirty="0"/>
          </a:p>
        </p:txBody>
      </p:sp>
      <p:sp>
        <p:nvSpPr>
          <p:cNvPr id="3" name="Shape 1"/>
          <p:cNvSpPr/>
          <p:nvPr/>
        </p:nvSpPr>
        <p:spPr>
          <a:xfrm>
            <a:off x="731520" y="914400"/>
            <a:ext cx="7680960" cy="530352"/>
          </a:xfrm>
          <a:prstGeom prst="rect">
            <a:avLst/>
          </a:prstGeom>
          <a:solidFill>
            <a:srgbClr val="0F3D4A"/>
          </a:solidFill>
          <a:ln/>
          <a:effectLst>
            <a:outerShdw sx="100000" sy="100000" kx="0" ky="0" algn="bl" rotWithShape="0" blurRad="76200" dist="25400" dir="8100000">
              <a:srgbClr val="000000">
                <a:alpha val="20000"/>
              </a:srgbClr>
            </a:outerShdw>
          </a:effectLst>
        </p:spPr>
      </p:sp>
      <p:pic>
        <p:nvPicPr>
          <p:cNvPr id="4" name="Image 0" descr="preencoded.png">    </p:cNvPr>
          <p:cNvPicPr>
            <a:picLocks noChangeAspect="1"/>
          </p:cNvPicPr>
          <p:nvPr/>
        </p:nvPicPr>
        <p:blipFill>
          <a:blip r:embed="rId1"/>
          <a:stretch>
            <a:fillRect/>
          </a:stretch>
        </p:blipFill>
        <p:spPr>
          <a:xfrm>
            <a:off x="914400" y="987552"/>
            <a:ext cx="292608" cy="292608"/>
          </a:xfrm>
          <a:prstGeom prst="rect">
            <a:avLst/>
          </a:prstGeom>
        </p:spPr>
      </p:pic>
      <p:sp>
        <p:nvSpPr>
          <p:cNvPr id="5" name="Text 2"/>
          <p:cNvSpPr/>
          <p:nvPr/>
        </p:nvSpPr>
        <p:spPr>
          <a:xfrm>
            <a:off x="1325880" y="914400"/>
            <a:ext cx="1371600" cy="530352"/>
          </a:xfrm>
          <a:prstGeom prst="rect">
            <a:avLst/>
          </a:prstGeom>
          <a:noFill/>
          <a:ln/>
        </p:spPr>
        <p:txBody>
          <a:bodyPr wrap="square" lIns="0" tIns="0" rIns="0" bIns="0" rtlCol="0" anchor="ctr"/>
          <a:lstStyle/>
          <a:p>
            <a:pPr indent="0" marL="0">
              <a:buNone/>
            </a:pPr>
            <a:r>
              <a:rPr lang="en-US" sz="1200" b="1" dirty="0">
                <a:solidFill>
                  <a:srgbClr val="14B8A6"/>
                </a:solidFill>
                <a:latin typeface="Arial" pitchFamily="34" charset="0"/>
                <a:ea typeface="Arial" pitchFamily="34" charset="-122"/>
                <a:cs typeface="Arial" pitchFamily="34" charset="-120"/>
              </a:rPr>
              <a:t>ROLE</a:t>
            </a:r>
            <a:endParaRPr lang="en-US" sz="1200" dirty="0"/>
          </a:p>
        </p:txBody>
      </p:sp>
      <p:sp>
        <p:nvSpPr>
          <p:cNvPr id="6" name="Text 3"/>
          <p:cNvSpPr/>
          <p:nvPr/>
        </p:nvSpPr>
        <p:spPr>
          <a:xfrm>
            <a:off x="2743200" y="914400"/>
            <a:ext cx="5394960" cy="530352"/>
          </a:xfrm>
          <a:prstGeom prst="rect">
            <a:avLst/>
          </a:prstGeom>
          <a:noFill/>
          <a:ln/>
        </p:spPr>
        <p:txBody>
          <a:bodyPr wrap="square" lIns="0" tIns="0" rIns="0" bIns="0" rtlCol="0" anchor="ctr"/>
          <a:lstStyle/>
          <a:p>
            <a:pPr indent="0" marL="0">
              <a:buNone/>
            </a:pPr>
            <a:r>
              <a:rPr lang="en-US" sz="1100" dirty="0">
                <a:solidFill>
                  <a:srgbClr val="B4E4D9"/>
                </a:solidFill>
                <a:latin typeface="Calibri" pitchFamily="34" charset="0"/>
                <a:ea typeface="Calibri" pitchFamily="34" charset="-122"/>
                <a:cs typeface="Calibri" pitchFamily="34" charset="-120"/>
              </a:rPr>
              <a:t>"Chief of Staff for Engineering" — not just 'summarize this'</a:t>
            </a:r>
            <a:endParaRPr lang="en-US" sz="1100" dirty="0"/>
          </a:p>
        </p:txBody>
      </p:sp>
      <p:sp>
        <p:nvSpPr>
          <p:cNvPr id="7" name="Shape 4"/>
          <p:cNvSpPr/>
          <p:nvPr/>
        </p:nvSpPr>
        <p:spPr>
          <a:xfrm>
            <a:off x="731520" y="1572768"/>
            <a:ext cx="7680960" cy="530352"/>
          </a:xfrm>
          <a:prstGeom prst="rect">
            <a:avLst/>
          </a:prstGeom>
          <a:solidFill>
            <a:srgbClr val="0F3D4A"/>
          </a:solidFill>
          <a:ln/>
          <a:effectLst>
            <a:outerShdw sx="100000" sy="100000" kx="0" ky="0" algn="bl" rotWithShape="0" blurRad="76200" dist="25400" dir="8100000">
              <a:srgbClr val="000000">
                <a:alpha val="20000"/>
              </a:srgbClr>
            </a:outerShdw>
          </a:effectLst>
        </p:spPr>
      </p:sp>
      <p:pic>
        <p:nvPicPr>
          <p:cNvPr id="8" name="Image 1" descr="preencoded.png">    </p:cNvPr>
          <p:cNvPicPr>
            <a:picLocks noChangeAspect="1"/>
          </p:cNvPicPr>
          <p:nvPr/>
        </p:nvPicPr>
        <p:blipFill>
          <a:blip r:embed="rId2"/>
          <a:stretch>
            <a:fillRect/>
          </a:stretch>
        </p:blipFill>
        <p:spPr>
          <a:xfrm>
            <a:off x="914400" y="1645920"/>
            <a:ext cx="292608" cy="292608"/>
          </a:xfrm>
          <a:prstGeom prst="rect">
            <a:avLst/>
          </a:prstGeom>
        </p:spPr>
      </p:pic>
      <p:sp>
        <p:nvSpPr>
          <p:cNvPr id="9" name="Text 5"/>
          <p:cNvSpPr/>
          <p:nvPr/>
        </p:nvSpPr>
        <p:spPr>
          <a:xfrm>
            <a:off x="1325880" y="1572768"/>
            <a:ext cx="1371600" cy="530352"/>
          </a:xfrm>
          <a:prstGeom prst="rect">
            <a:avLst/>
          </a:prstGeom>
          <a:noFill/>
          <a:ln/>
        </p:spPr>
        <p:txBody>
          <a:bodyPr wrap="square" lIns="0" tIns="0" rIns="0" bIns="0" rtlCol="0" anchor="ctr"/>
          <a:lstStyle/>
          <a:p>
            <a:pPr indent="0" marL="0">
              <a:buNone/>
            </a:pPr>
            <a:r>
              <a:rPr lang="en-US" sz="1200" b="1" dirty="0">
                <a:solidFill>
                  <a:srgbClr val="5EEAD4"/>
                </a:solidFill>
                <a:latin typeface="Arial" pitchFamily="34" charset="0"/>
                <a:ea typeface="Arial" pitchFamily="34" charset="-122"/>
                <a:cs typeface="Arial" pitchFamily="34" charset="-120"/>
              </a:rPr>
              <a:t>KNOWLEDGE</a:t>
            </a:r>
            <a:endParaRPr lang="en-US" sz="1200" dirty="0"/>
          </a:p>
        </p:txBody>
      </p:sp>
      <p:sp>
        <p:nvSpPr>
          <p:cNvPr id="10" name="Text 6"/>
          <p:cNvSpPr/>
          <p:nvPr/>
        </p:nvSpPr>
        <p:spPr>
          <a:xfrm>
            <a:off x="2743200" y="1572768"/>
            <a:ext cx="5394960" cy="530352"/>
          </a:xfrm>
          <a:prstGeom prst="rect">
            <a:avLst/>
          </a:prstGeom>
          <a:noFill/>
          <a:ln/>
        </p:spPr>
        <p:txBody>
          <a:bodyPr wrap="square" lIns="0" tIns="0" rIns="0" bIns="0" rtlCol="0" anchor="ctr"/>
          <a:lstStyle/>
          <a:p>
            <a:pPr indent="0" marL="0">
              <a:buNone/>
            </a:pPr>
            <a:r>
              <a:rPr lang="en-US" sz="1100" dirty="0">
                <a:solidFill>
                  <a:srgbClr val="B4E4D9"/>
                </a:solidFill>
                <a:latin typeface="Calibri" pitchFamily="34" charset="0"/>
                <a:ea typeface="Calibri" pitchFamily="34" charset="-122"/>
                <a:cs typeface="Calibri" pitchFamily="34" charset="-120"/>
              </a:rPr>
              <a:t>Org goals, successful slide examples, data dictionary uploaded</a:t>
            </a:r>
            <a:endParaRPr lang="en-US" sz="1100" dirty="0"/>
          </a:p>
        </p:txBody>
      </p:sp>
      <p:sp>
        <p:nvSpPr>
          <p:cNvPr id="11" name="Shape 7"/>
          <p:cNvSpPr/>
          <p:nvPr/>
        </p:nvSpPr>
        <p:spPr>
          <a:xfrm>
            <a:off x="731520" y="2231136"/>
            <a:ext cx="7680960" cy="530352"/>
          </a:xfrm>
          <a:prstGeom prst="rect">
            <a:avLst/>
          </a:prstGeom>
          <a:solidFill>
            <a:srgbClr val="0F3D4A"/>
          </a:solidFill>
          <a:ln/>
          <a:effectLst>
            <a:outerShdw sx="100000" sy="100000" kx="0" ky="0" algn="bl" rotWithShape="0" blurRad="76200" dist="25400" dir="8100000">
              <a:srgbClr val="000000">
                <a:alpha val="20000"/>
              </a:srgbClr>
            </a:outerShdw>
          </a:effectLst>
        </p:spPr>
      </p:sp>
      <p:pic>
        <p:nvPicPr>
          <p:cNvPr id="12" name="Image 2" descr="preencoded.png">    </p:cNvPr>
          <p:cNvPicPr>
            <a:picLocks noChangeAspect="1"/>
          </p:cNvPicPr>
          <p:nvPr/>
        </p:nvPicPr>
        <p:blipFill>
          <a:blip r:embed="rId3"/>
          <a:stretch>
            <a:fillRect/>
          </a:stretch>
        </p:blipFill>
        <p:spPr>
          <a:xfrm>
            <a:off x="914400" y="2304288"/>
            <a:ext cx="292608" cy="292608"/>
          </a:xfrm>
          <a:prstGeom prst="rect">
            <a:avLst/>
          </a:prstGeom>
        </p:spPr>
      </p:pic>
      <p:sp>
        <p:nvSpPr>
          <p:cNvPr id="13" name="Text 8"/>
          <p:cNvSpPr/>
          <p:nvPr/>
        </p:nvSpPr>
        <p:spPr>
          <a:xfrm>
            <a:off x="1325880" y="2231136"/>
            <a:ext cx="1371600" cy="530352"/>
          </a:xfrm>
          <a:prstGeom prst="rect">
            <a:avLst/>
          </a:prstGeom>
          <a:noFill/>
          <a:ln/>
        </p:spPr>
        <p:txBody>
          <a:bodyPr wrap="square" lIns="0" tIns="0" rIns="0" bIns="0" rtlCol="0" anchor="ctr"/>
          <a:lstStyle/>
          <a:p>
            <a:pPr indent="0" marL="0">
              <a:buNone/>
            </a:pPr>
            <a:r>
              <a:rPr lang="en-US" sz="1200" b="1" dirty="0">
                <a:solidFill>
                  <a:srgbClr val="F59E0B"/>
                </a:solidFill>
                <a:latin typeface="Arial" pitchFamily="34" charset="0"/>
                <a:ea typeface="Arial" pitchFamily="34" charset="-122"/>
                <a:cs typeface="Arial" pitchFamily="34" charset="-120"/>
              </a:rPr>
              <a:t>PROCEDURE</a:t>
            </a:r>
            <a:endParaRPr lang="en-US" sz="1200" dirty="0"/>
          </a:p>
        </p:txBody>
      </p:sp>
      <p:sp>
        <p:nvSpPr>
          <p:cNvPr id="14" name="Text 9"/>
          <p:cNvSpPr/>
          <p:nvPr/>
        </p:nvSpPr>
        <p:spPr>
          <a:xfrm>
            <a:off x="2743200" y="2231136"/>
            <a:ext cx="5394960" cy="530352"/>
          </a:xfrm>
          <a:prstGeom prst="rect">
            <a:avLst/>
          </a:prstGeom>
          <a:noFill/>
          <a:ln/>
        </p:spPr>
        <p:txBody>
          <a:bodyPr wrap="square" lIns="0" tIns="0" rIns="0" bIns="0" rtlCol="0" anchor="ctr"/>
          <a:lstStyle/>
          <a:p>
            <a:pPr indent="0" marL="0">
              <a:buNone/>
            </a:pPr>
            <a:r>
              <a:rPr lang="en-US" sz="1100" dirty="0">
                <a:solidFill>
                  <a:srgbClr val="B4E4D9"/>
                </a:solidFill>
                <a:latin typeface="Calibri" pitchFamily="34" charset="0"/>
                <a:ea typeface="Calibri" pitchFamily="34" charset="-122"/>
                <a:cs typeface="Calibri" pitchFamily="34" charset="-120"/>
              </a:rPr>
              <a:t>Ingest → Gap Analysis → Draft — structured workflow</a:t>
            </a:r>
            <a:endParaRPr lang="en-US" sz="1100" dirty="0"/>
          </a:p>
        </p:txBody>
      </p:sp>
      <p:sp>
        <p:nvSpPr>
          <p:cNvPr id="15" name="Shape 10"/>
          <p:cNvSpPr/>
          <p:nvPr/>
        </p:nvSpPr>
        <p:spPr>
          <a:xfrm>
            <a:off x="731520" y="2889504"/>
            <a:ext cx="7680960" cy="530352"/>
          </a:xfrm>
          <a:prstGeom prst="rect">
            <a:avLst/>
          </a:prstGeom>
          <a:solidFill>
            <a:srgbClr val="0F3D4A"/>
          </a:solidFill>
          <a:ln/>
          <a:effectLst>
            <a:outerShdw sx="100000" sy="100000" kx="0" ky="0" algn="bl" rotWithShape="0" blurRad="76200" dist="25400" dir="8100000">
              <a:srgbClr val="000000">
                <a:alpha val="20000"/>
              </a:srgbClr>
            </a:outerShdw>
          </a:effectLst>
        </p:spPr>
      </p:sp>
      <p:pic>
        <p:nvPicPr>
          <p:cNvPr id="16" name="Image 3" descr="preencoded.png">    </p:cNvPr>
          <p:cNvPicPr>
            <a:picLocks noChangeAspect="1"/>
          </p:cNvPicPr>
          <p:nvPr/>
        </p:nvPicPr>
        <p:blipFill>
          <a:blip r:embed="rId4"/>
          <a:stretch>
            <a:fillRect/>
          </a:stretch>
        </p:blipFill>
        <p:spPr>
          <a:xfrm>
            <a:off x="914400" y="2962656"/>
            <a:ext cx="292608" cy="292608"/>
          </a:xfrm>
          <a:prstGeom prst="rect">
            <a:avLst/>
          </a:prstGeom>
        </p:spPr>
      </p:pic>
      <p:sp>
        <p:nvSpPr>
          <p:cNvPr id="17" name="Text 11"/>
          <p:cNvSpPr/>
          <p:nvPr/>
        </p:nvSpPr>
        <p:spPr>
          <a:xfrm>
            <a:off x="1325880" y="2889504"/>
            <a:ext cx="1371600" cy="530352"/>
          </a:xfrm>
          <a:prstGeom prst="rect">
            <a:avLst/>
          </a:prstGeom>
          <a:noFill/>
          <a:ln/>
        </p:spPr>
        <p:txBody>
          <a:bodyPr wrap="square" lIns="0" tIns="0" rIns="0" bIns="0" rtlCol="0" anchor="ctr"/>
          <a:lstStyle/>
          <a:p>
            <a:pPr indent="0" marL="0">
              <a:buNone/>
            </a:pPr>
            <a:r>
              <a:rPr lang="en-US" sz="1200" b="1" dirty="0">
                <a:solidFill>
                  <a:srgbClr val="22C55E"/>
                </a:solidFill>
                <a:latin typeface="Arial" pitchFamily="34" charset="0"/>
                <a:ea typeface="Arial" pitchFamily="34" charset="-122"/>
                <a:cs typeface="Arial" pitchFamily="34" charset="-120"/>
              </a:rPr>
              <a:t>VALIDATION</a:t>
            </a:r>
            <a:endParaRPr lang="en-US" sz="1200" dirty="0"/>
          </a:p>
        </p:txBody>
      </p:sp>
      <p:sp>
        <p:nvSpPr>
          <p:cNvPr id="18" name="Text 12"/>
          <p:cNvSpPr/>
          <p:nvPr/>
        </p:nvSpPr>
        <p:spPr>
          <a:xfrm>
            <a:off x="2743200" y="2889504"/>
            <a:ext cx="5394960" cy="530352"/>
          </a:xfrm>
          <a:prstGeom prst="rect">
            <a:avLst/>
          </a:prstGeom>
          <a:noFill/>
          <a:ln/>
        </p:spPr>
        <p:txBody>
          <a:bodyPr wrap="square" lIns="0" tIns="0" rIns="0" bIns="0" rtlCol="0" anchor="ctr"/>
          <a:lstStyle/>
          <a:p>
            <a:pPr indent="0" marL="0">
              <a:buNone/>
            </a:pPr>
            <a:r>
              <a:rPr lang="en-US" sz="1100" dirty="0">
                <a:solidFill>
                  <a:srgbClr val="B4E4D9"/>
                </a:solidFill>
                <a:latin typeface="Calibri" pitchFamily="34" charset="0"/>
                <a:ea typeface="Calibri" pitchFamily="34" charset="-122"/>
                <a:cs typeface="Calibri" pitchFamily="34" charset="-120"/>
              </a:rPr>
              <a:t>Category constraints, percentage cross-refs, missing data flags</a:t>
            </a:r>
            <a:endParaRPr lang="en-US" sz="1100" dirty="0"/>
          </a:p>
        </p:txBody>
      </p:sp>
      <p:sp>
        <p:nvSpPr>
          <p:cNvPr id="19" name="Shape 13"/>
          <p:cNvSpPr/>
          <p:nvPr/>
        </p:nvSpPr>
        <p:spPr>
          <a:xfrm>
            <a:off x="731520" y="3547872"/>
            <a:ext cx="7680960" cy="530352"/>
          </a:xfrm>
          <a:prstGeom prst="rect">
            <a:avLst/>
          </a:prstGeom>
          <a:solidFill>
            <a:srgbClr val="0F3D4A"/>
          </a:solidFill>
          <a:ln/>
          <a:effectLst>
            <a:outerShdw sx="100000" sy="100000" kx="0" ky="0" algn="bl" rotWithShape="0" blurRad="76200" dist="25400" dir="8100000">
              <a:srgbClr val="000000">
                <a:alpha val="20000"/>
              </a:srgbClr>
            </a:outerShdw>
          </a:effectLst>
        </p:spPr>
      </p:sp>
      <p:pic>
        <p:nvPicPr>
          <p:cNvPr id="20" name="Image 4" descr="preencoded.png">    </p:cNvPr>
          <p:cNvPicPr>
            <a:picLocks noChangeAspect="1"/>
          </p:cNvPicPr>
          <p:nvPr/>
        </p:nvPicPr>
        <p:blipFill>
          <a:blip r:embed="rId5"/>
          <a:stretch>
            <a:fillRect/>
          </a:stretch>
        </p:blipFill>
        <p:spPr>
          <a:xfrm>
            <a:off x="914400" y="3621024"/>
            <a:ext cx="292608" cy="292608"/>
          </a:xfrm>
          <a:prstGeom prst="rect">
            <a:avLst/>
          </a:prstGeom>
        </p:spPr>
      </p:pic>
      <p:sp>
        <p:nvSpPr>
          <p:cNvPr id="21" name="Text 14"/>
          <p:cNvSpPr/>
          <p:nvPr/>
        </p:nvSpPr>
        <p:spPr>
          <a:xfrm>
            <a:off x="1325880" y="3547872"/>
            <a:ext cx="1371600" cy="530352"/>
          </a:xfrm>
          <a:prstGeom prst="rect">
            <a:avLst/>
          </a:prstGeom>
          <a:noFill/>
          <a:ln/>
        </p:spPr>
        <p:txBody>
          <a:bodyPr wrap="square" lIns="0" tIns="0" rIns="0" bIns="0" rtlCol="0" anchor="ctr"/>
          <a:lstStyle/>
          <a:p>
            <a:pPr indent="0" marL="0">
              <a:buNone/>
            </a:pPr>
            <a:r>
              <a:rPr lang="en-US" sz="1200" b="1" dirty="0">
                <a:solidFill>
                  <a:srgbClr val="14B8A6"/>
                </a:solidFill>
                <a:latin typeface="Arial" pitchFamily="34" charset="0"/>
                <a:ea typeface="Arial" pitchFamily="34" charset="-122"/>
                <a:cs typeface="Arial" pitchFamily="34" charset="-120"/>
              </a:rPr>
              <a:t>OUTPUT FORMAT</a:t>
            </a:r>
            <a:endParaRPr lang="en-US" sz="1200" dirty="0"/>
          </a:p>
        </p:txBody>
      </p:sp>
      <p:sp>
        <p:nvSpPr>
          <p:cNvPr id="22" name="Text 15"/>
          <p:cNvSpPr/>
          <p:nvPr/>
        </p:nvSpPr>
        <p:spPr>
          <a:xfrm>
            <a:off x="2743200" y="3547872"/>
            <a:ext cx="5394960" cy="530352"/>
          </a:xfrm>
          <a:prstGeom prst="rect">
            <a:avLst/>
          </a:prstGeom>
          <a:noFill/>
          <a:ln/>
        </p:spPr>
        <p:txBody>
          <a:bodyPr wrap="square" lIns="0" tIns="0" rIns="0" bIns="0" rtlCol="0" anchor="ctr"/>
          <a:lstStyle/>
          <a:p>
            <a:pPr indent="0" marL="0">
              <a:buNone/>
            </a:pPr>
            <a:r>
              <a:rPr lang="en-US" sz="1100" dirty="0">
                <a:solidFill>
                  <a:srgbClr val="B4E4D9"/>
                </a:solidFill>
                <a:latin typeface="Calibri" pitchFamily="34" charset="0"/>
                <a:ea typeface="Calibri" pitchFamily="34" charset="-122"/>
                <a:cs typeface="Calibri" pitchFamily="34" charset="-120"/>
              </a:rPr>
              <a:t>BLUF structure, exact slide formatting, tone rules</a:t>
            </a:r>
            <a:endParaRPr lang="en-US" sz="1100" dirty="0"/>
          </a:p>
        </p:txBody>
      </p:sp>
      <p:sp>
        <p:nvSpPr>
          <p:cNvPr id="23" name="Shape 16"/>
          <p:cNvSpPr/>
          <p:nvPr/>
        </p:nvSpPr>
        <p:spPr>
          <a:xfrm>
            <a:off x="731520" y="4297680"/>
            <a:ext cx="7680960" cy="365760"/>
          </a:xfrm>
          <a:prstGeom prst="rect">
            <a:avLst/>
          </a:prstGeom>
          <a:solidFill>
            <a:srgbClr val="0F3D4A"/>
          </a:solidFill>
          <a:ln/>
          <a:effectLst>
            <a:outerShdw sx="100000" sy="100000" kx="0" ky="0" algn="bl" rotWithShape="0" blurRad="76200" dist="25400" dir="8100000">
              <a:srgbClr val="000000">
                <a:alpha val="20000"/>
              </a:srgbClr>
            </a:outerShdw>
          </a:effectLst>
        </p:spPr>
      </p:sp>
      <p:sp>
        <p:nvSpPr>
          <p:cNvPr id="24" name="Text 17"/>
          <p:cNvSpPr/>
          <p:nvPr/>
        </p:nvSpPr>
        <p:spPr>
          <a:xfrm>
            <a:off x="914400" y="4297680"/>
            <a:ext cx="7315200" cy="365760"/>
          </a:xfrm>
          <a:prstGeom prst="rect">
            <a:avLst/>
          </a:prstGeom>
          <a:noFill/>
          <a:ln/>
        </p:spPr>
        <p:txBody>
          <a:bodyPr wrap="square" lIns="0" tIns="0" rIns="0" bIns="0" rtlCol="0" anchor="ctr"/>
          <a:lstStyle/>
          <a:p>
            <a:pPr indent="0" marL="0">
              <a:buNone/>
            </a:pPr>
            <a:r>
              <a:rPr lang="en-US" sz="1000" i="1" dirty="0">
                <a:solidFill>
                  <a:srgbClr val="F59E0B"/>
                </a:solidFill>
                <a:latin typeface="Georgia" pitchFamily="34" charset="0"/>
                <a:ea typeface="Georgia" pitchFamily="34" charset="-122"/>
                <a:cs typeface="Georgia" pitchFamily="34" charset="-120"/>
              </a:rPr>
              <a:t>"I didn't just ask AI to summarize. I gave it a role, a procedure, constraints, and validation rules. That's a system."</a:t>
            </a:r>
            <a:endParaRPr lang="en-US" sz="1000" dirty="0"/>
          </a:p>
        </p:txBody>
      </p:sp>
      <p:sp>
        <p:nvSpPr>
          <p:cNvPr id="25" name="Shape 18"/>
          <p:cNvSpPr/>
          <p:nvPr/>
        </p:nvSpPr>
        <p:spPr>
          <a:xfrm>
            <a:off x="0" y="4800600"/>
            <a:ext cx="9144000" cy="342900"/>
          </a:xfrm>
          <a:prstGeom prst="rect">
            <a:avLst/>
          </a:prstGeom>
          <a:solidFill>
            <a:srgbClr val="14B8A6"/>
          </a:solidFill>
          <a:ln/>
        </p:spPr>
      </p:sp>
      <p:sp>
        <p:nvSpPr>
          <p:cNvPr id="26" name="Text 19"/>
          <p:cNvSpPr/>
          <p:nvPr/>
        </p:nvSpPr>
        <p:spPr>
          <a:xfrm>
            <a:off x="457200" y="4800600"/>
            <a:ext cx="8229600" cy="342900"/>
          </a:xfrm>
          <a:prstGeom prst="rect">
            <a:avLst/>
          </a:prstGeom>
          <a:noFill/>
          <a:ln/>
        </p:spPr>
        <p:txBody>
          <a:bodyPr wrap="square" lIns="0" tIns="0" rIns="0" bIns="0" rtlCol="0" anchor="ctr"/>
          <a:lstStyle/>
          <a:p>
            <a:pPr algn="l" indent="0" marL="0">
              <a:buNone/>
            </a:pPr>
            <a:r>
              <a:rPr lang="en-US" sz="900" b="1" dirty="0">
                <a:solidFill>
                  <a:srgbClr val="081E25"/>
                </a:solidFill>
                <a:latin typeface="Calibri" pitchFamily="34" charset="0"/>
                <a:ea typeface="Calibri" pitchFamily="34" charset="-122"/>
                <a:cs typeface="Calibri" pitchFamily="34" charset="-120"/>
              </a:rPr>
              <a:t>CUSTOM GPT CONFIGURATION</a:t>
            </a:r>
            <a:endParaRPr lang="en-US" sz="900" dirty="0"/>
          </a:p>
        </p:txBody>
      </p:sp>
      <p:sp>
        <p:nvSpPr>
          <p:cNvPr id="27" name="Text 20"/>
          <p:cNvSpPr/>
          <p:nvPr/>
        </p:nvSpPr>
        <p:spPr>
          <a:xfrm>
            <a:off x="8046720" y="4800600"/>
            <a:ext cx="914400" cy="342900"/>
          </a:xfrm>
          <a:prstGeom prst="rect">
            <a:avLst/>
          </a:prstGeom>
          <a:noFill/>
          <a:ln/>
        </p:spPr>
        <p:txBody>
          <a:bodyPr wrap="square" lIns="0" tIns="0" rIns="0" bIns="0" rtlCol="0" anchor="ctr"/>
          <a:lstStyle/>
          <a:p>
            <a:pPr algn="r" indent="0" marL="0">
              <a:buNone/>
            </a:pPr>
            <a:r>
              <a:rPr lang="en-US" sz="800" dirty="0">
                <a:solidFill>
                  <a:srgbClr val="081E25"/>
                </a:solidFill>
                <a:latin typeface="Calibri" pitchFamily="34" charset="0"/>
                <a:ea typeface="Calibri" pitchFamily="34" charset="-122"/>
                <a:cs typeface="Calibri" pitchFamily="34" charset="-120"/>
              </a:rPr>
              <a:t>16 / 31</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2E38"/>
        </a:solidFill>
      </p:bgPr>
    </p:bg>
    <p:spTree>
      <p:nvGrpSpPr>
        <p:cNvPr id="1" name=""/>
        <p:cNvGrpSpPr/>
        <p:nvPr/>
      </p:nvGrpSpPr>
      <p:grpSpPr>
        <a:xfrm>
          <a:off x="0" y="0"/>
          <a:ext cx="0" cy="0"/>
          <a:chOff x="0" y="0"/>
          <a:chExt cx="0" cy="0"/>
        </a:xfrm>
      </p:grpSpPr>
      <p:sp>
        <p:nvSpPr>
          <p:cNvPr id="2" name="Text 0"/>
          <p:cNvSpPr/>
          <p:nvPr/>
        </p:nvSpPr>
        <p:spPr>
          <a:xfrm>
            <a:off x="731520" y="365760"/>
            <a:ext cx="3657600" cy="365760"/>
          </a:xfrm>
          <a:prstGeom prst="rect">
            <a:avLst/>
          </a:prstGeom>
          <a:noFill/>
          <a:ln/>
        </p:spPr>
        <p:txBody>
          <a:bodyPr wrap="square" lIns="0" tIns="0" rIns="0" bIns="0" rtlCol="0" anchor="ctr"/>
          <a:lstStyle/>
          <a:p>
            <a:pPr indent="0" marL="0">
              <a:buNone/>
            </a:pPr>
            <a:r>
              <a:rPr lang="en-US" sz="1400" b="1" spc="300" kern="0" dirty="0">
                <a:solidFill>
                  <a:srgbClr val="14B8A6"/>
                </a:solidFill>
                <a:latin typeface="Arial" pitchFamily="34" charset="0"/>
                <a:ea typeface="Arial" pitchFamily="34" charset="-122"/>
                <a:cs typeface="Arial" pitchFamily="34" charset="-120"/>
              </a:rPr>
              <a:t>THE RESULT</a:t>
            </a:r>
            <a:endParaRPr lang="en-US" sz="1400" dirty="0"/>
          </a:p>
        </p:txBody>
      </p:sp>
      <p:sp>
        <p:nvSpPr>
          <p:cNvPr id="3" name="Shape 1"/>
          <p:cNvSpPr/>
          <p:nvPr/>
        </p:nvSpPr>
        <p:spPr>
          <a:xfrm>
            <a:off x="457200" y="914400"/>
            <a:ext cx="3931920" cy="3474720"/>
          </a:xfrm>
          <a:prstGeom prst="rect">
            <a:avLst/>
          </a:prstGeom>
          <a:solidFill>
            <a:srgbClr val="0D1B21"/>
          </a:solidFill>
          <a:ln/>
          <a:effectLst>
            <a:outerShdw sx="100000" sy="100000" kx="0" ky="0" algn="bl" rotWithShape="0" blurRad="76200" dist="25400" dir="8100000">
              <a:srgbClr val="000000">
                <a:alpha val="20000"/>
              </a:srgbClr>
            </a:outerShdw>
          </a:effectLst>
        </p:spPr>
      </p:sp>
      <p:sp>
        <p:nvSpPr>
          <p:cNvPr id="4" name="Text 2"/>
          <p:cNvSpPr/>
          <p:nvPr/>
        </p:nvSpPr>
        <p:spPr>
          <a:xfrm>
            <a:off x="640080" y="960120"/>
            <a:ext cx="1828800" cy="320040"/>
          </a:xfrm>
          <a:prstGeom prst="rect">
            <a:avLst/>
          </a:prstGeom>
          <a:noFill/>
          <a:ln/>
        </p:spPr>
        <p:txBody>
          <a:bodyPr wrap="square" lIns="0" tIns="0" rIns="0" bIns="0" rtlCol="0" anchor="ctr"/>
          <a:lstStyle/>
          <a:p>
            <a:pPr indent="0" marL="0">
              <a:buNone/>
            </a:pPr>
            <a:r>
              <a:rPr lang="en-US" sz="1000" b="1" dirty="0">
                <a:solidFill>
                  <a:srgbClr val="EF4444"/>
                </a:solidFill>
                <a:latin typeface="Arial" pitchFamily="34" charset="0"/>
                <a:ea typeface="Arial" pitchFamily="34" charset="-122"/>
                <a:cs typeface="Arial" pitchFamily="34" charset="-120"/>
              </a:rPr>
              <a:t>RAW INPUT</a:t>
            </a:r>
            <a:endParaRPr lang="en-US" sz="1000" dirty="0"/>
          </a:p>
        </p:txBody>
      </p:sp>
      <p:sp>
        <p:nvSpPr>
          <p:cNvPr id="5" name="Text 3"/>
          <p:cNvSpPr/>
          <p:nvPr/>
        </p:nvSpPr>
        <p:spPr>
          <a:xfrm>
            <a:off x="640080" y="1371600"/>
            <a:ext cx="3566160" cy="2743200"/>
          </a:xfrm>
          <a:prstGeom prst="rect">
            <a:avLst/>
          </a:prstGeom>
          <a:noFill/>
          <a:ln/>
        </p:spPr>
        <p:txBody>
          <a:bodyPr wrap="square" lIns="0" tIns="0" rIns="0" bIns="0" rtlCol="0" anchor="t"/>
          <a:lstStyle/>
          <a:p>
            <a:pPr indent="0" marL="0">
              <a:buNone/>
            </a:pPr>
            <a:r>
              <a:rPr lang="en-US" sz="1000" dirty="0">
                <a:solidFill>
                  <a:srgbClr val="94A3B8"/>
                </a:solidFill>
                <a:latin typeface="Consolas" pitchFamily="34" charset="0"/>
                <a:ea typeface="Consolas" pitchFamily="34" charset="-122"/>
                <a:cs typeface="Consolas" pitchFamily="34" charset="-120"/>
              </a:rPr>
              <a:t>"Team A finished the Calendly thing.</a:t>
            </a:r>
            <a:endParaRPr lang="en-US" sz="1000" dirty="0"/>
          </a:p>
          <a:p>
            <a:pPr indent="0" marL="0">
              <a:buNone/>
            </a:pPr>
            <a:r>
              <a:rPr lang="en-US" sz="1000" dirty="0">
                <a:solidFill>
                  <a:srgbClr val="94A3B8"/>
                </a:solidFill>
                <a:latin typeface="Consolas" pitchFamily="34" charset="0"/>
                <a:ea typeface="Consolas" pitchFamily="34" charset="-122"/>
                <a:cs typeface="Consolas" pitchFamily="34" charset="-120"/>
              </a:rPr>
              <a:t>Voice assist is mostly done except</a:t>
            </a:r>
            <a:endParaRPr lang="en-US" sz="1000" dirty="0"/>
          </a:p>
          <a:p>
            <a:pPr indent="0" marL="0">
              <a:buNone/>
            </a:pPr>
            <a:r>
              <a:rPr lang="en-US" sz="1000" dirty="0">
                <a:solidFill>
                  <a:srgbClr val="94A3B8"/>
                </a:solidFill>
                <a:latin typeface="Consolas" pitchFamily="34" charset="0"/>
                <a:ea typeface="Consolas" pitchFamily="34" charset="-122"/>
                <a:cs typeface="Consolas" pitchFamily="34" charset="-120"/>
              </a:rPr>
              <a:t>for some edge cases. We spent a lot</a:t>
            </a:r>
            <a:endParaRPr lang="en-US" sz="1000" dirty="0"/>
          </a:p>
          <a:p>
            <a:pPr indent="0" marL="0">
              <a:buNone/>
            </a:pPr>
            <a:r>
              <a:rPr lang="en-US" sz="1000" dirty="0">
                <a:solidFill>
                  <a:srgbClr val="94A3B8"/>
                </a:solidFill>
                <a:latin typeface="Consolas" pitchFamily="34" charset="0"/>
                <a:ea typeface="Consolas" pitchFamily="34" charset="-122"/>
                <a:cs typeface="Consolas" pitchFamily="34" charset="-120"/>
              </a:rPr>
              <a:t>of time on tech debt this month.</a:t>
            </a:r>
            <a:endParaRPr lang="en-US" sz="1000" dirty="0"/>
          </a:p>
          <a:p>
            <a:pPr indent="0" marL="0">
              <a:buNone/>
            </a:pPr>
            <a:r>
              <a:rPr lang="en-US" sz="1000" dirty="0">
                <a:solidFill>
                  <a:srgbClr val="94A3B8"/>
                </a:solidFill>
                <a:latin typeface="Consolas" pitchFamily="34" charset="0"/>
                <a:ea typeface="Consolas" pitchFamily="34" charset="-122"/>
                <a:cs typeface="Consolas" pitchFamily="34" charset="-120"/>
              </a:rPr>
              <a:t>SMS conversion numbers are up I</a:t>
            </a:r>
            <a:endParaRPr lang="en-US" sz="1000" dirty="0"/>
          </a:p>
          <a:p>
            <a:pPr indent="0" marL="0">
              <a:buNone/>
            </a:pPr>
            <a:r>
              <a:rPr lang="en-US" sz="1000" dirty="0">
                <a:solidFill>
                  <a:srgbClr val="94A3B8"/>
                </a:solidFill>
                <a:latin typeface="Consolas" pitchFamily="34" charset="0"/>
                <a:ea typeface="Consolas" pitchFamily="34" charset="-122"/>
                <a:cs typeface="Consolas" pitchFamily="34" charset="-120"/>
              </a:rPr>
              <a:t>think. Need to check. Also some</a:t>
            </a:r>
            <a:endParaRPr lang="en-US" sz="1000" dirty="0"/>
          </a:p>
          <a:p>
            <a:pPr indent="0" marL="0">
              <a:buNone/>
            </a:pPr>
            <a:r>
              <a:rPr lang="en-US" sz="1000" dirty="0">
                <a:solidFill>
                  <a:srgbClr val="94A3B8"/>
                </a:solidFill>
                <a:latin typeface="Consolas" pitchFamily="34" charset="0"/>
                <a:ea typeface="Consolas" pitchFamily="34" charset="-122"/>
                <a:cs typeface="Consolas" pitchFamily="34" charset="-120"/>
              </a:rPr>
              <a:t>bugs were filed for the reseller</a:t>
            </a:r>
            <a:endParaRPr lang="en-US" sz="1000" dirty="0"/>
          </a:p>
          <a:p>
            <a:pPr indent="0" marL="0">
              <a:buNone/>
            </a:pPr>
            <a:r>
              <a:rPr lang="en-US" sz="1000" dirty="0">
                <a:solidFill>
                  <a:srgbClr val="94A3B8"/>
                </a:solidFill>
                <a:latin typeface="Consolas" pitchFamily="34" charset="0"/>
                <a:ea typeface="Consolas" pitchFamily="34" charset="-122"/>
                <a:cs typeface="Consolas" pitchFamily="34" charset="-120"/>
              </a:rPr>
              <a:t>portal. Overall pretty good month."</a:t>
            </a:r>
            <a:endParaRPr lang="en-US" sz="1000" dirty="0"/>
          </a:p>
        </p:txBody>
      </p:sp>
      <p:pic>
        <p:nvPicPr>
          <p:cNvPr id="6" name="Image 0" descr="preencoded.png">    </p:cNvPr>
          <p:cNvPicPr>
            <a:picLocks noChangeAspect="1"/>
          </p:cNvPicPr>
          <p:nvPr/>
        </p:nvPicPr>
        <p:blipFill>
          <a:blip r:embed="rId1"/>
          <a:stretch>
            <a:fillRect/>
          </a:stretch>
        </p:blipFill>
        <p:spPr>
          <a:xfrm>
            <a:off x="4343400" y="2377440"/>
            <a:ext cx="457200" cy="457200"/>
          </a:xfrm>
          <a:prstGeom prst="rect">
            <a:avLst/>
          </a:prstGeom>
        </p:spPr>
      </p:pic>
      <p:sp>
        <p:nvSpPr>
          <p:cNvPr id="7" name="Shape 4"/>
          <p:cNvSpPr/>
          <p:nvPr/>
        </p:nvSpPr>
        <p:spPr>
          <a:xfrm>
            <a:off x="4754880" y="914400"/>
            <a:ext cx="3931920" cy="3474720"/>
          </a:xfrm>
          <a:prstGeom prst="rect">
            <a:avLst/>
          </a:prstGeom>
          <a:solidFill>
            <a:srgbClr val="0D1B21"/>
          </a:solidFill>
          <a:ln/>
          <a:effectLst>
            <a:outerShdw sx="100000" sy="100000" kx="0" ky="0" algn="bl" rotWithShape="0" blurRad="76200" dist="25400" dir="8100000">
              <a:srgbClr val="000000">
                <a:alpha val="20000"/>
              </a:srgbClr>
            </a:outerShdw>
          </a:effectLst>
        </p:spPr>
      </p:sp>
      <p:sp>
        <p:nvSpPr>
          <p:cNvPr id="8" name="Text 5"/>
          <p:cNvSpPr/>
          <p:nvPr/>
        </p:nvSpPr>
        <p:spPr>
          <a:xfrm>
            <a:off x="4937760" y="960120"/>
            <a:ext cx="1828800" cy="320040"/>
          </a:xfrm>
          <a:prstGeom prst="rect">
            <a:avLst/>
          </a:prstGeom>
          <a:noFill/>
          <a:ln/>
        </p:spPr>
        <p:txBody>
          <a:bodyPr wrap="square" lIns="0" tIns="0" rIns="0" bIns="0" rtlCol="0" anchor="ctr"/>
          <a:lstStyle/>
          <a:p>
            <a:pPr indent="0" marL="0">
              <a:buNone/>
            </a:pPr>
            <a:r>
              <a:rPr lang="en-US" sz="1000" b="1" dirty="0">
                <a:solidFill>
                  <a:srgbClr val="22C55E"/>
                </a:solidFill>
                <a:latin typeface="Arial" pitchFamily="34" charset="0"/>
                <a:ea typeface="Arial" pitchFamily="34" charset="-122"/>
                <a:cs typeface="Arial" pitchFamily="34" charset="-120"/>
              </a:rPr>
              <a:t>AI OUTPUT</a:t>
            </a:r>
            <a:endParaRPr lang="en-US" sz="1000" dirty="0"/>
          </a:p>
        </p:txBody>
      </p:sp>
      <p:sp>
        <p:nvSpPr>
          <p:cNvPr id="9" name="Text 6"/>
          <p:cNvSpPr/>
          <p:nvPr/>
        </p:nvSpPr>
        <p:spPr>
          <a:xfrm>
            <a:off x="4937760" y="1371600"/>
            <a:ext cx="3566160" cy="2743200"/>
          </a:xfrm>
          <a:prstGeom prst="rect">
            <a:avLst/>
          </a:prstGeom>
          <a:noFill/>
          <a:ln/>
        </p:spPr>
        <p:txBody>
          <a:bodyPr wrap="square" lIns="0" tIns="0" rIns="0" bIns="0" rtlCol="0" anchor="t"/>
          <a:lstStyle/>
          <a:p>
            <a:pPr indent="0" marL="0">
              <a:buNone/>
            </a:pPr>
            <a:r>
              <a:rPr lang="en-US" sz="1000" b="1" dirty="0">
                <a:solidFill>
                  <a:srgbClr val="5EEAD4"/>
                </a:solidFill>
                <a:latin typeface="Consolas" pitchFamily="34" charset="0"/>
                <a:ea typeface="Consolas" pitchFamily="34" charset="-122"/>
                <a:cs typeface="Consolas" pitchFamily="34" charset="-120"/>
              </a:rPr>
              <a:t>BLUF: Engineering delivered 65%</a:t>
            </a:r>
            <a:endParaRPr lang="en-US" sz="1000" dirty="0"/>
          </a:p>
          <a:p>
            <a:pPr indent="0" marL="0">
              <a:buNone/>
            </a:pPr>
            <a:r>
              <a:rPr lang="en-US" sz="1000" b="1" dirty="0">
                <a:solidFill>
                  <a:srgbClr val="5EEAD4"/>
                </a:solidFill>
                <a:latin typeface="Consolas" pitchFamily="34" charset="0"/>
                <a:ea typeface="Consolas" pitchFamily="34" charset="-122"/>
                <a:cs typeface="Consolas" pitchFamily="34" charset="-120"/>
              </a:rPr>
              <a:t>Growth allocation in December,</a:t>
            </a:r>
            <a:endParaRPr lang="en-US" sz="1000" dirty="0"/>
          </a:p>
          <a:p>
            <a:pPr indent="0" marL="0">
              <a:buNone/>
            </a:pPr>
            <a:r>
              <a:rPr lang="en-US" sz="1000" b="1" dirty="0">
                <a:solidFill>
                  <a:srgbClr val="5EEAD4"/>
                </a:solidFill>
                <a:latin typeface="Consolas" pitchFamily="34" charset="0"/>
                <a:ea typeface="Consolas" pitchFamily="34" charset="-122"/>
                <a:cs typeface="Consolas" pitchFamily="34" charset="-120"/>
              </a:rPr>
              <a:t>tracking to Q4 target.</a:t>
            </a:r>
            <a:endParaRPr lang="en-US" sz="1000" dirty="0"/>
          </a:p>
          <a:p>
            <a:pPr indent="0" marL="0">
              <a:buNone/>
            </a:pPr>
            <a:endParaRPr lang="en-US" sz="1000" dirty="0"/>
          </a:p>
          <a:p>
            <a:pPr indent="0" marL="0">
              <a:buNone/>
            </a:pPr>
            <a:r>
              <a:rPr lang="en-US" sz="1000" dirty="0">
                <a:solidFill>
                  <a:srgbClr val="22C55E"/>
                </a:solidFill>
                <a:latin typeface="Consolas" pitchFamily="34" charset="0"/>
                <a:ea typeface="Consolas" pitchFamily="34" charset="-122"/>
                <a:cs typeface="Consolas" pitchFamily="34" charset="-120"/>
              </a:rPr>
              <a:t>Calendly integration: SHIPPED</a:t>
            </a:r>
            <a:endParaRPr lang="en-US" sz="1000" dirty="0"/>
          </a:p>
          <a:p>
            <a:pPr indent="0" marL="0">
              <a:buNone/>
            </a:pPr>
            <a:r>
              <a:rPr lang="en-US" sz="1000" dirty="0">
                <a:solidFill>
                  <a:srgbClr val="B4E4D9"/>
                </a:solidFill>
                <a:latin typeface="Consolas" pitchFamily="34" charset="0"/>
                <a:ea typeface="Consolas" pitchFamily="34" charset="-122"/>
                <a:cs typeface="Consolas" pitchFamily="34" charset="-120"/>
              </a:rPr>
              <a:t>Voice Assist: 93% complete</a:t>
            </a:r>
            <a:endParaRPr lang="en-US" sz="1000" dirty="0"/>
          </a:p>
          <a:p>
            <a:pPr indent="0" marL="0">
              <a:buNone/>
            </a:pPr>
            <a:r>
              <a:rPr lang="en-US" sz="1000" dirty="0">
                <a:solidFill>
                  <a:srgbClr val="B4E4D9"/>
                </a:solidFill>
                <a:latin typeface="Consolas" pitchFamily="34" charset="0"/>
                <a:ea typeface="Consolas" pitchFamily="34" charset="-122"/>
                <a:cs typeface="Consolas" pitchFamily="34" charset="-120"/>
              </a:rPr>
              <a:t>KTLO: 23% (within seasonal range)</a:t>
            </a:r>
            <a:endParaRPr lang="en-US" sz="1000" dirty="0"/>
          </a:p>
          <a:p>
            <a:pPr indent="0" marL="0">
              <a:buNone/>
            </a:pPr>
            <a:r>
              <a:rPr lang="en-US" sz="1000" dirty="0">
                <a:solidFill>
                  <a:srgbClr val="F59E0B"/>
                </a:solidFill>
                <a:latin typeface="Consolas" pitchFamily="34" charset="0"/>
                <a:ea typeface="Consolas" pitchFamily="34" charset="-122"/>
                <a:cs typeface="Consolas" pitchFamily="34" charset="-120"/>
              </a:rPr>
              <a:t>⚠ FLAG: SMS conversion data needed</a:t>
            </a:r>
            <a:endParaRPr lang="en-US" sz="1000" dirty="0"/>
          </a:p>
        </p:txBody>
      </p:sp>
      <p:sp>
        <p:nvSpPr>
          <p:cNvPr id="10" name="Shape 7"/>
          <p:cNvSpPr/>
          <p:nvPr/>
        </p:nvSpPr>
        <p:spPr>
          <a:xfrm>
            <a:off x="0" y="4800600"/>
            <a:ext cx="9144000" cy="342900"/>
          </a:xfrm>
          <a:prstGeom prst="rect">
            <a:avLst/>
          </a:prstGeom>
          <a:solidFill>
            <a:srgbClr val="14B8A6"/>
          </a:solidFill>
          <a:ln/>
        </p:spPr>
      </p:sp>
      <p:sp>
        <p:nvSpPr>
          <p:cNvPr id="11" name="Text 8"/>
          <p:cNvSpPr/>
          <p:nvPr/>
        </p:nvSpPr>
        <p:spPr>
          <a:xfrm>
            <a:off x="457200" y="4800600"/>
            <a:ext cx="8229600" cy="342900"/>
          </a:xfrm>
          <a:prstGeom prst="rect">
            <a:avLst/>
          </a:prstGeom>
          <a:noFill/>
          <a:ln/>
        </p:spPr>
        <p:txBody>
          <a:bodyPr wrap="square" lIns="0" tIns="0" rIns="0" bIns="0" rtlCol="0" anchor="ctr"/>
          <a:lstStyle/>
          <a:p>
            <a:pPr algn="l" indent="0" marL="0">
              <a:buNone/>
            </a:pPr>
            <a:r>
              <a:rPr lang="en-US" sz="900" b="1" dirty="0">
                <a:solidFill>
                  <a:srgbClr val="081E25"/>
                </a:solidFill>
                <a:latin typeface="Calibri" pitchFamily="34" charset="0"/>
                <a:ea typeface="Calibri" pitchFamily="34" charset="-122"/>
                <a:cs typeface="Calibri" pitchFamily="34" charset="-120"/>
              </a:rPr>
              <a:t>CUSTOM GPT CONFIGURATION</a:t>
            </a:r>
            <a:endParaRPr lang="en-US" sz="900" dirty="0"/>
          </a:p>
        </p:txBody>
      </p:sp>
      <p:sp>
        <p:nvSpPr>
          <p:cNvPr id="12" name="Text 9"/>
          <p:cNvSpPr/>
          <p:nvPr/>
        </p:nvSpPr>
        <p:spPr>
          <a:xfrm>
            <a:off x="8046720" y="4800600"/>
            <a:ext cx="914400" cy="342900"/>
          </a:xfrm>
          <a:prstGeom prst="rect">
            <a:avLst/>
          </a:prstGeom>
          <a:noFill/>
          <a:ln/>
        </p:spPr>
        <p:txBody>
          <a:bodyPr wrap="square" lIns="0" tIns="0" rIns="0" bIns="0" rtlCol="0" anchor="ctr"/>
          <a:lstStyle/>
          <a:p>
            <a:pPr algn="r" indent="0" marL="0">
              <a:buNone/>
            </a:pPr>
            <a:r>
              <a:rPr lang="en-US" sz="800" dirty="0">
                <a:solidFill>
                  <a:srgbClr val="081E25"/>
                </a:solidFill>
                <a:latin typeface="Calibri" pitchFamily="34" charset="0"/>
                <a:ea typeface="Calibri" pitchFamily="34" charset="-122"/>
                <a:cs typeface="Calibri" pitchFamily="34" charset="-120"/>
              </a:rPr>
              <a:t>17 / 31</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81E25"/>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F59E0B"/>
          </a:solidFill>
          <a:ln/>
        </p:spPr>
      </p:sp>
      <p:sp>
        <p:nvSpPr>
          <p:cNvPr id="3" name="Shape 1"/>
          <p:cNvSpPr/>
          <p:nvPr/>
        </p:nvSpPr>
        <p:spPr>
          <a:xfrm>
            <a:off x="0" y="0"/>
            <a:ext cx="137160" cy="5143500"/>
          </a:xfrm>
          <a:prstGeom prst="rect">
            <a:avLst/>
          </a:prstGeom>
          <a:solidFill>
            <a:srgbClr val="F59E0B"/>
          </a:solidFill>
          <a:ln/>
        </p:spPr>
      </p:sp>
      <p:pic>
        <p:nvPicPr>
          <p:cNvPr id="4" name="Image 0" descr="preencoded.png">    </p:cNvPr>
          <p:cNvPicPr>
            <a:picLocks noChangeAspect="1"/>
          </p:cNvPicPr>
          <p:nvPr/>
        </p:nvPicPr>
        <p:blipFill>
          <a:blip r:embed="rId1"/>
          <a:stretch>
            <a:fillRect/>
          </a:stretch>
        </p:blipFill>
        <p:spPr>
          <a:xfrm>
            <a:off x="731520" y="731520"/>
            <a:ext cx="457200" cy="457200"/>
          </a:xfrm>
          <a:prstGeom prst="rect">
            <a:avLst/>
          </a:prstGeom>
        </p:spPr>
      </p:pic>
      <p:sp>
        <p:nvSpPr>
          <p:cNvPr id="5" name="Text 2"/>
          <p:cNvSpPr/>
          <p:nvPr/>
        </p:nvSpPr>
        <p:spPr>
          <a:xfrm>
            <a:off x="1371600" y="731520"/>
            <a:ext cx="4572000" cy="457200"/>
          </a:xfrm>
          <a:prstGeom prst="rect">
            <a:avLst/>
          </a:prstGeom>
          <a:noFill/>
          <a:ln/>
        </p:spPr>
        <p:txBody>
          <a:bodyPr wrap="square" lIns="0" tIns="0" rIns="0" bIns="0" rtlCol="0" anchor="ctr"/>
          <a:lstStyle/>
          <a:p>
            <a:pPr indent="0" marL="0">
              <a:buNone/>
            </a:pPr>
            <a:r>
              <a:rPr lang="en-US" sz="1400" b="1" spc="400" kern="0" dirty="0">
                <a:solidFill>
                  <a:srgbClr val="F59E0B"/>
                </a:solidFill>
                <a:latin typeface="Arial" pitchFamily="34" charset="0"/>
                <a:ea typeface="Arial" pitchFamily="34" charset="-122"/>
                <a:cs typeface="Arial" pitchFamily="34" charset="-120"/>
              </a:rPr>
              <a:t>HEADLINE ACT</a:t>
            </a:r>
            <a:endParaRPr lang="en-US" sz="1400" dirty="0"/>
          </a:p>
        </p:txBody>
      </p:sp>
      <p:sp>
        <p:nvSpPr>
          <p:cNvPr id="6" name="Text 3"/>
          <p:cNvSpPr/>
          <p:nvPr/>
        </p:nvSpPr>
        <p:spPr>
          <a:xfrm>
            <a:off x="731520" y="1463040"/>
            <a:ext cx="7315200" cy="1645920"/>
          </a:xfrm>
          <a:prstGeom prst="rect">
            <a:avLst/>
          </a:prstGeom>
          <a:noFill/>
          <a:ln/>
        </p:spPr>
        <p:txBody>
          <a:bodyPr wrap="square" lIns="0" tIns="0" rIns="0" bIns="0" rtlCol="0" anchor="ctr"/>
          <a:lstStyle/>
          <a:p>
            <a:pPr indent="0" marL="0">
              <a:buNone/>
            </a:pPr>
            <a:r>
              <a:rPr lang="en-US" sz="4400" dirty="0">
                <a:solidFill>
                  <a:srgbClr val="F0FDFA"/>
                </a:solidFill>
                <a:latin typeface="Arial Black" pitchFamily="34" charset="0"/>
                <a:ea typeface="Arial Black" pitchFamily="34" charset="-122"/>
                <a:cs typeface="Arial Black" pitchFamily="34" charset="-120"/>
              </a:rPr>
              <a:t>Presentation</a:t>
            </a:r>
            <a:endParaRPr lang="en-US" sz="4400" dirty="0"/>
          </a:p>
          <a:p>
            <a:pPr indent="0" marL="0">
              <a:buNone/>
            </a:pPr>
            <a:r>
              <a:rPr lang="en-US" sz="4400" dirty="0">
                <a:solidFill>
                  <a:srgbClr val="F0FDFA"/>
                </a:solidFill>
                <a:latin typeface="Arial Black" pitchFamily="34" charset="0"/>
                <a:ea typeface="Arial Black" pitchFamily="34" charset="-122"/>
                <a:cs typeface="Arial Black" pitchFamily="34" charset="-120"/>
              </a:rPr>
              <a:t>Persona Analyzer</a:t>
            </a:r>
            <a:endParaRPr lang="en-US" sz="4400" dirty="0"/>
          </a:p>
        </p:txBody>
      </p:sp>
      <p:sp>
        <p:nvSpPr>
          <p:cNvPr id="7" name="Text 4"/>
          <p:cNvSpPr/>
          <p:nvPr/>
        </p:nvSpPr>
        <p:spPr>
          <a:xfrm>
            <a:off x="731520" y="3200400"/>
            <a:ext cx="7315200" cy="731520"/>
          </a:xfrm>
          <a:prstGeom prst="rect">
            <a:avLst/>
          </a:prstGeom>
          <a:noFill/>
          <a:ln/>
        </p:spPr>
        <p:txBody>
          <a:bodyPr wrap="square" lIns="0" tIns="0" rIns="0" bIns="0" rtlCol="0" anchor="ctr"/>
          <a:lstStyle/>
          <a:p>
            <a:pPr indent="0" marL="0">
              <a:buNone/>
            </a:pPr>
            <a:r>
              <a:rPr lang="en-US" sz="1600" dirty="0">
                <a:solidFill>
                  <a:srgbClr val="5EEAD4"/>
                </a:solidFill>
                <a:latin typeface="Calibri" pitchFamily="34" charset="0"/>
                <a:ea typeface="Calibri" pitchFamily="34" charset="-122"/>
                <a:cs typeface="Calibri" pitchFamily="34" charset="-120"/>
              </a:rPr>
              <a:t>11 executive personas. Live audience participation.</a:t>
            </a:r>
            <a:endParaRPr lang="en-US" sz="1600" dirty="0"/>
          </a:p>
          <a:p>
            <a:pPr indent="0" marL="0">
              <a:buNone/>
            </a:pPr>
            <a:r>
              <a:rPr lang="en-US" sz="1600" dirty="0">
                <a:solidFill>
                  <a:srgbClr val="5EEAD4"/>
                </a:solidFill>
                <a:latin typeface="Calibri" pitchFamily="34" charset="0"/>
                <a:ea typeface="Calibri" pitchFamily="34" charset="-122"/>
                <a:cs typeface="Calibri" pitchFamily="34" charset="-120"/>
              </a:rPr>
              <a:t>We analyze THIS talk in real time.</a:t>
            </a:r>
            <a:endParaRPr lang="en-US" sz="1600" dirty="0"/>
          </a:p>
        </p:txBody>
      </p:sp>
      <p:sp>
        <p:nvSpPr>
          <p:cNvPr id="8" name="Shape 5"/>
          <p:cNvSpPr/>
          <p:nvPr/>
        </p:nvSpPr>
        <p:spPr>
          <a:xfrm>
            <a:off x="731520" y="4114800"/>
            <a:ext cx="4572000" cy="502920"/>
          </a:xfrm>
          <a:prstGeom prst="rect">
            <a:avLst/>
          </a:prstGeom>
          <a:solidFill>
            <a:srgbClr val="0F3D4A"/>
          </a:solidFill>
          <a:ln/>
          <a:effectLst>
            <a:outerShdw sx="100000" sy="100000" kx="0" ky="0" algn="bl" rotWithShape="0" blurRad="76200" dist="25400" dir="8100000">
              <a:srgbClr val="000000">
                <a:alpha val="20000"/>
              </a:srgbClr>
            </a:outerShdw>
          </a:effectLst>
        </p:spPr>
      </p:sp>
      <p:sp>
        <p:nvSpPr>
          <p:cNvPr id="9" name="Shape 6"/>
          <p:cNvSpPr/>
          <p:nvPr/>
        </p:nvSpPr>
        <p:spPr>
          <a:xfrm>
            <a:off x="731520" y="4114800"/>
            <a:ext cx="54864" cy="502920"/>
          </a:xfrm>
          <a:prstGeom prst="rect">
            <a:avLst/>
          </a:prstGeom>
          <a:solidFill>
            <a:srgbClr val="F59E0B"/>
          </a:solidFill>
          <a:ln/>
        </p:spPr>
      </p:sp>
      <p:sp>
        <p:nvSpPr>
          <p:cNvPr id="10" name="Text 7"/>
          <p:cNvSpPr/>
          <p:nvPr/>
        </p:nvSpPr>
        <p:spPr>
          <a:xfrm>
            <a:off x="1005840" y="4114800"/>
            <a:ext cx="4114800" cy="502920"/>
          </a:xfrm>
          <a:prstGeom prst="rect">
            <a:avLst/>
          </a:prstGeom>
          <a:noFill/>
          <a:ln/>
        </p:spPr>
        <p:txBody>
          <a:bodyPr wrap="square" lIns="0" tIns="0" rIns="0" bIns="0"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Pattern: Draft → Fact-Check → Refine</a:t>
            </a:r>
            <a:endParaRPr lang="en-US" sz="1300" dirty="0"/>
          </a:p>
        </p:txBody>
      </p:sp>
      <p:sp>
        <p:nvSpPr>
          <p:cNvPr id="11" name="Shape 8"/>
          <p:cNvSpPr/>
          <p:nvPr/>
        </p:nvSpPr>
        <p:spPr>
          <a:xfrm>
            <a:off x="0" y="4800600"/>
            <a:ext cx="9144000" cy="342900"/>
          </a:xfrm>
          <a:prstGeom prst="rect">
            <a:avLst/>
          </a:prstGeom>
          <a:solidFill>
            <a:srgbClr val="14B8A6"/>
          </a:solidFill>
          <a:ln/>
        </p:spPr>
      </p:sp>
      <p:sp>
        <p:nvSpPr>
          <p:cNvPr id="12" name="Text 9"/>
          <p:cNvSpPr/>
          <p:nvPr/>
        </p:nvSpPr>
        <p:spPr>
          <a:xfrm>
            <a:off x="457200" y="4800600"/>
            <a:ext cx="8229600" cy="342900"/>
          </a:xfrm>
          <a:prstGeom prst="rect">
            <a:avLst/>
          </a:prstGeom>
          <a:noFill/>
          <a:ln/>
        </p:spPr>
        <p:txBody>
          <a:bodyPr wrap="square" lIns="0" tIns="0" rIns="0" bIns="0" rtlCol="0" anchor="ctr"/>
          <a:lstStyle/>
          <a:p>
            <a:pPr algn="l" indent="0" marL="0">
              <a:buNone/>
            </a:pPr>
            <a:r>
              <a:rPr lang="en-US" sz="900" b="1" dirty="0">
                <a:solidFill>
                  <a:srgbClr val="081E25"/>
                </a:solidFill>
                <a:latin typeface="Calibri" pitchFamily="34" charset="0"/>
                <a:ea typeface="Calibri" pitchFamily="34" charset="-122"/>
                <a:cs typeface="Calibri" pitchFamily="34" charset="-120"/>
              </a:rPr>
              <a:t>PRESENTATION PERSONA ANALYZER</a:t>
            </a:r>
            <a:endParaRPr lang="en-US" sz="900" dirty="0"/>
          </a:p>
        </p:txBody>
      </p:sp>
      <p:sp>
        <p:nvSpPr>
          <p:cNvPr id="13" name="Text 10"/>
          <p:cNvSpPr/>
          <p:nvPr/>
        </p:nvSpPr>
        <p:spPr>
          <a:xfrm>
            <a:off x="8046720" y="4800600"/>
            <a:ext cx="914400" cy="342900"/>
          </a:xfrm>
          <a:prstGeom prst="rect">
            <a:avLst/>
          </a:prstGeom>
          <a:noFill/>
          <a:ln/>
        </p:spPr>
        <p:txBody>
          <a:bodyPr wrap="square" lIns="0" tIns="0" rIns="0" bIns="0" rtlCol="0" anchor="ctr"/>
          <a:lstStyle/>
          <a:p>
            <a:pPr algn="r" indent="0" marL="0">
              <a:buNone/>
            </a:pPr>
            <a:r>
              <a:rPr lang="en-US" sz="800" dirty="0">
                <a:solidFill>
                  <a:srgbClr val="081E25"/>
                </a:solidFill>
                <a:latin typeface="Calibri" pitchFamily="34" charset="0"/>
                <a:ea typeface="Calibri" pitchFamily="34" charset="-122"/>
                <a:cs typeface="Calibri" pitchFamily="34" charset="-120"/>
              </a:rPr>
              <a:t>18 / 31</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2E38"/>
        </a:solidFill>
      </p:bgPr>
    </p:bg>
    <p:spTree>
      <p:nvGrpSpPr>
        <p:cNvPr id="1" name=""/>
        <p:cNvGrpSpPr/>
        <p:nvPr/>
      </p:nvGrpSpPr>
      <p:grpSpPr>
        <a:xfrm>
          <a:off x="0" y="0"/>
          <a:ext cx="0" cy="0"/>
          <a:chOff x="0" y="0"/>
          <a:chExt cx="0" cy="0"/>
        </a:xfrm>
      </p:grpSpPr>
      <p:sp>
        <p:nvSpPr>
          <p:cNvPr id="2" name="Text 0"/>
          <p:cNvSpPr/>
          <p:nvPr/>
        </p:nvSpPr>
        <p:spPr>
          <a:xfrm>
            <a:off x="731520" y="365760"/>
            <a:ext cx="5486400" cy="365760"/>
          </a:xfrm>
          <a:prstGeom prst="rect">
            <a:avLst/>
          </a:prstGeom>
          <a:noFill/>
          <a:ln/>
        </p:spPr>
        <p:txBody>
          <a:bodyPr wrap="square" lIns="0" tIns="0" rIns="0" bIns="0" rtlCol="0" anchor="ctr"/>
          <a:lstStyle/>
          <a:p>
            <a:pPr indent="0" marL="0">
              <a:buNone/>
            </a:pPr>
            <a:r>
              <a:rPr lang="en-US" sz="1400" b="1" spc="300" kern="0" dirty="0">
                <a:solidFill>
                  <a:srgbClr val="F59E0B"/>
                </a:solidFill>
                <a:latin typeface="Arial" pitchFamily="34" charset="0"/>
                <a:ea typeface="Arial" pitchFamily="34" charset="-122"/>
                <a:cs typeface="Arial" pitchFamily="34" charset="-120"/>
              </a:rPr>
              <a:t>CHOOSE YOUR PERSONA</a:t>
            </a:r>
            <a:endParaRPr lang="en-US" sz="1400" dirty="0"/>
          </a:p>
        </p:txBody>
      </p:sp>
      <p:sp>
        <p:nvSpPr>
          <p:cNvPr id="3" name="Text 1"/>
          <p:cNvSpPr/>
          <p:nvPr/>
        </p:nvSpPr>
        <p:spPr>
          <a:xfrm>
            <a:off x="731520" y="822960"/>
            <a:ext cx="7315200" cy="365760"/>
          </a:xfrm>
          <a:prstGeom prst="rect">
            <a:avLst/>
          </a:prstGeom>
          <a:noFill/>
          <a:ln/>
        </p:spPr>
        <p:txBody>
          <a:bodyPr wrap="square" lIns="0" tIns="0" rIns="0" bIns="0" rtlCol="0" anchor="ctr"/>
          <a:lstStyle/>
          <a:p>
            <a:pPr indent="0" marL="0">
              <a:buNone/>
            </a:pPr>
            <a:r>
              <a:rPr lang="en-US" sz="1800" dirty="0">
                <a:solidFill>
                  <a:srgbClr val="94A3B8"/>
                </a:solidFill>
                <a:latin typeface="Calibri" pitchFamily="34" charset="0"/>
                <a:ea typeface="Calibri" pitchFamily="34" charset="-122"/>
                <a:cs typeface="Calibri" pitchFamily="34" charset="-120"/>
              </a:rPr>
              <a:t>Cheer for your pick. Loudest wins.</a:t>
            </a:r>
            <a:endParaRPr lang="en-US" sz="1800" dirty="0"/>
          </a:p>
        </p:txBody>
      </p:sp>
      <p:sp>
        <p:nvSpPr>
          <p:cNvPr id="4" name="Shape 2"/>
          <p:cNvSpPr/>
          <p:nvPr/>
        </p:nvSpPr>
        <p:spPr>
          <a:xfrm>
            <a:off x="731520" y="1371600"/>
            <a:ext cx="7680960" cy="731520"/>
          </a:xfrm>
          <a:prstGeom prst="rect">
            <a:avLst/>
          </a:prstGeom>
          <a:solidFill>
            <a:srgbClr val="0F3D4A"/>
          </a:solidFill>
          <a:ln/>
          <a:effectLst>
            <a:outerShdw sx="100000" sy="100000" kx="0" ky="0" algn="bl" rotWithShape="0" blurRad="76200" dist="25400" dir="8100000">
              <a:srgbClr val="000000">
                <a:alpha val="20000"/>
              </a:srgbClr>
            </a:outerShdw>
          </a:effectLst>
        </p:spPr>
      </p:sp>
      <p:sp>
        <p:nvSpPr>
          <p:cNvPr id="5" name="Shape 3"/>
          <p:cNvSpPr/>
          <p:nvPr/>
        </p:nvSpPr>
        <p:spPr>
          <a:xfrm>
            <a:off x="731520" y="1371600"/>
            <a:ext cx="731520" cy="731520"/>
          </a:xfrm>
          <a:prstGeom prst="rect">
            <a:avLst/>
          </a:prstGeom>
          <a:solidFill>
            <a:srgbClr val="14B8A6"/>
          </a:solidFill>
          <a:ln/>
        </p:spPr>
      </p:sp>
      <p:sp>
        <p:nvSpPr>
          <p:cNvPr id="6" name="Text 4"/>
          <p:cNvSpPr/>
          <p:nvPr/>
        </p:nvSpPr>
        <p:spPr>
          <a:xfrm>
            <a:off x="731520" y="1371600"/>
            <a:ext cx="731520" cy="731520"/>
          </a:xfrm>
          <a:prstGeom prst="rect">
            <a:avLst/>
          </a:prstGeom>
          <a:noFill/>
          <a:ln/>
        </p:spPr>
        <p:txBody>
          <a:bodyPr wrap="square" lIns="0" tIns="0" rIns="0" bIns="0" rtlCol="0" anchor="ctr"/>
          <a:lstStyle/>
          <a:p>
            <a:pPr algn="ctr" indent="0" marL="0">
              <a:buNone/>
            </a:pPr>
            <a:r>
              <a:rPr lang="en-US" sz="2800" dirty="0">
                <a:solidFill>
                  <a:srgbClr val="081E25"/>
                </a:solidFill>
                <a:latin typeface="Arial Black" pitchFamily="34" charset="0"/>
                <a:ea typeface="Arial Black" pitchFamily="34" charset="-122"/>
                <a:cs typeface="Arial Black" pitchFamily="34" charset="-120"/>
              </a:rPr>
              <a:t>A</a:t>
            </a:r>
            <a:endParaRPr lang="en-US" sz="2800" dirty="0"/>
          </a:p>
        </p:txBody>
      </p:sp>
      <p:sp>
        <p:nvSpPr>
          <p:cNvPr id="7" name="Text 5"/>
          <p:cNvSpPr/>
          <p:nvPr/>
        </p:nvSpPr>
        <p:spPr>
          <a:xfrm>
            <a:off x="1645920" y="1371600"/>
            <a:ext cx="2286000" cy="731520"/>
          </a:xfrm>
          <a:prstGeom prst="rect">
            <a:avLst/>
          </a:prstGeom>
          <a:noFill/>
          <a:ln/>
        </p:spPr>
        <p:txBody>
          <a:bodyPr wrap="square" lIns="0" tIns="0" rIns="0" bIns="0" rtlCol="0" anchor="ctr"/>
          <a:lstStyle/>
          <a:p>
            <a:pPr indent="0" marL="0">
              <a:buNone/>
            </a:pPr>
            <a:r>
              <a:rPr lang="en-US" sz="1800" b="1" dirty="0">
                <a:solidFill>
                  <a:srgbClr val="F0FDFA"/>
                </a:solidFill>
                <a:latin typeface="Arial" pitchFamily="34" charset="0"/>
                <a:ea typeface="Arial" pitchFamily="34" charset="-122"/>
                <a:cs typeface="Arial" pitchFamily="34" charset="-120"/>
              </a:rPr>
              <a:t>CEO</a:t>
            </a:r>
            <a:endParaRPr lang="en-US" sz="1800" dirty="0"/>
          </a:p>
        </p:txBody>
      </p:sp>
      <p:sp>
        <p:nvSpPr>
          <p:cNvPr id="8" name="Text 6"/>
          <p:cNvSpPr/>
          <p:nvPr/>
        </p:nvSpPr>
        <p:spPr>
          <a:xfrm>
            <a:off x="3931920" y="1371600"/>
            <a:ext cx="4297680" cy="731520"/>
          </a:xfrm>
          <a:prstGeom prst="rect">
            <a:avLst/>
          </a:prstGeom>
          <a:noFill/>
          <a:ln/>
        </p:spPr>
        <p:txBody>
          <a:bodyPr wrap="square" lIns="0" tIns="0" rIns="0" bIns="0" rtlCol="0" anchor="ctr"/>
          <a:lstStyle/>
          <a:p>
            <a:pPr indent="0" marL="0">
              <a:buNone/>
            </a:pPr>
            <a:r>
              <a:rPr lang="en-US" sz="1300" i="1" dirty="0">
                <a:solidFill>
                  <a:srgbClr val="94A3B8"/>
                </a:solidFill>
                <a:latin typeface="Georgia" pitchFamily="34" charset="0"/>
                <a:ea typeface="Georgia" pitchFamily="34" charset="-122"/>
                <a:cs typeface="Georgia" pitchFamily="34" charset="-120"/>
              </a:rPr>
              <a:t>"Does this presentation move the needle?"</a:t>
            </a:r>
            <a:endParaRPr lang="en-US" sz="1300" dirty="0"/>
          </a:p>
        </p:txBody>
      </p:sp>
      <p:sp>
        <p:nvSpPr>
          <p:cNvPr id="9" name="Shape 7"/>
          <p:cNvSpPr/>
          <p:nvPr/>
        </p:nvSpPr>
        <p:spPr>
          <a:xfrm>
            <a:off x="731520" y="2240280"/>
            <a:ext cx="7680960" cy="731520"/>
          </a:xfrm>
          <a:prstGeom prst="rect">
            <a:avLst/>
          </a:prstGeom>
          <a:solidFill>
            <a:srgbClr val="0F3D4A"/>
          </a:solidFill>
          <a:ln/>
          <a:effectLst>
            <a:outerShdw sx="100000" sy="100000" kx="0" ky="0" algn="bl" rotWithShape="0" blurRad="76200" dist="25400" dir="8100000">
              <a:srgbClr val="000000">
                <a:alpha val="20000"/>
              </a:srgbClr>
            </a:outerShdw>
          </a:effectLst>
        </p:spPr>
      </p:sp>
      <p:sp>
        <p:nvSpPr>
          <p:cNvPr id="10" name="Shape 8"/>
          <p:cNvSpPr/>
          <p:nvPr/>
        </p:nvSpPr>
        <p:spPr>
          <a:xfrm>
            <a:off x="731520" y="2240280"/>
            <a:ext cx="731520" cy="731520"/>
          </a:xfrm>
          <a:prstGeom prst="rect">
            <a:avLst/>
          </a:prstGeom>
          <a:solidFill>
            <a:srgbClr val="5EEAD4"/>
          </a:solidFill>
          <a:ln/>
        </p:spPr>
      </p:sp>
      <p:sp>
        <p:nvSpPr>
          <p:cNvPr id="11" name="Text 9"/>
          <p:cNvSpPr/>
          <p:nvPr/>
        </p:nvSpPr>
        <p:spPr>
          <a:xfrm>
            <a:off x="731520" y="2240280"/>
            <a:ext cx="731520" cy="731520"/>
          </a:xfrm>
          <a:prstGeom prst="rect">
            <a:avLst/>
          </a:prstGeom>
          <a:noFill/>
          <a:ln/>
        </p:spPr>
        <p:txBody>
          <a:bodyPr wrap="square" lIns="0" tIns="0" rIns="0" bIns="0" rtlCol="0" anchor="ctr"/>
          <a:lstStyle/>
          <a:p>
            <a:pPr algn="ctr" indent="0" marL="0">
              <a:buNone/>
            </a:pPr>
            <a:r>
              <a:rPr lang="en-US" sz="2800" dirty="0">
                <a:solidFill>
                  <a:srgbClr val="081E25"/>
                </a:solidFill>
                <a:latin typeface="Arial Black" pitchFamily="34" charset="0"/>
                <a:ea typeface="Arial Black" pitchFamily="34" charset="-122"/>
                <a:cs typeface="Arial Black" pitchFamily="34" charset="-120"/>
              </a:rPr>
              <a:t>B</a:t>
            </a:r>
            <a:endParaRPr lang="en-US" sz="2800" dirty="0"/>
          </a:p>
        </p:txBody>
      </p:sp>
      <p:sp>
        <p:nvSpPr>
          <p:cNvPr id="12" name="Text 10"/>
          <p:cNvSpPr/>
          <p:nvPr/>
        </p:nvSpPr>
        <p:spPr>
          <a:xfrm>
            <a:off x="1645920" y="2240280"/>
            <a:ext cx="2286000" cy="731520"/>
          </a:xfrm>
          <a:prstGeom prst="rect">
            <a:avLst/>
          </a:prstGeom>
          <a:noFill/>
          <a:ln/>
        </p:spPr>
        <p:txBody>
          <a:bodyPr wrap="square" lIns="0" tIns="0" rIns="0" bIns="0" rtlCol="0" anchor="ctr"/>
          <a:lstStyle/>
          <a:p>
            <a:pPr indent="0" marL="0">
              <a:buNone/>
            </a:pPr>
            <a:r>
              <a:rPr lang="en-US" sz="1800" b="1" dirty="0">
                <a:solidFill>
                  <a:srgbClr val="F0FDFA"/>
                </a:solidFill>
                <a:latin typeface="Arial" pitchFamily="34" charset="0"/>
                <a:ea typeface="Arial" pitchFamily="34" charset="-122"/>
                <a:cs typeface="Arial" pitchFamily="34" charset="-120"/>
              </a:rPr>
              <a:t>VP Engineering</a:t>
            </a:r>
            <a:endParaRPr lang="en-US" sz="1800" dirty="0"/>
          </a:p>
        </p:txBody>
      </p:sp>
      <p:sp>
        <p:nvSpPr>
          <p:cNvPr id="13" name="Text 11"/>
          <p:cNvSpPr/>
          <p:nvPr/>
        </p:nvSpPr>
        <p:spPr>
          <a:xfrm>
            <a:off x="3931920" y="2240280"/>
            <a:ext cx="4297680" cy="731520"/>
          </a:xfrm>
          <a:prstGeom prst="rect">
            <a:avLst/>
          </a:prstGeom>
          <a:noFill/>
          <a:ln/>
        </p:spPr>
        <p:txBody>
          <a:bodyPr wrap="square" lIns="0" tIns="0" rIns="0" bIns="0" rtlCol="0" anchor="ctr"/>
          <a:lstStyle/>
          <a:p>
            <a:pPr indent="0" marL="0">
              <a:buNone/>
            </a:pPr>
            <a:r>
              <a:rPr lang="en-US" sz="1300" i="1" dirty="0">
                <a:solidFill>
                  <a:srgbClr val="94A3B8"/>
                </a:solidFill>
                <a:latin typeface="Georgia" pitchFamily="34" charset="0"/>
                <a:ea typeface="Georgia" pitchFamily="34" charset="-122"/>
                <a:cs typeface="Georgia" pitchFamily="34" charset="-120"/>
              </a:rPr>
              <a:t>"Is this technically credible?"</a:t>
            </a:r>
            <a:endParaRPr lang="en-US" sz="1300" dirty="0"/>
          </a:p>
        </p:txBody>
      </p:sp>
      <p:sp>
        <p:nvSpPr>
          <p:cNvPr id="14" name="Shape 12"/>
          <p:cNvSpPr/>
          <p:nvPr/>
        </p:nvSpPr>
        <p:spPr>
          <a:xfrm>
            <a:off x="731520" y="3108960"/>
            <a:ext cx="7680960" cy="731520"/>
          </a:xfrm>
          <a:prstGeom prst="rect">
            <a:avLst/>
          </a:prstGeom>
          <a:solidFill>
            <a:srgbClr val="0F3D4A"/>
          </a:solidFill>
          <a:ln/>
          <a:effectLst>
            <a:outerShdw sx="100000" sy="100000" kx="0" ky="0" algn="bl" rotWithShape="0" blurRad="76200" dist="25400" dir="8100000">
              <a:srgbClr val="000000">
                <a:alpha val="20000"/>
              </a:srgbClr>
            </a:outerShdw>
          </a:effectLst>
        </p:spPr>
      </p:sp>
      <p:sp>
        <p:nvSpPr>
          <p:cNvPr id="15" name="Shape 13"/>
          <p:cNvSpPr/>
          <p:nvPr/>
        </p:nvSpPr>
        <p:spPr>
          <a:xfrm>
            <a:off x="731520" y="3108960"/>
            <a:ext cx="731520" cy="731520"/>
          </a:xfrm>
          <a:prstGeom prst="rect">
            <a:avLst/>
          </a:prstGeom>
          <a:solidFill>
            <a:srgbClr val="F59E0B"/>
          </a:solidFill>
          <a:ln/>
        </p:spPr>
      </p:sp>
      <p:sp>
        <p:nvSpPr>
          <p:cNvPr id="16" name="Text 14"/>
          <p:cNvSpPr/>
          <p:nvPr/>
        </p:nvSpPr>
        <p:spPr>
          <a:xfrm>
            <a:off x="731520" y="3108960"/>
            <a:ext cx="731520" cy="731520"/>
          </a:xfrm>
          <a:prstGeom prst="rect">
            <a:avLst/>
          </a:prstGeom>
          <a:noFill/>
          <a:ln/>
        </p:spPr>
        <p:txBody>
          <a:bodyPr wrap="square" lIns="0" tIns="0" rIns="0" bIns="0" rtlCol="0" anchor="ctr"/>
          <a:lstStyle/>
          <a:p>
            <a:pPr algn="ctr" indent="0" marL="0">
              <a:buNone/>
            </a:pPr>
            <a:r>
              <a:rPr lang="en-US" sz="2800" dirty="0">
                <a:solidFill>
                  <a:srgbClr val="081E25"/>
                </a:solidFill>
                <a:latin typeface="Arial Black" pitchFamily="34" charset="0"/>
                <a:ea typeface="Arial Black" pitchFamily="34" charset="-122"/>
                <a:cs typeface="Arial Black" pitchFamily="34" charset="-120"/>
              </a:rPr>
              <a:t>C</a:t>
            </a:r>
            <a:endParaRPr lang="en-US" sz="2800" dirty="0"/>
          </a:p>
        </p:txBody>
      </p:sp>
      <p:sp>
        <p:nvSpPr>
          <p:cNvPr id="17" name="Text 15"/>
          <p:cNvSpPr/>
          <p:nvPr/>
        </p:nvSpPr>
        <p:spPr>
          <a:xfrm>
            <a:off x="1645920" y="3108960"/>
            <a:ext cx="2286000" cy="731520"/>
          </a:xfrm>
          <a:prstGeom prst="rect">
            <a:avLst/>
          </a:prstGeom>
          <a:noFill/>
          <a:ln/>
        </p:spPr>
        <p:txBody>
          <a:bodyPr wrap="square" lIns="0" tIns="0" rIns="0" bIns="0" rtlCol="0" anchor="ctr"/>
          <a:lstStyle/>
          <a:p>
            <a:pPr indent="0" marL="0">
              <a:buNone/>
            </a:pPr>
            <a:r>
              <a:rPr lang="en-US" sz="1800" b="1" dirty="0">
                <a:solidFill>
                  <a:srgbClr val="F0FDFA"/>
                </a:solidFill>
                <a:latin typeface="Arial" pitchFamily="34" charset="0"/>
                <a:ea typeface="Arial" pitchFamily="34" charset="-122"/>
                <a:cs typeface="Arial" pitchFamily="34" charset="-120"/>
              </a:rPr>
              <a:t>QA Engineer</a:t>
            </a:r>
            <a:endParaRPr lang="en-US" sz="1800" dirty="0"/>
          </a:p>
        </p:txBody>
      </p:sp>
      <p:sp>
        <p:nvSpPr>
          <p:cNvPr id="18" name="Text 16"/>
          <p:cNvSpPr/>
          <p:nvPr/>
        </p:nvSpPr>
        <p:spPr>
          <a:xfrm>
            <a:off x="3931920" y="3108960"/>
            <a:ext cx="4297680" cy="731520"/>
          </a:xfrm>
          <a:prstGeom prst="rect">
            <a:avLst/>
          </a:prstGeom>
          <a:noFill/>
          <a:ln/>
        </p:spPr>
        <p:txBody>
          <a:bodyPr wrap="square" lIns="0" tIns="0" rIns="0" bIns="0" rtlCol="0" anchor="ctr"/>
          <a:lstStyle/>
          <a:p>
            <a:pPr indent="0" marL="0">
              <a:buNone/>
            </a:pPr>
            <a:r>
              <a:rPr lang="en-US" sz="1300" i="1" dirty="0">
                <a:solidFill>
                  <a:srgbClr val="94A3B8"/>
                </a:solidFill>
                <a:latin typeface="Georgia" pitchFamily="34" charset="0"/>
                <a:ea typeface="Georgia" pitchFamily="34" charset="-122"/>
                <a:cs typeface="Georgia" pitchFamily="34" charset="-120"/>
              </a:rPr>
              <a:t>"Where are the edge cases?"</a:t>
            </a:r>
            <a:endParaRPr lang="en-US" sz="1300" dirty="0"/>
          </a:p>
        </p:txBody>
      </p:sp>
      <p:sp>
        <p:nvSpPr>
          <p:cNvPr id="19" name="Shape 17"/>
          <p:cNvSpPr/>
          <p:nvPr/>
        </p:nvSpPr>
        <p:spPr>
          <a:xfrm>
            <a:off x="731520" y="3977640"/>
            <a:ext cx="7680960" cy="731520"/>
          </a:xfrm>
          <a:prstGeom prst="rect">
            <a:avLst/>
          </a:prstGeom>
          <a:solidFill>
            <a:srgbClr val="0F3D4A"/>
          </a:solidFill>
          <a:ln/>
          <a:effectLst>
            <a:outerShdw sx="100000" sy="100000" kx="0" ky="0" algn="bl" rotWithShape="0" blurRad="76200" dist="25400" dir="8100000">
              <a:srgbClr val="000000">
                <a:alpha val="20000"/>
              </a:srgbClr>
            </a:outerShdw>
          </a:effectLst>
        </p:spPr>
      </p:sp>
      <p:sp>
        <p:nvSpPr>
          <p:cNvPr id="20" name="Shape 18"/>
          <p:cNvSpPr/>
          <p:nvPr/>
        </p:nvSpPr>
        <p:spPr>
          <a:xfrm>
            <a:off x="731520" y="3977640"/>
            <a:ext cx="731520" cy="731520"/>
          </a:xfrm>
          <a:prstGeom prst="rect">
            <a:avLst/>
          </a:prstGeom>
          <a:solidFill>
            <a:srgbClr val="14B8A6"/>
          </a:solidFill>
          <a:ln/>
        </p:spPr>
      </p:sp>
      <p:sp>
        <p:nvSpPr>
          <p:cNvPr id="21" name="Text 19"/>
          <p:cNvSpPr/>
          <p:nvPr/>
        </p:nvSpPr>
        <p:spPr>
          <a:xfrm>
            <a:off x="731520" y="3977640"/>
            <a:ext cx="731520" cy="731520"/>
          </a:xfrm>
          <a:prstGeom prst="rect">
            <a:avLst/>
          </a:prstGeom>
          <a:noFill/>
          <a:ln/>
        </p:spPr>
        <p:txBody>
          <a:bodyPr wrap="square" lIns="0" tIns="0" rIns="0" bIns="0" rtlCol="0" anchor="ctr"/>
          <a:lstStyle/>
          <a:p>
            <a:pPr algn="ctr" indent="0" marL="0">
              <a:buNone/>
            </a:pPr>
            <a:r>
              <a:rPr lang="en-US" sz="2800" dirty="0">
                <a:solidFill>
                  <a:srgbClr val="081E25"/>
                </a:solidFill>
                <a:latin typeface="Arial Black" pitchFamily="34" charset="0"/>
                <a:ea typeface="Arial Black" pitchFamily="34" charset="-122"/>
                <a:cs typeface="Arial Black" pitchFamily="34" charset="-120"/>
              </a:rPr>
              <a:t>D</a:t>
            </a:r>
            <a:endParaRPr lang="en-US" sz="2800" dirty="0"/>
          </a:p>
        </p:txBody>
      </p:sp>
      <p:sp>
        <p:nvSpPr>
          <p:cNvPr id="22" name="Text 20"/>
          <p:cNvSpPr/>
          <p:nvPr/>
        </p:nvSpPr>
        <p:spPr>
          <a:xfrm>
            <a:off x="1645920" y="3977640"/>
            <a:ext cx="2286000" cy="731520"/>
          </a:xfrm>
          <a:prstGeom prst="rect">
            <a:avLst/>
          </a:prstGeom>
          <a:noFill/>
          <a:ln/>
        </p:spPr>
        <p:txBody>
          <a:bodyPr wrap="square" lIns="0" tIns="0" rIns="0" bIns="0" rtlCol="0" anchor="ctr"/>
          <a:lstStyle/>
          <a:p>
            <a:pPr indent="0" marL="0">
              <a:buNone/>
            </a:pPr>
            <a:r>
              <a:rPr lang="en-US" sz="1800" b="1" dirty="0">
                <a:solidFill>
                  <a:srgbClr val="F0FDFA"/>
                </a:solidFill>
                <a:latin typeface="Arial" pitchFamily="34" charset="0"/>
                <a:ea typeface="Arial" pitchFamily="34" charset="-122"/>
                <a:cs typeface="Arial" pitchFamily="34" charset="-120"/>
              </a:rPr>
              <a:t>CFO</a:t>
            </a:r>
            <a:endParaRPr lang="en-US" sz="1800" dirty="0"/>
          </a:p>
        </p:txBody>
      </p:sp>
      <p:sp>
        <p:nvSpPr>
          <p:cNvPr id="23" name="Text 21"/>
          <p:cNvSpPr/>
          <p:nvPr/>
        </p:nvSpPr>
        <p:spPr>
          <a:xfrm>
            <a:off x="3931920" y="3977640"/>
            <a:ext cx="4297680" cy="731520"/>
          </a:xfrm>
          <a:prstGeom prst="rect">
            <a:avLst/>
          </a:prstGeom>
          <a:noFill/>
          <a:ln/>
        </p:spPr>
        <p:txBody>
          <a:bodyPr wrap="square" lIns="0" tIns="0" rIns="0" bIns="0" rtlCol="0" anchor="ctr"/>
          <a:lstStyle/>
          <a:p>
            <a:pPr indent="0" marL="0">
              <a:buNone/>
            </a:pPr>
            <a:r>
              <a:rPr lang="en-US" sz="1300" i="1" dirty="0">
                <a:solidFill>
                  <a:srgbClr val="94A3B8"/>
                </a:solidFill>
                <a:latin typeface="Georgia" pitchFamily="34" charset="0"/>
                <a:ea typeface="Georgia" pitchFamily="34" charset="-122"/>
                <a:cs typeface="Georgia" pitchFamily="34" charset="-120"/>
              </a:rPr>
              <a:t>"What does this cost and what's the ROI?"</a:t>
            </a:r>
            <a:endParaRPr lang="en-US" sz="1300" dirty="0"/>
          </a:p>
        </p:txBody>
      </p:sp>
      <p:sp>
        <p:nvSpPr>
          <p:cNvPr id="24" name="Shape 22"/>
          <p:cNvSpPr/>
          <p:nvPr/>
        </p:nvSpPr>
        <p:spPr>
          <a:xfrm>
            <a:off x="0" y="4800600"/>
            <a:ext cx="9144000" cy="342900"/>
          </a:xfrm>
          <a:prstGeom prst="rect">
            <a:avLst/>
          </a:prstGeom>
          <a:solidFill>
            <a:srgbClr val="14B8A6"/>
          </a:solidFill>
          <a:ln/>
        </p:spPr>
      </p:sp>
      <p:sp>
        <p:nvSpPr>
          <p:cNvPr id="25" name="Text 23"/>
          <p:cNvSpPr/>
          <p:nvPr/>
        </p:nvSpPr>
        <p:spPr>
          <a:xfrm>
            <a:off x="457200" y="4800600"/>
            <a:ext cx="8229600" cy="342900"/>
          </a:xfrm>
          <a:prstGeom prst="rect">
            <a:avLst/>
          </a:prstGeom>
          <a:noFill/>
          <a:ln/>
        </p:spPr>
        <p:txBody>
          <a:bodyPr wrap="square" lIns="0" tIns="0" rIns="0" bIns="0" rtlCol="0" anchor="ctr"/>
          <a:lstStyle/>
          <a:p>
            <a:pPr algn="l" indent="0" marL="0">
              <a:buNone/>
            </a:pPr>
            <a:r>
              <a:rPr lang="en-US" sz="900" b="1" dirty="0">
                <a:solidFill>
                  <a:srgbClr val="081E25"/>
                </a:solidFill>
                <a:latin typeface="Calibri" pitchFamily="34" charset="0"/>
                <a:ea typeface="Calibri" pitchFamily="34" charset="-122"/>
                <a:cs typeface="Calibri" pitchFamily="34" charset="-120"/>
              </a:rPr>
              <a:t>PRESENTATION PERSONA ANALYZER</a:t>
            </a:r>
            <a:endParaRPr lang="en-US" sz="900" dirty="0"/>
          </a:p>
        </p:txBody>
      </p:sp>
      <p:sp>
        <p:nvSpPr>
          <p:cNvPr id="26" name="Text 24"/>
          <p:cNvSpPr/>
          <p:nvPr/>
        </p:nvSpPr>
        <p:spPr>
          <a:xfrm>
            <a:off x="8046720" y="4800600"/>
            <a:ext cx="914400" cy="342900"/>
          </a:xfrm>
          <a:prstGeom prst="rect">
            <a:avLst/>
          </a:prstGeom>
          <a:noFill/>
          <a:ln/>
        </p:spPr>
        <p:txBody>
          <a:bodyPr wrap="square" lIns="0" tIns="0" rIns="0" bIns="0" rtlCol="0" anchor="ctr"/>
          <a:lstStyle/>
          <a:p>
            <a:pPr algn="r" indent="0" marL="0">
              <a:buNone/>
            </a:pPr>
            <a:r>
              <a:rPr lang="en-US" sz="800" dirty="0">
                <a:solidFill>
                  <a:srgbClr val="081E25"/>
                </a:solidFill>
                <a:latin typeface="Calibri" pitchFamily="34" charset="0"/>
                <a:ea typeface="Calibri" pitchFamily="34" charset="-122"/>
                <a:cs typeface="Calibri" pitchFamily="34" charset="-120"/>
              </a:rPr>
              <a:t>19 / 31</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2E38"/>
        </a:solidFill>
      </p:bgPr>
    </p:bg>
    <p:spTree>
      <p:nvGrpSpPr>
        <p:cNvPr id="1" name=""/>
        <p:cNvGrpSpPr/>
        <p:nvPr/>
      </p:nvGrpSpPr>
      <p:grpSpPr>
        <a:xfrm>
          <a:off x="0" y="0"/>
          <a:ext cx="0" cy="0"/>
          <a:chOff x="0" y="0"/>
          <a:chExt cx="0" cy="0"/>
        </a:xfrm>
      </p:grpSpPr>
      <p:sp>
        <p:nvSpPr>
          <p:cNvPr id="2" name="Text 0"/>
          <p:cNvSpPr/>
          <p:nvPr/>
        </p:nvSpPr>
        <p:spPr>
          <a:xfrm>
            <a:off x="731520" y="365760"/>
            <a:ext cx="3657600" cy="365760"/>
          </a:xfrm>
          <a:prstGeom prst="rect">
            <a:avLst/>
          </a:prstGeom>
          <a:noFill/>
          <a:ln/>
        </p:spPr>
        <p:txBody>
          <a:bodyPr wrap="square" lIns="0" tIns="0" rIns="0" bIns="0" rtlCol="0" anchor="ctr"/>
          <a:lstStyle/>
          <a:p>
            <a:pPr indent="0" marL="0">
              <a:buNone/>
            </a:pPr>
            <a:r>
              <a:rPr lang="en-US" sz="1400" b="1" spc="300" kern="0" dirty="0">
                <a:solidFill>
                  <a:srgbClr val="F59E0B"/>
                </a:solidFill>
                <a:latin typeface="Arial" pitchFamily="34" charset="0"/>
                <a:ea typeface="Arial" pitchFamily="34" charset="-122"/>
                <a:cs typeface="Arial" pitchFamily="34" charset="-120"/>
              </a:rPr>
              <a:t>LIVE DEMO</a:t>
            </a:r>
            <a:endParaRPr lang="en-US" sz="1400" dirty="0"/>
          </a:p>
        </p:txBody>
      </p:sp>
      <p:sp>
        <p:nvSpPr>
          <p:cNvPr id="3" name="Text 1"/>
          <p:cNvSpPr/>
          <p:nvPr/>
        </p:nvSpPr>
        <p:spPr>
          <a:xfrm>
            <a:off x="731520" y="914400"/>
            <a:ext cx="7315200" cy="548640"/>
          </a:xfrm>
          <a:prstGeom prst="rect">
            <a:avLst/>
          </a:prstGeom>
          <a:noFill/>
          <a:ln/>
        </p:spPr>
        <p:txBody>
          <a:bodyPr wrap="square" lIns="0" tIns="0" rIns="0" bIns="0" rtlCol="0" anchor="ctr"/>
          <a:lstStyle/>
          <a:p>
            <a:pPr indent="0" marL="0">
              <a:buNone/>
            </a:pPr>
            <a:r>
              <a:rPr lang="en-US" sz="2800" dirty="0">
                <a:solidFill>
                  <a:srgbClr val="F0FDFA"/>
                </a:solidFill>
                <a:latin typeface="Arial Black" pitchFamily="34" charset="0"/>
                <a:ea typeface="Arial Black" pitchFamily="34" charset="-122"/>
                <a:cs typeface="Arial Black" pitchFamily="34" charset="-120"/>
              </a:rPr>
              <a:t>Persona Analyzer in Action</a:t>
            </a:r>
            <a:endParaRPr lang="en-US" sz="2800" dirty="0"/>
          </a:p>
        </p:txBody>
      </p:sp>
      <p:sp>
        <p:nvSpPr>
          <p:cNvPr id="4" name="Shape 2"/>
          <p:cNvSpPr/>
          <p:nvPr/>
        </p:nvSpPr>
        <p:spPr>
          <a:xfrm>
            <a:off x="731520" y="1645920"/>
            <a:ext cx="7680960" cy="2560320"/>
          </a:xfrm>
          <a:prstGeom prst="rect">
            <a:avLst/>
          </a:prstGeom>
          <a:solidFill>
            <a:srgbClr val="0D1B21"/>
          </a:solidFill>
          <a:ln/>
          <a:effectLst>
            <a:outerShdw sx="100000" sy="100000" kx="0" ky="0" algn="bl" rotWithShape="0" blurRad="76200" dist="25400" dir="8100000">
              <a:srgbClr val="000000">
                <a:alpha val="20000"/>
              </a:srgbClr>
            </a:outerShdw>
          </a:effectLst>
        </p:spPr>
      </p:sp>
      <p:sp>
        <p:nvSpPr>
          <p:cNvPr id="5" name="Text 3"/>
          <p:cNvSpPr/>
          <p:nvPr/>
        </p:nvSpPr>
        <p:spPr>
          <a:xfrm>
            <a:off x="1097280" y="2011680"/>
            <a:ext cx="6949440" cy="1645920"/>
          </a:xfrm>
          <a:prstGeom prst="rect">
            <a:avLst/>
          </a:prstGeom>
          <a:noFill/>
          <a:ln/>
        </p:spPr>
        <p:txBody>
          <a:bodyPr wrap="square" lIns="0" tIns="0" rIns="0" bIns="0" rtlCol="0" anchor="ctr"/>
          <a:lstStyle/>
          <a:p>
            <a:pPr algn="ctr" indent="0" marL="0">
              <a:buNone/>
            </a:pPr>
            <a:r>
              <a:rPr lang="en-US" sz="1600" dirty="0">
                <a:solidFill>
                  <a:srgbClr val="94A3B8"/>
                </a:solidFill>
                <a:latin typeface="Calibri" pitchFamily="34" charset="0"/>
                <a:ea typeface="Calibri" pitchFamily="34" charset="-122"/>
                <a:cs typeface="Calibri" pitchFamily="34" charset="-120"/>
              </a:rPr>
              <a:t>[ LIVE DEMO AREA ]</a:t>
            </a:r>
            <a:endParaRPr lang="en-US" sz="1600" dirty="0"/>
          </a:p>
          <a:p>
            <a:pPr algn="ctr" indent="0" marL="0">
              <a:buNone/>
            </a:pPr>
            <a:r>
              <a:rPr lang="en-US" sz="1600" dirty="0">
                <a:solidFill>
                  <a:srgbClr val="94A3B8"/>
                </a:solidFill>
                <a:latin typeface="Calibri" pitchFamily="34" charset="0"/>
                <a:ea typeface="Calibri" pitchFamily="34" charset="-122"/>
                <a:cs typeface="Calibri" pitchFamily="34" charset="-120"/>
              </a:rPr>
              <a:t>Feed presentation content through the Persona Analyzer</a:t>
            </a:r>
            <a:endParaRPr lang="en-US" sz="1600" dirty="0"/>
          </a:p>
          <a:p>
            <a:pPr algn="ctr" indent="0" marL="0">
              <a:buNone/>
            </a:pPr>
            <a:r>
              <a:rPr lang="en-US" sz="1600" dirty="0">
                <a:solidFill>
                  <a:srgbClr val="94A3B8"/>
                </a:solidFill>
                <a:latin typeface="Calibri" pitchFamily="34" charset="0"/>
                <a:ea typeface="Calibri" pitchFamily="34" charset="-122"/>
                <a:cs typeface="Calibri" pitchFamily="34" charset="-120"/>
              </a:rPr>
              <a:t>with audience-chosen persona</a:t>
            </a:r>
            <a:endParaRPr lang="en-US" sz="1600" dirty="0"/>
          </a:p>
        </p:txBody>
      </p:sp>
      <p:sp>
        <p:nvSpPr>
          <p:cNvPr id="6" name="Shape 4"/>
          <p:cNvSpPr/>
          <p:nvPr/>
        </p:nvSpPr>
        <p:spPr>
          <a:xfrm>
            <a:off x="731520" y="4389120"/>
            <a:ext cx="7680960" cy="457200"/>
          </a:xfrm>
          <a:prstGeom prst="rect">
            <a:avLst/>
          </a:prstGeom>
          <a:solidFill>
            <a:srgbClr val="0F3D4A"/>
          </a:solidFill>
          <a:ln/>
          <a:effectLst>
            <a:outerShdw sx="100000" sy="100000" kx="0" ky="0" algn="bl" rotWithShape="0" blurRad="76200" dist="25400" dir="8100000">
              <a:srgbClr val="000000">
                <a:alpha val="20000"/>
              </a:srgbClr>
            </a:outerShdw>
          </a:effectLst>
        </p:spPr>
      </p:sp>
      <p:sp>
        <p:nvSpPr>
          <p:cNvPr id="7" name="Text 5"/>
          <p:cNvSpPr/>
          <p:nvPr/>
        </p:nvSpPr>
        <p:spPr>
          <a:xfrm>
            <a:off x="914400" y="4389120"/>
            <a:ext cx="7315200" cy="457200"/>
          </a:xfrm>
          <a:prstGeom prst="rect">
            <a:avLst/>
          </a:prstGeom>
          <a:noFill/>
          <a:ln/>
        </p:spPr>
        <p:txBody>
          <a:bodyPr wrap="square" lIns="0" tIns="0" rIns="0" bIns="0" rtlCol="0" anchor="ctr"/>
          <a:lstStyle/>
          <a:p>
            <a:pPr algn="ctr" indent="0" marL="0">
              <a:buNone/>
            </a:pPr>
            <a:r>
              <a:rPr lang="en-US" sz="1200" dirty="0">
                <a:solidFill>
                  <a:srgbClr val="5EEAD4"/>
                </a:solidFill>
                <a:latin typeface="Calibri" pitchFamily="34" charset="0"/>
                <a:ea typeface="Calibri" pitchFamily="34" charset="-122"/>
                <a:cs typeface="Calibri" pitchFamily="34" charset="-120"/>
              </a:rPr>
              <a:t>Analysis covers: Content Gaps  •  Design Feedback  •  Flow Issues  •  Speaker Script Coaching</a:t>
            </a:r>
            <a:endParaRPr lang="en-US" sz="1200" dirty="0"/>
          </a:p>
        </p:txBody>
      </p:sp>
      <p:sp>
        <p:nvSpPr>
          <p:cNvPr id="8" name="Shape 6"/>
          <p:cNvSpPr/>
          <p:nvPr/>
        </p:nvSpPr>
        <p:spPr>
          <a:xfrm>
            <a:off x="0" y="4800600"/>
            <a:ext cx="9144000" cy="342900"/>
          </a:xfrm>
          <a:prstGeom prst="rect">
            <a:avLst/>
          </a:prstGeom>
          <a:solidFill>
            <a:srgbClr val="14B8A6"/>
          </a:solidFill>
          <a:ln/>
        </p:spPr>
      </p:sp>
      <p:sp>
        <p:nvSpPr>
          <p:cNvPr id="9" name="Text 7"/>
          <p:cNvSpPr/>
          <p:nvPr/>
        </p:nvSpPr>
        <p:spPr>
          <a:xfrm>
            <a:off x="457200" y="4800600"/>
            <a:ext cx="8229600" cy="342900"/>
          </a:xfrm>
          <a:prstGeom prst="rect">
            <a:avLst/>
          </a:prstGeom>
          <a:noFill/>
          <a:ln/>
        </p:spPr>
        <p:txBody>
          <a:bodyPr wrap="square" lIns="0" tIns="0" rIns="0" bIns="0" rtlCol="0" anchor="ctr"/>
          <a:lstStyle/>
          <a:p>
            <a:pPr algn="l" indent="0" marL="0">
              <a:buNone/>
            </a:pPr>
            <a:r>
              <a:rPr lang="en-US" sz="900" b="1" dirty="0">
                <a:solidFill>
                  <a:srgbClr val="081E25"/>
                </a:solidFill>
                <a:latin typeface="Calibri" pitchFamily="34" charset="0"/>
                <a:ea typeface="Calibri" pitchFamily="34" charset="-122"/>
                <a:cs typeface="Calibri" pitchFamily="34" charset="-120"/>
              </a:rPr>
              <a:t>PRESENTATION PERSONA ANALYZER</a:t>
            </a:r>
            <a:endParaRPr lang="en-US" sz="900" dirty="0"/>
          </a:p>
        </p:txBody>
      </p:sp>
      <p:sp>
        <p:nvSpPr>
          <p:cNvPr id="10" name="Text 8"/>
          <p:cNvSpPr/>
          <p:nvPr/>
        </p:nvSpPr>
        <p:spPr>
          <a:xfrm>
            <a:off x="8046720" y="4800600"/>
            <a:ext cx="914400" cy="342900"/>
          </a:xfrm>
          <a:prstGeom prst="rect">
            <a:avLst/>
          </a:prstGeom>
          <a:noFill/>
          <a:ln/>
        </p:spPr>
        <p:txBody>
          <a:bodyPr wrap="square" lIns="0" tIns="0" rIns="0" bIns="0" rtlCol="0" anchor="ctr"/>
          <a:lstStyle/>
          <a:p>
            <a:pPr algn="r" indent="0" marL="0">
              <a:buNone/>
            </a:pPr>
            <a:r>
              <a:rPr lang="en-US" sz="800" dirty="0">
                <a:solidFill>
                  <a:srgbClr val="081E25"/>
                </a:solidFill>
                <a:latin typeface="Calibri" pitchFamily="34" charset="0"/>
                <a:ea typeface="Calibri" pitchFamily="34" charset="-122"/>
                <a:cs typeface="Calibri" pitchFamily="34" charset="-120"/>
              </a:rPr>
              <a:t>20 / 31</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2E38"/>
        </a:solidFill>
      </p:bgPr>
    </p:bg>
    <p:spTree>
      <p:nvGrpSpPr>
        <p:cNvPr id="1" name=""/>
        <p:cNvGrpSpPr/>
        <p:nvPr/>
      </p:nvGrpSpPr>
      <p:grpSpPr>
        <a:xfrm>
          <a:off x="0" y="0"/>
          <a:ext cx="0" cy="0"/>
          <a:chOff x="0" y="0"/>
          <a:chExt cx="0" cy="0"/>
        </a:xfrm>
      </p:grpSpPr>
      <p:sp>
        <p:nvSpPr>
          <p:cNvPr id="2" name="Text 0"/>
          <p:cNvSpPr/>
          <p:nvPr/>
        </p:nvSpPr>
        <p:spPr>
          <a:xfrm>
            <a:off x="457200" y="731520"/>
            <a:ext cx="914400" cy="1097280"/>
          </a:xfrm>
          <a:prstGeom prst="rect">
            <a:avLst/>
          </a:prstGeom>
          <a:noFill/>
          <a:ln/>
        </p:spPr>
        <p:txBody>
          <a:bodyPr wrap="square" lIns="0" tIns="0" rIns="0" bIns="0" rtlCol="0" anchor="ctr"/>
          <a:lstStyle/>
          <a:p>
            <a:pPr indent="0" marL="0">
              <a:buNone/>
            </a:pPr>
            <a:r>
              <a:rPr lang="en-US" sz="12000" dirty="0">
                <a:solidFill>
                  <a:srgbClr val="F59E0B"/>
                </a:solidFill>
                <a:latin typeface="Georgia" pitchFamily="34" charset="0"/>
                <a:ea typeface="Georgia" pitchFamily="34" charset="-122"/>
                <a:cs typeface="Georgia" pitchFamily="34" charset="-120"/>
              </a:rPr>
              <a:t>"</a:t>
            </a:r>
            <a:endParaRPr lang="en-US" sz="12000" dirty="0"/>
          </a:p>
        </p:txBody>
      </p:sp>
      <p:sp>
        <p:nvSpPr>
          <p:cNvPr id="3" name="Text 1"/>
          <p:cNvSpPr/>
          <p:nvPr/>
        </p:nvSpPr>
        <p:spPr>
          <a:xfrm>
            <a:off x="1097280" y="1097280"/>
            <a:ext cx="6858000" cy="1097280"/>
          </a:xfrm>
          <a:prstGeom prst="rect">
            <a:avLst/>
          </a:prstGeom>
          <a:noFill/>
          <a:ln/>
        </p:spPr>
        <p:txBody>
          <a:bodyPr wrap="square" lIns="0" tIns="0" rIns="0" bIns="0" rtlCol="0" anchor="ctr"/>
          <a:lstStyle/>
          <a:p>
            <a:pPr indent="0" marL="0">
              <a:buNone/>
            </a:pPr>
            <a:r>
              <a:rPr lang="en-US" sz="3000" dirty="0">
                <a:solidFill>
                  <a:srgbClr val="F0FDFA"/>
                </a:solidFill>
                <a:latin typeface="Arial Black" pitchFamily="34" charset="0"/>
                <a:ea typeface="Arial Black" pitchFamily="34" charset="-122"/>
                <a:cs typeface="Arial Black" pitchFamily="34" charset="-120"/>
              </a:rPr>
              <a:t>We just used AI to analyze</a:t>
            </a:r>
            <a:endParaRPr lang="en-US" sz="3000" dirty="0"/>
          </a:p>
          <a:p>
            <a:pPr indent="0" marL="0">
              <a:buNone/>
            </a:pPr>
            <a:r>
              <a:rPr lang="en-US" sz="3000" dirty="0">
                <a:solidFill>
                  <a:srgbClr val="F0FDFA"/>
                </a:solidFill>
                <a:latin typeface="Arial Black" pitchFamily="34" charset="0"/>
                <a:ea typeface="Arial Black" pitchFamily="34" charset="-122"/>
                <a:cs typeface="Arial Black" pitchFamily="34" charset="-120"/>
              </a:rPr>
              <a:t>a talk about AI.</a:t>
            </a:r>
            <a:endParaRPr lang="en-US" sz="3000" dirty="0"/>
          </a:p>
        </p:txBody>
      </p:sp>
      <p:sp>
        <p:nvSpPr>
          <p:cNvPr id="4" name="Shape 2"/>
          <p:cNvSpPr/>
          <p:nvPr/>
        </p:nvSpPr>
        <p:spPr>
          <a:xfrm>
            <a:off x="1097280" y="2560320"/>
            <a:ext cx="3657600" cy="36576"/>
          </a:xfrm>
          <a:prstGeom prst="rect">
            <a:avLst/>
          </a:prstGeom>
          <a:solidFill>
            <a:srgbClr val="F59E0B"/>
          </a:solidFill>
          <a:ln/>
        </p:spPr>
      </p:sp>
      <p:sp>
        <p:nvSpPr>
          <p:cNvPr id="5" name="Text 3"/>
          <p:cNvSpPr/>
          <p:nvPr/>
        </p:nvSpPr>
        <p:spPr>
          <a:xfrm>
            <a:off x="1097280" y="2834640"/>
            <a:ext cx="6858000" cy="731520"/>
          </a:xfrm>
          <a:prstGeom prst="rect">
            <a:avLst/>
          </a:prstGeom>
          <a:noFill/>
          <a:ln/>
        </p:spPr>
        <p:txBody>
          <a:bodyPr wrap="square" lIns="0" tIns="0" rIns="0" bIns="0" rtlCol="0" anchor="ctr"/>
          <a:lstStyle/>
          <a:p>
            <a:pPr indent="0" marL="0">
              <a:buNone/>
            </a:pPr>
            <a:r>
              <a:rPr lang="en-US" sz="2000" dirty="0">
                <a:solidFill>
                  <a:srgbClr val="5EEAD4"/>
                </a:solidFill>
                <a:latin typeface="Calibri" pitchFamily="34" charset="0"/>
                <a:ea typeface="Calibri" pitchFamily="34" charset="-122"/>
                <a:cs typeface="Calibri" pitchFamily="34" charset="-120"/>
              </a:rPr>
              <a:t>The tool gave me feedback I hadn't considered.</a:t>
            </a:r>
            <a:endParaRPr lang="en-US" sz="2000" dirty="0"/>
          </a:p>
          <a:p>
            <a:pPr indent="0" marL="0">
              <a:buNone/>
            </a:pPr>
            <a:r>
              <a:rPr lang="en-US" sz="2000" dirty="0">
                <a:solidFill>
                  <a:srgbClr val="5EEAD4"/>
                </a:solidFill>
                <a:latin typeface="Calibri" pitchFamily="34" charset="0"/>
                <a:ea typeface="Calibri" pitchFamily="34" charset="-122"/>
                <a:cs typeface="Calibri" pitchFamily="34" charset="-120"/>
              </a:rPr>
              <a:t>That's the point.</a:t>
            </a:r>
            <a:endParaRPr lang="en-US" sz="2000" dirty="0"/>
          </a:p>
        </p:txBody>
      </p:sp>
      <p:sp>
        <p:nvSpPr>
          <p:cNvPr id="6" name="Text 4"/>
          <p:cNvSpPr/>
          <p:nvPr/>
        </p:nvSpPr>
        <p:spPr>
          <a:xfrm>
            <a:off x="1097280" y="3840480"/>
            <a:ext cx="6858000" cy="457200"/>
          </a:xfrm>
          <a:prstGeom prst="rect">
            <a:avLst/>
          </a:prstGeom>
          <a:noFill/>
          <a:ln/>
        </p:spPr>
        <p:txBody>
          <a:bodyPr wrap="square" lIns="0" tIns="0" rIns="0" bIns="0" rtlCol="0" anchor="ctr"/>
          <a:lstStyle/>
          <a:p>
            <a:pPr indent="0" marL="0">
              <a:buNone/>
            </a:pPr>
            <a:r>
              <a:rPr lang="en-US" sz="2200" dirty="0">
                <a:solidFill>
                  <a:srgbClr val="F59E0B"/>
                </a:solidFill>
                <a:latin typeface="Arial Black" pitchFamily="34" charset="0"/>
                <a:ea typeface="Arial Black" pitchFamily="34" charset="-122"/>
                <a:cs typeface="Arial Black" pitchFamily="34" charset="-120"/>
              </a:rPr>
              <a:t>AI as a thinking partner, not just an executor.</a:t>
            </a:r>
            <a:endParaRPr lang="en-US" sz="2200" dirty="0"/>
          </a:p>
        </p:txBody>
      </p:sp>
      <p:sp>
        <p:nvSpPr>
          <p:cNvPr id="7" name="Shape 5"/>
          <p:cNvSpPr/>
          <p:nvPr/>
        </p:nvSpPr>
        <p:spPr>
          <a:xfrm>
            <a:off x="0" y="4800600"/>
            <a:ext cx="9144000" cy="342900"/>
          </a:xfrm>
          <a:prstGeom prst="rect">
            <a:avLst/>
          </a:prstGeom>
          <a:solidFill>
            <a:srgbClr val="14B8A6"/>
          </a:solidFill>
          <a:ln/>
        </p:spPr>
      </p:sp>
      <p:sp>
        <p:nvSpPr>
          <p:cNvPr id="8" name="Text 6"/>
          <p:cNvSpPr/>
          <p:nvPr/>
        </p:nvSpPr>
        <p:spPr>
          <a:xfrm>
            <a:off x="457200" y="4800600"/>
            <a:ext cx="8229600" cy="342900"/>
          </a:xfrm>
          <a:prstGeom prst="rect">
            <a:avLst/>
          </a:prstGeom>
          <a:noFill/>
          <a:ln/>
        </p:spPr>
        <p:txBody>
          <a:bodyPr wrap="square" lIns="0" tIns="0" rIns="0" bIns="0" rtlCol="0" anchor="ctr"/>
          <a:lstStyle/>
          <a:p>
            <a:pPr algn="l" indent="0" marL="0">
              <a:buNone/>
            </a:pPr>
            <a:r>
              <a:rPr lang="en-US" sz="900" b="1" dirty="0">
                <a:solidFill>
                  <a:srgbClr val="081E25"/>
                </a:solidFill>
                <a:latin typeface="Calibri" pitchFamily="34" charset="0"/>
                <a:ea typeface="Calibri" pitchFamily="34" charset="-122"/>
                <a:cs typeface="Calibri" pitchFamily="34" charset="-120"/>
              </a:rPr>
              <a:t>PRESENTATION PERSONA ANALYZER</a:t>
            </a:r>
            <a:endParaRPr lang="en-US" sz="900" dirty="0"/>
          </a:p>
        </p:txBody>
      </p:sp>
      <p:sp>
        <p:nvSpPr>
          <p:cNvPr id="9" name="Text 7"/>
          <p:cNvSpPr/>
          <p:nvPr/>
        </p:nvSpPr>
        <p:spPr>
          <a:xfrm>
            <a:off x="8046720" y="4800600"/>
            <a:ext cx="914400" cy="342900"/>
          </a:xfrm>
          <a:prstGeom prst="rect">
            <a:avLst/>
          </a:prstGeom>
          <a:noFill/>
          <a:ln/>
        </p:spPr>
        <p:txBody>
          <a:bodyPr wrap="square" lIns="0" tIns="0" rIns="0" bIns="0" rtlCol="0" anchor="ctr"/>
          <a:lstStyle/>
          <a:p>
            <a:pPr algn="r" indent="0" marL="0">
              <a:buNone/>
            </a:pPr>
            <a:r>
              <a:rPr lang="en-US" sz="800" dirty="0">
                <a:solidFill>
                  <a:srgbClr val="081E25"/>
                </a:solidFill>
                <a:latin typeface="Calibri" pitchFamily="34" charset="0"/>
                <a:ea typeface="Calibri" pitchFamily="34" charset="-122"/>
                <a:cs typeface="Calibri" pitchFamily="34" charset="-120"/>
              </a:rPr>
              <a:t>21 / 31</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2E38"/>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F59E0B"/>
          </a:solidFill>
          <a:ln/>
        </p:spPr>
      </p:sp>
      <p:sp>
        <p:nvSpPr>
          <p:cNvPr id="3" name="Text 1"/>
          <p:cNvSpPr/>
          <p:nvPr/>
        </p:nvSpPr>
        <p:spPr>
          <a:xfrm>
            <a:off x="731520" y="548640"/>
            <a:ext cx="2743200" cy="365760"/>
          </a:xfrm>
          <a:prstGeom prst="rect">
            <a:avLst/>
          </a:prstGeom>
          <a:noFill/>
          <a:ln/>
        </p:spPr>
        <p:txBody>
          <a:bodyPr wrap="square" lIns="0" tIns="0" rIns="0" bIns="0" rtlCol="0" anchor="ctr"/>
          <a:lstStyle/>
          <a:p>
            <a:pPr indent="0" marL="0">
              <a:buNone/>
            </a:pPr>
            <a:r>
              <a:rPr lang="en-US" sz="1400" b="1" spc="300" kern="0" dirty="0">
                <a:solidFill>
                  <a:srgbClr val="F59E0B"/>
                </a:solidFill>
                <a:latin typeface="Arial" pitchFamily="34" charset="0"/>
                <a:ea typeface="Arial" pitchFamily="34" charset="-122"/>
                <a:cs typeface="Arial" pitchFamily="34" charset="-120"/>
              </a:rPr>
              <a:t>BONUS</a:t>
            </a:r>
            <a:endParaRPr lang="en-US" sz="1400" dirty="0"/>
          </a:p>
        </p:txBody>
      </p:sp>
      <p:sp>
        <p:nvSpPr>
          <p:cNvPr id="4" name="Text 2"/>
          <p:cNvSpPr/>
          <p:nvPr/>
        </p:nvSpPr>
        <p:spPr>
          <a:xfrm>
            <a:off x="731520" y="1097280"/>
            <a:ext cx="7315200" cy="1371600"/>
          </a:xfrm>
          <a:prstGeom prst="rect">
            <a:avLst/>
          </a:prstGeom>
          <a:noFill/>
          <a:ln/>
        </p:spPr>
        <p:txBody>
          <a:bodyPr wrap="square" lIns="0" tIns="0" rIns="0" bIns="0" rtlCol="0" anchor="ctr"/>
          <a:lstStyle/>
          <a:p>
            <a:pPr indent="0" marL="0">
              <a:lnSpc>
                <a:spcPct val="110000"/>
              </a:lnSpc>
              <a:buNone/>
            </a:pPr>
            <a:r>
              <a:rPr lang="en-US" sz="3600" dirty="0">
                <a:solidFill>
                  <a:srgbClr val="F0FDFA"/>
                </a:solidFill>
                <a:latin typeface="Arial Black" pitchFamily="34" charset="0"/>
                <a:ea typeface="Arial Black" pitchFamily="34" charset="-122"/>
                <a:cs typeface="Arial Black" pitchFamily="34" charset="-120"/>
              </a:rPr>
              <a:t>But How Did I Know</a:t>
            </a:r>
            <a:endParaRPr lang="en-US" sz="3600" dirty="0"/>
          </a:p>
          <a:p>
            <a:pPr indent="0" marL="0">
              <a:lnSpc>
                <a:spcPct val="110000"/>
              </a:lnSpc>
              <a:buNone/>
            </a:pPr>
            <a:r>
              <a:rPr lang="en-US" sz="3600" dirty="0">
                <a:solidFill>
                  <a:srgbClr val="F0FDFA"/>
                </a:solidFill>
                <a:latin typeface="Arial Black" pitchFamily="34" charset="0"/>
                <a:ea typeface="Arial Black" pitchFamily="34" charset="-122"/>
                <a:cs typeface="Arial Black" pitchFamily="34" charset="-120"/>
              </a:rPr>
              <a:t>What to Present?</a:t>
            </a:r>
            <a:endParaRPr lang="en-US" sz="3600" dirty="0"/>
          </a:p>
        </p:txBody>
      </p:sp>
      <p:sp>
        <p:nvSpPr>
          <p:cNvPr id="5" name="Shape 3"/>
          <p:cNvSpPr/>
          <p:nvPr/>
        </p:nvSpPr>
        <p:spPr>
          <a:xfrm>
            <a:off x="731520" y="2743200"/>
            <a:ext cx="4572000" cy="36576"/>
          </a:xfrm>
          <a:prstGeom prst="rect">
            <a:avLst/>
          </a:prstGeom>
          <a:solidFill>
            <a:srgbClr val="F59E0B"/>
          </a:solidFill>
          <a:ln/>
        </p:spPr>
      </p:sp>
      <p:sp>
        <p:nvSpPr>
          <p:cNvPr id="6" name="Text 4"/>
          <p:cNvSpPr/>
          <p:nvPr/>
        </p:nvSpPr>
        <p:spPr>
          <a:xfrm>
            <a:off x="731520" y="3017520"/>
            <a:ext cx="7315200" cy="731520"/>
          </a:xfrm>
          <a:prstGeom prst="rect">
            <a:avLst/>
          </a:prstGeom>
          <a:noFill/>
          <a:ln/>
        </p:spPr>
        <p:txBody>
          <a:bodyPr wrap="square" lIns="0" tIns="0" rIns="0" bIns="0" rtlCol="0" anchor="ctr"/>
          <a:lstStyle/>
          <a:p>
            <a:pPr indent="0" marL="0">
              <a:buNone/>
            </a:pPr>
            <a:r>
              <a:rPr lang="en-US" sz="1800" dirty="0">
                <a:solidFill>
                  <a:srgbClr val="5EEAD4"/>
                </a:solidFill>
                <a:latin typeface="Calibri" pitchFamily="34" charset="0"/>
                <a:ea typeface="Calibri" pitchFamily="34" charset="-122"/>
                <a:cs typeface="Calibri" pitchFamily="34" charset="-120"/>
              </a:rPr>
              <a:t>I used an AI coaching tool called ProfAI</a:t>
            </a:r>
            <a:endParaRPr lang="en-US" sz="1800" dirty="0"/>
          </a:p>
          <a:p>
            <a:pPr indent="0" marL="0">
              <a:buNone/>
            </a:pPr>
            <a:r>
              <a:rPr lang="en-US" sz="1800" dirty="0">
                <a:solidFill>
                  <a:srgbClr val="5EEAD4"/>
                </a:solidFill>
                <a:latin typeface="Calibri" pitchFamily="34" charset="0"/>
                <a:ea typeface="Calibri" pitchFamily="34" charset="-122"/>
                <a:cs typeface="Calibri" pitchFamily="34" charset="-120"/>
              </a:rPr>
              <a:t>to plan this entire presentation from scratch.</a:t>
            </a:r>
            <a:endParaRPr lang="en-US" sz="1800" dirty="0"/>
          </a:p>
        </p:txBody>
      </p:sp>
      <p:sp>
        <p:nvSpPr>
          <p:cNvPr id="7" name="Text 5"/>
          <p:cNvSpPr/>
          <p:nvPr/>
        </p:nvSpPr>
        <p:spPr>
          <a:xfrm>
            <a:off x="731520" y="4023360"/>
            <a:ext cx="7315200" cy="457200"/>
          </a:xfrm>
          <a:prstGeom prst="rect">
            <a:avLst/>
          </a:prstGeom>
          <a:noFill/>
          <a:ln/>
        </p:spPr>
        <p:txBody>
          <a:bodyPr wrap="square" lIns="0" tIns="0" rIns="0" bIns="0" rtlCol="0" anchor="ctr"/>
          <a:lstStyle/>
          <a:p>
            <a:pPr indent="0" marL="0">
              <a:buNone/>
            </a:pPr>
            <a:r>
              <a:rPr lang="en-US" sz="2000" i="1" dirty="0">
                <a:solidFill>
                  <a:srgbClr val="F59E0B"/>
                </a:solidFill>
                <a:latin typeface="Georgia" pitchFamily="34" charset="0"/>
                <a:ea typeface="Georgia" pitchFamily="34" charset="-122"/>
                <a:cs typeface="Georgia" pitchFamily="34" charset="-120"/>
              </a:rPr>
              <a:t>The AI that planned the AI talk.</a:t>
            </a:r>
            <a:endParaRPr lang="en-US" sz="2000" dirty="0"/>
          </a:p>
        </p:txBody>
      </p:sp>
      <p:sp>
        <p:nvSpPr>
          <p:cNvPr id="8" name="Shape 6"/>
          <p:cNvSpPr/>
          <p:nvPr/>
        </p:nvSpPr>
        <p:spPr>
          <a:xfrm>
            <a:off x="0" y="4800600"/>
            <a:ext cx="9144000" cy="342900"/>
          </a:xfrm>
          <a:prstGeom prst="rect">
            <a:avLst/>
          </a:prstGeom>
          <a:solidFill>
            <a:srgbClr val="14B8A6"/>
          </a:solidFill>
          <a:ln/>
        </p:spPr>
      </p:sp>
      <p:sp>
        <p:nvSpPr>
          <p:cNvPr id="9" name="Text 7"/>
          <p:cNvSpPr/>
          <p:nvPr/>
        </p:nvSpPr>
        <p:spPr>
          <a:xfrm>
            <a:off x="457200" y="4800600"/>
            <a:ext cx="8229600" cy="342900"/>
          </a:xfrm>
          <a:prstGeom prst="rect">
            <a:avLst/>
          </a:prstGeom>
          <a:noFill/>
          <a:ln/>
        </p:spPr>
        <p:txBody>
          <a:bodyPr wrap="square" lIns="0" tIns="0" rIns="0" bIns="0" rtlCol="0" anchor="ctr"/>
          <a:lstStyle/>
          <a:p>
            <a:pPr algn="l" indent="0" marL="0">
              <a:buNone/>
            </a:pPr>
            <a:r>
              <a:rPr lang="en-US" sz="900" b="1" dirty="0">
                <a:solidFill>
                  <a:srgbClr val="081E25"/>
                </a:solidFill>
                <a:latin typeface="Calibri" pitchFamily="34" charset="0"/>
                <a:ea typeface="Calibri" pitchFamily="34" charset="-122"/>
                <a:cs typeface="Calibri" pitchFamily="34" charset="-120"/>
              </a:rPr>
              <a:t>PROFAI WORKFLOW DEMO</a:t>
            </a:r>
            <a:endParaRPr lang="en-US" sz="900" dirty="0"/>
          </a:p>
        </p:txBody>
      </p:sp>
      <p:sp>
        <p:nvSpPr>
          <p:cNvPr id="10" name="Text 8"/>
          <p:cNvSpPr/>
          <p:nvPr/>
        </p:nvSpPr>
        <p:spPr>
          <a:xfrm>
            <a:off x="8046720" y="4800600"/>
            <a:ext cx="914400" cy="342900"/>
          </a:xfrm>
          <a:prstGeom prst="rect">
            <a:avLst/>
          </a:prstGeom>
          <a:noFill/>
          <a:ln/>
        </p:spPr>
        <p:txBody>
          <a:bodyPr wrap="square" lIns="0" tIns="0" rIns="0" bIns="0" rtlCol="0" anchor="ctr"/>
          <a:lstStyle/>
          <a:p>
            <a:pPr algn="r" indent="0" marL="0">
              <a:buNone/>
            </a:pPr>
            <a:r>
              <a:rPr lang="en-US" sz="800" dirty="0">
                <a:solidFill>
                  <a:srgbClr val="081E25"/>
                </a:solidFill>
                <a:latin typeface="Calibri" pitchFamily="34" charset="0"/>
                <a:ea typeface="Calibri" pitchFamily="34" charset="-122"/>
                <a:cs typeface="Calibri" pitchFamily="34" charset="-120"/>
              </a:rPr>
              <a:t>22 / 31</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2E38"/>
        </a:solidFill>
      </p:bgPr>
    </p:bg>
    <p:spTree>
      <p:nvGrpSpPr>
        <p:cNvPr id="1" name=""/>
        <p:cNvGrpSpPr/>
        <p:nvPr/>
      </p:nvGrpSpPr>
      <p:grpSpPr>
        <a:xfrm>
          <a:off x="0" y="0"/>
          <a:ext cx="0" cy="0"/>
          <a:chOff x="0" y="0"/>
          <a:chExt cx="0" cy="0"/>
        </a:xfrm>
      </p:grpSpPr>
      <p:sp>
        <p:nvSpPr>
          <p:cNvPr id="2" name="Text 0"/>
          <p:cNvSpPr/>
          <p:nvPr/>
        </p:nvSpPr>
        <p:spPr>
          <a:xfrm>
            <a:off x="731520" y="274320"/>
            <a:ext cx="7315200" cy="320040"/>
          </a:xfrm>
          <a:prstGeom prst="rect">
            <a:avLst/>
          </a:prstGeom>
          <a:noFill/>
          <a:ln/>
        </p:spPr>
        <p:txBody>
          <a:bodyPr wrap="square" lIns="0" tIns="0" rIns="0" bIns="0" rtlCol="0" anchor="ctr"/>
          <a:lstStyle/>
          <a:p>
            <a:pPr indent="0" marL="0">
              <a:buNone/>
            </a:pPr>
            <a:r>
              <a:rPr lang="en-US" sz="1300" b="1" spc="300" kern="0" dirty="0">
                <a:solidFill>
                  <a:srgbClr val="14B8A6"/>
                </a:solidFill>
                <a:latin typeface="Arial" pitchFamily="34" charset="0"/>
                <a:ea typeface="Arial" pitchFamily="34" charset="-122"/>
                <a:cs typeface="Arial" pitchFamily="34" charset="-120"/>
              </a:rPr>
              <a:t>THE PROFAI WORKFLOW</a:t>
            </a:r>
            <a:endParaRPr lang="en-US" sz="1300" dirty="0"/>
          </a:p>
        </p:txBody>
      </p:sp>
      <p:sp>
        <p:nvSpPr>
          <p:cNvPr id="3" name="Text 1"/>
          <p:cNvSpPr/>
          <p:nvPr/>
        </p:nvSpPr>
        <p:spPr>
          <a:xfrm>
            <a:off x="731520" y="640080"/>
            <a:ext cx="7315200" cy="457200"/>
          </a:xfrm>
          <a:prstGeom prst="rect">
            <a:avLst/>
          </a:prstGeom>
          <a:noFill/>
          <a:ln/>
        </p:spPr>
        <p:txBody>
          <a:bodyPr wrap="square" lIns="0" tIns="0" rIns="0" bIns="0" rtlCol="0" anchor="ctr"/>
          <a:lstStyle/>
          <a:p>
            <a:pPr indent="0" marL="0">
              <a:buNone/>
            </a:pPr>
            <a:r>
              <a:rPr lang="en-US" sz="2400" dirty="0">
                <a:solidFill>
                  <a:srgbClr val="F0FDFA"/>
                </a:solidFill>
                <a:latin typeface="Arial Black" pitchFamily="34" charset="0"/>
                <a:ea typeface="Arial Black" pitchFamily="34" charset="-122"/>
                <a:cs typeface="Arial Black" pitchFamily="34" charset="-120"/>
              </a:rPr>
              <a:t>From Stuck to Structured in 3 Steps</a:t>
            </a:r>
            <a:endParaRPr lang="en-US" sz="2400" dirty="0"/>
          </a:p>
        </p:txBody>
      </p:sp>
      <p:sp>
        <p:nvSpPr>
          <p:cNvPr id="4" name="Shape 2"/>
          <p:cNvSpPr/>
          <p:nvPr/>
        </p:nvSpPr>
        <p:spPr>
          <a:xfrm>
            <a:off x="457200" y="1371600"/>
            <a:ext cx="2560320" cy="2560320"/>
          </a:xfrm>
          <a:prstGeom prst="rect">
            <a:avLst/>
          </a:prstGeom>
          <a:solidFill>
            <a:srgbClr val="0F3D4A"/>
          </a:solidFill>
          <a:ln/>
          <a:effectLst>
            <a:outerShdw sx="100000" sy="100000" kx="0" ky="0" algn="bl" rotWithShape="0" blurRad="76200" dist="25400" dir="8100000">
              <a:srgbClr val="000000">
                <a:alpha val="20000"/>
              </a:srgbClr>
            </a:outerShdw>
          </a:effectLst>
        </p:spPr>
      </p:sp>
      <p:sp>
        <p:nvSpPr>
          <p:cNvPr id="5" name="Shape 3"/>
          <p:cNvSpPr/>
          <p:nvPr/>
        </p:nvSpPr>
        <p:spPr>
          <a:xfrm>
            <a:off x="640080" y="1508760"/>
            <a:ext cx="411480" cy="411480"/>
          </a:xfrm>
          <a:prstGeom prst="oval">
            <a:avLst/>
          </a:prstGeom>
          <a:solidFill>
            <a:srgbClr val="F59E0B"/>
          </a:solidFill>
          <a:ln/>
        </p:spPr>
      </p:sp>
      <p:sp>
        <p:nvSpPr>
          <p:cNvPr id="6" name="Text 4"/>
          <p:cNvSpPr/>
          <p:nvPr/>
        </p:nvSpPr>
        <p:spPr>
          <a:xfrm>
            <a:off x="640080" y="1508760"/>
            <a:ext cx="411480" cy="411480"/>
          </a:xfrm>
          <a:prstGeom prst="rect">
            <a:avLst/>
          </a:prstGeom>
          <a:noFill/>
          <a:ln/>
        </p:spPr>
        <p:txBody>
          <a:bodyPr wrap="square" lIns="0" tIns="0" rIns="0" bIns="0" rtlCol="0" anchor="ctr"/>
          <a:lstStyle/>
          <a:p>
            <a:pPr algn="ctr" indent="0" marL="0">
              <a:buNone/>
            </a:pPr>
            <a:r>
              <a:rPr lang="en-US" sz="1800" dirty="0">
                <a:solidFill>
                  <a:srgbClr val="081E25"/>
                </a:solidFill>
                <a:latin typeface="Arial Black" pitchFamily="34" charset="0"/>
                <a:ea typeface="Arial Black" pitchFamily="34" charset="-122"/>
                <a:cs typeface="Arial Black" pitchFamily="34" charset="-120"/>
              </a:rPr>
              <a:t>1</a:t>
            </a:r>
            <a:endParaRPr lang="en-US" sz="1800" dirty="0"/>
          </a:p>
        </p:txBody>
      </p:sp>
      <p:sp>
        <p:nvSpPr>
          <p:cNvPr id="7" name="Text 5"/>
          <p:cNvSpPr/>
          <p:nvPr/>
        </p:nvSpPr>
        <p:spPr>
          <a:xfrm>
            <a:off x="1188720" y="1508760"/>
            <a:ext cx="1645920" cy="411480"/>
          </a:xfrm>
          <a:prstGeom prst="rect">
            <a:avLst/>
          </a:prstGeom>
          <a:noFill/>
          <a:ln/>
        </p:spPr>
        <p:txBody>
          <a:bodyPr wrap="square" lIns="0" tIns="0" rIns="0" bIns="0" rtlCol="0" anchor="ctr"/>
          <a:lstStyle/>
          <a:p>
            <a:pPr indent="0" marL="0">
              <a:buNone/>
            </a:pPr>
            <a:r>
              <a:rPr lang="en-US" sz="1400" b="1" dirty="0">
                <a:solidFill>
                  <a:srgbClr val="F59E0B"/>
                </a:solidFill>
                <a:latin typeface="Arial" pitchFamily="34" charset="0"/>
                <a:ea typeface="Arial" pitchFamily="34" charset="-122"/>
                <a:cs typeface="Arial" pitchFamily="34" charset="-120"/>
              </a:rPr>
              <a:t>Select Your Goals</a:t>
            </a:r>
            <a:endParaRPr lang="en-US" sz="1400" dirty="0"/>
          </a:p>
        </p:txBody>
      </p:sp>
      <p:sp>
        <p:nvSpPr>
          <p:cNvPr id="8" name="Shape 6"/>
          <p:cNvSpPr/>
          <p:nvPr/>
        </p:nvSpPr>
        <p:spPr>
          <a:xfrm>
            <a:off x="640080" y="2103120"/>
            <a:ext cx="54864" cy="1645920"/>
          </a:xfrm>
          <a:prstGeom prst="rect">
            <a:avLst/>
          </a:prstGeom>
          <a:solidFill>
            <a:srgbClr val="F59E0B"/>
          </a:solidFill>
          <a:ln/>
        </p:spPr>
      </p:sp>
      <p:sp>
        <p:nvSpPr>
          <p:cNvPr id="9" name="Text 7"/>
          <p:cNvSpPr/>
          <p:nvPr/>
        </p:nvSpPr>
        <p:spPr>
          <a:xfrm>
            <a:off x="822960" y="2103120"/>
            <a:ext cx="2011680" cy="1463040"/>
          </a:xfrm>
          <a:prstGeom prst="rect">
            <a:avLst/>
          </a:prstGeom>
          <a:noFill/>
          <a:ln/>
        </p:spPr>
        <p:txBody>
          <a:bodyPr wrap="square" lIns="0" tIns="0" rIns="0" bIns="0" rtlCol="0" anchor="ctr"/>
          <a:lstStyle/>
          <a:p>
            <a:pPr indent="0" marL="0">
              <a:lnSpc>
                <a:spcPct val="130000"/>
              </a:lnSpc>
              <a:buNone/>
            </a:pPr>
            <a:r>
              <a:rPr lang="en-US" sz="1200" dirty="0">
                <a:solidFill>
                  <a:srgbClr val="B4E4D9"/>
                </a:solidFill>
                <a:latin typeface="Calibri" pitchFamily="34" charset="0"/>
                <a:ea typeface="Calibri" pitchFamily="34" charset="-122"/>
                <a:cs typeface="Calibri" pitchFamily="34" charset="-120"/>
              </a:rPr>
              <a:t>I chose:</a:t>
            </a:r>
            <a:endParaRPr lang="en-US" sz="1200" dirty="0"/>
          </a:p>
          <a:p>
            <a:pPr indent="0" marL="0">
              <a:lnSpc>
                <a:spcPct val="130000"/>
              </a:lnSpc>
              <a:buNone/>
            </a:pPr>
            <a:r>
              <a:rPr lang="en-US" sz="1200" dirty="0">
                <a:solidFill>
                  <a:srgbClr val="B4E4D9"/>
                </a:solidFill>
                <a:latin typeface="Calibri" pitchFamily="34" charset="0"/>
                <a:ea typeface="Calibri" pitchFamily="34" charset="-122"/>
                <a:cs typeface="Calibri" pitchFamily="34" charset="-120"/>
              </a:rPr>
              <a:t>• Brainstorm</a:t>
            </a:r>
            <a:endParaRPr lang="en-US" sz="1200" dirty="0"/>
          </a:p>
          <a:p>
            <a:pPr indent="0" marL="0">
              <a:lnSpc>
                <a:spcPct val="130000"/>
              </a:lnSpc>
              <a:buNone/>
            </a:pPr>
            <a:r>
              <a:rPr lang="en-US" sz="1200" dirty="0">
                <a:solidFill>
                  <a:srgbClr val="B4E4D9"/>
                </a:solidFill>
                <a:latin typeface="Calibri" pitchFamily="34" charset="0"/>
                <a:ea typeface="Calibri" pitchFamily="34" charset="-122"/>
                <a:cs typeface="Calibri" pitchFamily="34" charset="-120"/>
              </a:rPr>
              <a:t>• Create Content</a:t>
            </a:r>
            <a:endParaRPr lang="en-US" sz="1200" dirty="0"/>
          </a:p>
          <a:p>
            <a:pPr indent="0" marL="0">
              <a:lnSpc>
                <a:spcPct val="130000"/>
              </a:lnSpc>
              <a:buNone/>
            </a:pPr>
            <a:r>
              <a:rPr lang="en-US" sz="1200" dirty="0">
                <a:solidFill>
                  <a:srgbClr val="B4E4D9"/>
                </a:solidFill>
                <a:latin typeface="Calibri" pitchFamily="34" charset="0"/>
                <a:ea typeface="Calibri" pitchFamily="34" charset="-122"/>
                <a:cs typeface="Calibri" pitchFamily="34" charset="-120"/>
              </a:rPr>
              <a:t>• Plan</a:t>
            </a:r>
            <a:endParaRPr lang="en-US" sz="1200" dirty="0"/>
          </a:p>
        </p:txBody>
      </p:sp>
      <p:sp>
        <p:nvSpPr>
          <p:cNvPr id="10" name="Shape 8"/>
          <p:cNvSpPr/>
          <p:nvPr/>
        </p:nvSpPr>
        <p:spPr>
          <a:xfrm>
            <a:off x="3291840" y="1371600"/>
            <a:ext cx="2560320" cy="2560320"/>
          </a:xfrm>
          <a:prstGeom prst="rect">
            <a:avLst/>
          </a:prstGeom>
          <a:solidFill>
            <a:srgbClr val="0F3D4A"/>
          </a:solidFill>
          <a:ln/>
          <a:effectLst>
            <a:outerShdw sx="100000" sy="100000" kx="0" ky="0" algn="bl" rotWithShape="0" blurRad="76200" dist="25400" dir="8100000">
              <a:srgbClr val="000000">
                <a:alpha val="20000"/>
              </a:srgbClr>
            </a:outerShdw>
          </a:effectLst>
        </p:spPr>
      </p:sp>
      <p:sp>
        <p:nvSpPr>
          <p:cNvPr id="11" name="Shape 9"/>
          <p:cNvSpPr/>
          <p:nvPr/>
        </p:nvSpPr>
        <p:spPr>
          <a:xfrm>
            <a:off x="3474720" y="1508760"/>
            <a:ext cx="411480" cy="411480"/>
          </a:xfrm>
          <a:prstGeom prst="oval">
            <a:avLst/>
          </a:prstGeom>
          <a:solidFill>
            <a:srgbClr val="14B8A6"/>
          </a:solidFill>
          <a:ln/>
        </p:spPr>
      </p:sp>
      <p:sp>
        <p:nvSpPr>
          <p:cNvPr id="12" name="Text 10"/>
          <p:cNvSpPr/>
          <p:nvPr/>
        </p:nvSpPr>
        <p:spPr>
          <a:xfrm>
            <a:off x="3474720" y="1508760"/>
            <a:ext cx="411480" cy="411480"/>
          </a:xfrm>
          <a:prstGeom prst="rect">
            <a:avLst/>
          </a:prstGeom>
          <a:noFill/>
          <a:ln/>
        </p:spPr>
        <p:txBody>
          <a:bodyPr wrap="square" lIns="0" tIns="0" rIns="0" bIns="0" rtlCol="0" anchor="ctr"/>
          <a:lstStyle/>
          <a:p>
            <a:pPr algn="ctr" indent="0" marL="0">
              <a:buNone/>
            </a:pPr>
            <a:r>
              <a:rPr lang="en-US" sz="1800" dirty="0">
                <a:solidFill>
                  <a:srgbClr val="081E25"/>
                </a:solidFill>
                <a:latin typeface="Arial Black" pitchFamily="34" charset="0"/>
                <a:ea typeface="Arial Black" pitchFamily="34" charset="-122"/>
                <a:cs typeface="Arial Black" pitchFamily="34" charset="-120"/>
              </a:rPr>
              <a:t>2</a:t>
            </a:r>
            <a:endParaRPr lang="en-US" sz="1800" dirty="0"/>
          </a:p>
        </p:txBody>
      </p:sp>
      <p:sp>
        <p:nvSpPr>
          <p:cNvPr id="13" name="Text 11"/>
          <p:cNvSpPr/>
          <p:nvPr/>
        </p:nvSpPr>
        <p:spPr>
          <a:xfrm>
            <a:off x="4023360" y="1508760"/>
            <a:ext cx="1645920" cy="411480"/>
          </a:xfrm>
          <a:prstGeom prst="rect">
            <a:avLst/>
          </a:prstGeom>
          <a:noFill/>
          <a:ln/>
        </p:spPr>
        <p:txBody>
          <a:bodyPr wrap="square" lIns="0" tIns="0" rIns="0" bIns="0" rtlCol="0" anchor="ctr"/>
          <a:lstStyle/>
          <a:p>
            <a:pPr indent="0" marL="0">
              <a:buNone/>
            </a:pPr>
            <a:r>
              <a:rPr lang="en-US" sz="1400" b="1" dirty="0">
                <a:solidFill>
                  <a:srgbClr val="14B8A6"/>
                </a:solidFill>
                <a:latin typeface="Arial" pitchFamily="34" charset="0"/>
                <a:ea typeface="Arial" pitchFamily="34" charset="-122"/>
                <a:cs typeface="Arial" pitchFamily="34" charset="-120"/>
              </a:rPr>
              <a:t>Provide Context</a:t>
            </a:r>
            <a:endParaRPr lang="en-US" sz="1400" dirty="0"/>
          </a:p>
        </p:txBody>
      </p:sp>
      <p:sp>
        <p:nvSpPr>
          <p:cNvPr id="14" name="Shape 12"/>
          <p:cNvSpPr/>
          <p:nvPr/>
        </p:nvSpPr>
        <p:spPr>
          <a:xfrm>
            <a:off x="3474720" y="2103120"/>
            <a:ext cx="54864" cy="1645920"/>
          </a:xfrm>
          <a:prstGeom prst="rect">
            <a:avLst/>
          </a:prstGeom>
          <a:solidFill>
            <a:srgbClr val="14B8A6"/>
          </a:solidFill>
          <a:ln/>
        </p:spPr>
      </p:sp>
      <p:sp>
        <p:nvSpPr>
          <p:cNvPr id="15" name="Text 13"/>
          <p:cNvSpPr/>
          <p:nvPr/>
        </p:nvSpPr>
        <p:spPr>
          <a:xfrm>
            <a:off x="3566160" y="2103120"/>
            <a:ext cx="2103120" cy="1463040"/>
          </a:xfrm>
          <a:prstGeom prst="rect">
            <a:avLst/>
          </a:prstGeom>
          <a:noFill/>
          <a:ln/>
        </p:spPr>
        <p:txBody>
          <a:bodyPr wrap="square" lIns="0" tIns="0" rIns="0" bIns="0" rtlCol="0" anchor="ctr"/>
          <a:lstStyle/>
          <a:p>
            <a:pPr indent="0" marL="0">
              <a:lnSpc>
                <a:spcPct val="130000"/>
              </a:lnSpc>
              <a:buNone/>
            </a:pPr>
            <a:r>
              <a:rPr lang="en-US" sz="1200" dirty="0">
                <a:solidFill>
                  <a:srgbClr val="B4E4D9"/>
                </a:solidFill>
                <a:latin typeface="Calibri" pitchFamily="34" charset="0"/>
                <a:ea typeface="Calibri" pitchFamily="34" charset="-122"/>
                <a:cs typeface="Calibri" pitchFamily="34" charset="-120"/>
              </a:rPr>
              <a:t>Pasted my talk abstract,</a:t>
            </a:r>
            <a:endParaRPr lang="en-US" sz="1200" dirty="0"/>
          </a:p>
          <a:p>
            <a:pPr indent="0" marL="0">
              <a:lnSpc>
                <a:spcPct val="130000"/>
              </a:lnSpc>
              <a:buNone/>
            </a:pPr>
            <a:r>
              <a:rPr lang="en-US" sz="1200" dirty="0">
                <a:solidFill>
                  <a:srgbClr val="B4E4D9"/>
                </a:solidFill>
                <a:latin typeface="Calibri" pitchFamily="34" charset="0"/>
                <a:ea typeface="Calibri" pitchFamily="34" charset="-122"/>
                <a:cs typeface="Calibri" pitchFamily="34" charset="-120"/>
              </a:rPr>
              <a:t>audience level, and</a:t>
            </a:r>
            <a:endParaRPr lang="en-US" sz="1200" dirty="0"/>
          </a:p>
          <a:p>
            <a:pPr indent="0" marL="0">
              <a:lnSpc>
                <a:spcPct val="130000"/>
              </a:lnSpc>
              <a:buNone/>
            </a:pPr>
            <a:r>
              <a:rPr lang="en-US" sz="1200" dirty="0">
                <a:solidFill>
                  <a:srgbClr val="B4E4D9"/>
                </a:solidFill>
                <a:latin typeface="Calibri" pitchFamily="34" charset="0"/>
                <a:ea typeface="Calibri" pitchFamily="34" charset="-122"/>
                <a:cs typeface="Calibri" pitchFamily="34" charset="-120"/>
              </a:rPr>
              <a:t>interactive elements</a:t>
            </a:r>
            <a:endParaRPr lang="en-US" sz="1200" dirty="0"/>
          </a:p>
          <a:p>
            <a:pPr indent="0" marL="0">
              <a:lnSpc>
                <a:spcPct val="130000"/>
              </a:lnSpc>
              <a:buNone/>
            </a:pPr>
            <a:r>
              <a:rPr lang="en-US" sz="1200" dirty="0">
                <a:solidFill>
                  <a:srgbClr val="B4E4D9"/>
                </a:solidFill>
                <a:latin typeface="Calibri" pitchFamily="34" charset="0"/>
                <a:ea typeface="Calibri" pitchFamily="34" charset="-122"/>
                <a:cs typeface="Calibri" pitchFamily="34" charset="-120"/>
              </a:rPr>
              <a:t>I wanted to include</a:t>
            </a:r>
            <a:endParaRPr lang="en-US" sz="1200" dirty="0"/>
          </a:p>
        </p:txBody>
      </p:sp>
      <p:sp>
        <p:nvSpPr>
          <p:cNvPr id="16" name="Shape 14"/>
          <p:cNvSpPr/>
          <p:nvPr/>
        </p:nvSpPr>
        <p:spPr>
          <a:xfrm>
            <a:off x="6126480" y="1371600"/>
            <a:ext cx="2560320" cy="2560320"/>
          </a:xfrm>
          <a:prstGeom prst="rect">
            <a:avLst/>
          </a:prstGeom>
          <a:solidFill>
            <a:srgbClr val="0F3D4A"/>
          </a:solidFill>
          <a:ln/>
          <a:effectLst>
            <a:outerShdw sx="100000" sy="100000" kx="0" ky="0" algn="bl" rotWithShape="0" blurRad="76200" dist="25400" dir="8100000">
              <a:srgbClr val="000000">
                <a:alpha val="20000"/>
              </a:srgbClr>
            </a:outerShdw>
          </a:effectLst>
        </p:spPr>
      </p:sp>
      <p:sp>
        <p:nvSpPr>
          <p:cNvPr id="17" name="Shape 15"/>
          <p:cNvSpPr/>
          <p:nvPr/>
        </p:nvSpPr>
        <p:spPr>
          <a:xfrm>
            <a:off x="6309360" y="1508760"/>
            <a:ext cx="411480" cy="411480"/>
          </a:xfrm>
          <a:prstGeom prst="oval">
            <a:avLst/>
          </a:prstGeom>
          <a:solidFill>
            <a:srgbClr val="5EEAD4"/>
          </a:solidFill>
          <a:ln/>
        </p:spPr>
      </p:sp>
      <p:sp>
        <p:nvSpPr>
          <p:cNvPr id="18" name="Text 16"/>
          <p:cNvSpPr/>
          <p:nvPr/>
        </p:nvSpPr>
        <p:spPr>
          <a:xfrm>
            <a:off x="6309360" y="1508760"/>
            <a:ext cx="411480" cy="411480"/>
          </a:xfrm>
          <a:prstGeom prst="rect">
            <a:avLst/>
          </a:prstGeom>
          <a:noFill/>
          <a:ln/>
        </p:spPr>
        <p:txBody>
          <a:bodyPr wrap="square" lIns="0" tIns="0" rIns="0" bIns="0" rtlCol="0" anchor="ctr"/>
          <a:lstStyle/>
          <a:p>
            <a:pPr algn="ctr" indent="0" marL="0">
              <a:buNone/>
            </a:pPr>
            <a:r>
              <a:rPr lang="en-US" sz="1800" dirty="0">
                <a:solidFill>
                  <a:srgbClr val="081E25"/>
                </a:solidFill>
                <a:latin typeface="Arial Black" pitchFamily="34" charset="0"/>
                <a:ea typeface="Arial Black" pitchFamily="34" charset="-122"/>
                <a:cs typeface="Arial Black" pitchFamily="34" charset="-120"/>
              </a:rPr>
              <a:t>3</a:t>
            </a:r>
            <a:endParaRPr lang="en-US" sz="1800" dirty="0"/>
          </a:p>
        </p:txBody>
      </p:sp>
      <p:sp>
        <p:nvSpPr>
          <p:cNvPr id="19" name="Text 17"/>
          <p:cNvSpPr/>
          <p:nvPr/>
        </p:nvSpPr>
        <p:spPr>
          <a:xfrm>
            <a:off x="6858000" y="1508760"/>
            <a:ext cx="1645920" cy="411480"/>
          </a:xfrm>
          <a:prstGeom prst="rect">
            <a:avLst/>
          </a:prstGeom>
          <a:noFill/>
          <a:ln/>
        </p:spPr>
        <p:txBody>
          <a:bodyPr wrap="square" lIns="0" tIns="0" rIns="0" bIns="0" rtlCol="0" anchor="ctr"/>
          <a:lstStyle/>
          <a:p>
            <a:pPr indent="0" marL="0">
              <a:buNone/>
            </a:pPr>
            <a:r>
              <a:rPr lang="en-US" sz="1400" b="1" dirty="0">
                <a:solidFill>
                  <a:srgbClr val="5EEAD4"/>
                </a:solidFill>
                <a:latin typeface="Arial" pitchFamily="34" charset="0"/>
                <a:ea typeface="Arial" pitchFamily="34" charset="-122"/>
                <a:cs typeface="Arial" pitchFamily="34" charset="-120"/>
              </a:rPr>
              <a:t>Get Action Plan</a:t>
            </a:r>
            <a:endParaRPr lang="en-US" sz="1400" dirty="0"/>
          </a:p>
        </p:txBody>
      </p:sp>
      <p:sp>
        <p:nvSpPr>
          <p:cNvPr id="20" name="Shape 18"/>
          <p:cNvSpPr/>
          <p:nvPr/>
        </p:nvSpPr>
        <p:spPr>
          <a:xfrm>
            <a:off x="6309360" y="2103120"/>
            <a:ext cx="54864" cy="1645920"/>
          </a:xfrm>
          <a:prstGeom prst="rect">
            <a:avLst/>
          </a:prstGeom>
          <a:solidFill>
            <a:srgbClr val="5EEAD4"/>
          </a:solidFill>
          <a:ln/>
        </p:spPr>
      </p:sp>
      <p:sp>
        <p:nvSpPr>
          <p:cNvPr id="21" name="Text 19"/>
          <p:cNvSpPr/>
          <p:nvPr/>
        </p:nvSpPr>
        <p:spPr>
          <a:xfrm>
            <a:off x="6492240" y="2103120"/>
            <a:ext cx="2011680" cy="1463040"/>
          </a:xfrm>
          <a:prstGeom prst="rect">
            <a:avLst/>
          </a:prstGeom>
          <a:noFill/>
          <a:ln/>
        </p:spPr>
        <p:txBody>
          <a:bodyPr wrap="square" lIns="0" tIns="0" rIns="0" bIns="0" rtlCol="0" anchor="ctr"/>
          <a:lstStyle/>
          <a:p>
            <a:pPr indent="0" marL="0">
              <a:lnSpc>
                <a:spcPct val="130000"/>
              </a:lnSpc>
              <a:buNone/>
            </a:pPr>
            <a:r>
              <a:rPr lang="en-US" sz="1200" dirty="0">
                <a:solidFill>
                  <a:srgbClr val="B4E4D9"/>
                </a:solidFill>
                <a:latin typeface="Calibri" pitchFamily="34" charset="0"/>
                <a:ea typeface="Calibri" pitchFamily="34" charset="-122"/>
                <a:cs typeface="Calibri" pitchFamily="34" charset="-120"/>
              </a:rPr>
              <a:t>Received:</a:t>
            </a:r>
            <a:endParaRPr lang="en-US" sz="1200" dirty="0"/>
          </a:p>
          <a:p>
            <a:pPr indent="0" marL="0">
              <a:lnSpc>
                <a:spcPct val="130000"/>
              </a:lnSpc>
              <a:buNone/>
            </a:pPr>
            <a:r>
              <a:rPr lang="en-US" sz="1200" dirty="0">
                <a:solidFill>
                  <a:srgbClr val="B4E4D9"/>
                </a:solidFill>
                <a:latin typeface="Calibri" pitchFamily="34" charset="0"/>
                <a:ea typeface="Calibri" pitchFamily="34" charset="-122"/>
                <a:cs typeface="Calibri" pitchFamily="34" charset="-120"/>
              </a:rPr>
              <a:t>• Scoring framework</a:t>
            </a:r>
            <a:endParaRPr lang="en-US" sz="1200" dirty="0"/>
          </a:p>
          <a:p>
            <a:pPr indent="0" marL="0">
              <a:lnSpc>
                <a:spcPct val="130000"/>
              </a:lnSpc>
              <a:buNone/>
            </a:pPr>
            <a:r>
              <a:rPr lang="en-US" sz="1200" dirty="0">
                <a:solidFill>
                  <a:srgbClr val="B4E4D9"/>
                </a:solidFill>
                <a:latin typeface="Calibri" pitchFamily="34" charset="0"/>
                <a:ea typeface="Calibri" pitchFamily="34" charset="-122"/>
                <a:cs typeface="Calibri" pitchFamily="34" charset="-120"/>
              </a:rPr>
              <a:t>• Tool recommendations</a:t>
            </a:r>
            <a:endParaRPr lang="en-US" sz="1200" dirty="0"/>
          </a:p>
          <a:p>
            <a:pPr indent="0" marL="0">
              <a:lnSpc>
                <a:spcPct val="130000"/>
              </a:lnSpc>
              <a:buNone/>
            </a:pPr>
            <a:r>
              <a:rPr lang="en-US" sz="1200" dirty="0">
                <a:solidFill>
                  <a:srgbClr val="B4E4D9"/>
                </a:solidFill>
                <a:latin typeface="Calibri" pitchFamily="34" charset="0"/>
                <a:ea typeface="Calibri" pitchFamily="34" charset="-122"/>
                <a:cs typeface="Calibri" pitchFamily="34" charset="-120"/>
              </a:rPr>
              <a:t>• Iteration strategy</a:t>
            </a:r>
            <a:endParaRPr lang="en-US" sz="1200" dirty="0"/>
          </a:p>
        </p:txBody>
      </p:sp>
      <p:sp>
        <p:nvSpPr>
          <p:cNvPr id="22" name="Text 20"/>
          <p:cNvSpPr/>
          <p:nvPr/>
        </p:nvSpPr>
        <p:spPr>
          <a:xfrm>
            <a:off x="2926080" y="2194560"/>
            <a:ext cx="457200" cy="457200"/>
          </a:xfrm>
          <a:prstGeom prst="rect">
            <a:avLst/>
          </a:prstGeom>
          <a:noFill/>
          <a:ln/>
        </p:spPr>
        <p:txBody>
          <a:bodyPr wrap="square" lIns="0" tIns="0" rIns="0" bIns="0" rtlCol="0" anchor="ctr"/>
          <a:lstStyle/>
          <a:p>
            <a:pPr algn="ctr" indent="0" marL="0">
              <a:buNone/>
            </a:pPr>
            <a:r>
              <a:rPr lang="en-US" sz="2800" dirty="0">
                <a:solidFill>
                  <a:srgbClr val="F59E0B"/>
                </a:solidFill>
                <a:latin typeface="Arial" pitchFamily="34" charset="0"/>
                <a:ea typeface="Arial" pitchFamily="34" charset="-122"/>
                <a:cs typeface="Arial" pitchFamily="34" charset="-120"/>
              </a:rPr>
              <a:t>→</a:t>
            </a:r>
            <a:endParaRPr lang="en-US" sz="2800" dirty="0"/>
          </a:p>
        </p:txBody>
      </p:sp>
      <p:sp>
        <p:nvSpPr>
          <p:cNvPr id="23" name="Text 21"/>
          <p:cNvSpPr/>
          <p:nvPr/>
        </p:nvSpPr>
        <p:spPr>
          <a:xfrm>
            <a:off x="5760720" y="2194560"/>
            <a:ext cx="457200" cy="457200"/>
          </a:xfrm>
          <a:prstGeom prst="rect">
            <a:avLst/>
          </a:prstGeom>
          <a:noFill/>
          <a:ln/>
        </p:spPr>
        <p:txBody>
          <a:bodyPr wrap="square" lIns="0" tIns="0" rIns="0" bIns="0" rtlCol="0" anchor="ctr"/>
          <a:lstStyle/>
          <a:p>
            <a:pPr algn="ctr" indent="0" marL="0">
              <a:buNone/>
            </a:pPr>
            <a:r>
              <a:rPr lang="en-US" sz="2800" dirty="0">
                <a:solidFill>
                  <a:srgbClr val="14B8A6"/>
                </a:solidFill>
                <a:latin typeface="Arial" pitchFamily="34" charset="0"/>
                <a:ea typeface="Arial" pitchFamily="34" charset="-122"/>
                <a:cs typeface="Arial" pitchFamily="34" charset="-120"/>
              </a:rPr>
              <a:t>→</a:t>
            </a:r>
            <a:endParaRPr lang="en-US" sz="2800" dirty="0"/>
          </a:p>
        </p:txBody>
      </p:sp>
      <p:sp>
        <p:nvSpPr>
          <p:cNvPr id="24" name="Shape 22"/>
          <p:cNvSpPr/>
          <p:nvPr/>
        </p:nvSpPr>
        <p:spPr>
          <a:xfrm>
            <a:off x="457200" y="4206240"/>
            <a:ext cx="8229600" cy="365760"/>
          </a:xfrm>
          <a:prstGeom prst="rect">
            <a:avLst/>
          </a:prstGeom>
          <a:solidFill>
            <a:srgbClr val="0F3D4A"/>
          </a:solidFill>
          <a:ln/>
          <a:effectLst>
            <a:outerShdw sx="100000" sy="100000" kx="0" ky="0" algn="bl" rotWithShape="0" blurRad="76200" dist="25400" dir="8100000">
              <a:srgbClr val="000000">
                <a:alpha val="20000"/>
              </a:srgbClr>
            </a:outerShdw>
          </a:effectLst>
        </p:spPr>
      </p:sp>
      <p:sp>
        <p:nvSpPr>
          <p:cNvPr id="25" name="Text 23"/>
          <p:cNvSpPr/>
          <p:nvPr/>
        </p:nvSpPr>
        <p:spPr>
          <a:xfrm>
            <a:off x="640080" y="4206240"/>
            <a:ext cx="7863840" cy="365760"/>
          </a:xfrm>
          <a:prstGeom prst="rect">
            <a:avLst/>
          </a:prstGeom>
          <a:noFill/>
          <a:ln/>
        </p:spPr>
        <p:txBody>
          <a:bodyPr wrap="square" lIns="0" tIns="0" rIns="0" bIns="0" rtlCol="0" anchor="ctr"/>
          <a:lstStyle/>
          <a:p>
            <a:pPr indent="0" marL="0">
              <a:buNone/>
            </a:pPr>
            <a:r>
              <a:rPr lang="en-US" sz="1100" i="1" dirty="0">
                <a:solidFill>
                  <a:srgbClr val="F59E0B"/>
                </a:solidFill>
                <a:latin typeface="Georgia" pitchFamily="34" charset="0"/>
                <a:ea typeface="Georgia" pitchFamily="34" charset="-122"/>
                <a:cs typeface="Georgia" pitchFamily="34" charset="-120"/>
              </a:rPr>
              <a:t>"I went from 'I have no idea what to present' to a ranked list of 22 use cases in one session."</a:t>
            </a:r>
            <a:endParaRPr lang="en-US" sz="1100" dirty="0"/>
          </a:p>
        </p:txBody>
      </p:sp>
      <p:sp>
        <p:nvSpPr>
          <p:cNvPr id="26" name="Shape 24"/>
          <p:cNvSpPr/>
          <p:nvPr/>
        </p:nvSpPr>
        <p:spPr>
          <a:xfrm>
            <a:off x="0" y="4800600"/>
            <a:ext cx="9144000" cy="342900"/>
          </a:xfrm>
          <a:prstGeom prst="rect">
            <a:avLst/>
          </a:prstGeom>
          <a:solidFill>
            <a:srgbClr val="14B8A6"/>
          </a:solidFill>
          <a:ln/>
        </p:spPr>
      </p:sp>
      <p:sp>
        <p:nvSpPr>
          <p:cNvPr id="27" name="Text 25"/>
          <p:cNvSpPr/>
          <p:nvPr/>
        </p:nvSpPr>
        <p:spPr>
          <a:xfrm>
            <a:off x="457200" y="4800600"/>
            <a:ext cx="8229600" cy="342900"/>
          </a:xfrm>
          <a:prstGeom prst="rect">
            <a:avLst/>
          </a:prstGeom>
          <a:noFill/>
          <a:ln/>
        </p:spPr>
        <p:txBody>
          <a:bodyPr wrap="square" lIns="0" tIns="0" rIns="0" bIns="0" rtlCol="0" anchor="ctr"/>
          <a:lstStyle/>
          <a:p>
            <a:pPr algn="l" indent="0" marL="0">
              <a:buNone/>
            </a:pPr>
            <a:r>
              <a:rPr lang="en-US" sz="900" b="1" dirty="0">
                <a:solidFill>
                  <a:srgbClr val="081E25"/>
                </a:solidFill>
                <a:latin typeface="Calibri" pitchFamily="34" charset="0"/>
                <a:ea typeface="Calibri" pitchFamily="34" charset="-122"/>
                <a:cs typeface="Calibri" pitchFamily="34" charset="-120"/>
              </a:rPr>
              <a:t>PROFAI WORKFLOW DEMO</a:t>
            </a:r>
            <a:endParaRPr lang="en-US" sz="900" dirty="0"/>
          </a:p>
        </p:txBody>
      </p:sp>
      <p:sp>
        <p:nvSpPr>
          <p:cNvPr id="28" name="Text 26"/>
          <p:cNvSpPr/>
          <p:nvPr/>
        </p:nvSpPr>
        <p:spPr>
          <a:xfrm>
            <a:off x="8046720" y="4800600"/>
            <a:ext cx="914400" cy="342900"/>
          </a:xfrm>
          <a:prstGeom prst="rect">
            <a:avLst/>
          </a:prstGeom>
          <a:noFill/>
          <a:ln/>
        </p:spPr>
        <p:txBody>
          <a:bodyPr wrap="square" lIns="0" tIns="0" rIns="0" bIns="0" rtlCol="0" anchor="ctr"/>
          <a:lstStyle/>
          <a:p>
            <a:pPr algn="r" indent="0" marL="0">
              <a:buNone/>
            </a:pPr>
            <a:r>
              <a:rPr lang="en-US" sz="800" dirty="0">
                <a:solidFill>
                  <a:srgbClr val="081E25"/>
                </a:solidFill>
                <a:latin typeface="Calibri" pitchFamily="34" charset="0"/>
                <a:ea typeface="Calibri" pitchFamily="34" charset="-122"/>
                <a:cs typeface="Calibri" pitchFamily="34" charset="-120"/>
              </a:rPr>
              <a:t>23 / 31</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2E38"/>
        </a:solidFill>
      </p:bgPr>
    </p:bg>
    <p:spTree>
      <p:nvGrpSpPr>
        <p:cNvPr id="1" name=""/>
        <p:cNvGrpSpPr/>
        <p:nvPr/>
      </p:nvGrpSpPr>
      <p:grpSpPr>
        <a:xfrm>
          <a:off x="0" y="0"/>
          <a:ext cx="0" cy="0"/>
          <a:chOff x="0" y="0"/>
          <a:chExt cx="0" cy="0"/>
        </a:xfrm>
      </p:grpSpPr>
      <p:sp>
        <p:nvSpPr>
          <p:cNvPr id="2" name="Text 0"/>
          <p:cNvSpPr/>
          <p:nvPr/>
        </p:nvSpPr>
        <p:spPr>
          <a:xfrm>
            <a:off x="731520" y="274320"/>
            <a:ext cx="7315200" cy="320040"/>
          </a:xfrm>
          <a:prstGeom prst="rect">
            <a:avLst/>
          </a:prstGeom>
          <a:noFill/>
          <a:ln/>
        </p:spPr>
        <p:txBody>
          <a:bodyPr wrap="square" lIns="0" tIns="0" rIns="0" bIns="0" rtlCol="0" anchor="ctr"/>
          <a:lstStyle/>
          <a:p>
            <a:pPr indent="0" marL="0">
              <a:buNone/>
            </a:pPr>
            <a:r>
              <a:rPr lang="en-US" sz="1300" b="1" spc="300" kern="0" dirty="0">
                <a:solidFill>
                  <a:srgbClr val="14B8A6"/>
                </a:solidFill>
                <a:latin typeface="Arial" pitchFamily="34" charset="0"/>
                <a:ea typeface="Arial" pitchFamily="34" charset="-122"/>
                <a:cs typeface="Arial" pitchFamily="34" charset="-120"/>
              </a:rPr>
              <a:t>WHAT PROFAI GENERATED</a:t>
            </a:r>
            <a:endParaRPr lang="en-US" sz="1300" dirty="0"/>
          </a:p>
        </p:txBody>
      </p:sp>
      <p:sp>
        <p:nvSpPr>
          <p:cNvPr id="3" name="Text 1"/>
          <p:cNvSpPr/>
          <p:nvPr/>
        </p:nvSpPr>
        <p:spPr>
          <a:xfrm>
            <a:off x="731520" y="640080"/>
            <a:ext cx="7315200" cy="457200"/>
          </a:xfrm>
          <a:prstGeom prst="rect">
            <a:avLst/>
          </a:prstGeom>
          <a:noFill/>
          <a:ln/>
        </p:spPr>
        <p:txBody>
          <a:bodyPr wrap="square" lIns="0" tIns="0" rIns="0" bIns="0" rtlCol="0" anchor="ctr"/>
          <a:lstStyle/>
          <a:p>
            <a:pPr indent="0" marL="0">
              <a:buNone/>
            </a:pPr>
            <a:r>
              <a:rPr lang="en-US" sz="2400" dirty="0">
                <a:solidFill>
                  <a:srgbClr val="F0FDFA"/>
                </a:solidFill>
                <a:latin typeface="Arial Black" pitchFamily="34" charset="0"/>
                <a:ea typeface="Arial Black" pitchFamily="34" charset="-122"/>
                <a:cs typeface="Arial Black" pitchFamily="34" charset="-120"/>
              </a:rPr>
              <a:t>The AI Coaching Output</a:t>
            </a:r>
            <a:endParaRPr lang="en-US" sz="2400" dirty="0"/>
          </a:p>
        </p:txBody>
      </p:sp>
      <p:sp>
        <p:nvSpPr>
          <p:cNvPr id="4" name="Shape 2"/>
          <p:cNvSpPr/>
          <p:nvPr/>
        </p:nvSpPr>
        <p:spPr>
          <a:xfrm>
            <a:off x="457200" y="1371600"/>
            <a:ext cx="3931920" cy="2743200"/>
          </a:xfrm>
          <a:prstGeom prst="rect">
            <a:avLst/>
          </a:prstGeom>
          <a:solidFill>
            <a:srgbClr val="0F3D4A"/>
          </a:solidFill>
          <a:ln/>
          <a:effectLst>
            <a:outerShdw sx="100000" sy="100000" kx="0" ky="0" algn="bl" rotWithShape="0" blurRad="76200" dist="25400" dir="8100000">
              <a:srgbClr val="000000">
                <a:alpha val="20000"/>
              </a:srgbClr>
            </a:outerShdw>
          </a:effectLst>
        </p:spPr>
      </p:sp>
      <p:sp>
        <p:nvSpPr>
          <p:cNvPr id="5" name="Shape 3"/>
          <p:cNvSpPr/>
          <p:nvPr/>
        </p:nvSpPr>
        <p:spPr>
          <a:xfrm>
            <a:off x="457200" y="1371600"/>
            <a:ext cx="54864" cy="2743200"/>
          </a:xfrm>
          <a:prstGeom prst="rect">
            <a:avLst/>
          </a:prstGeom>
          <a:solidFill>
            <a:srgbClr val="F59E0B"/>
          </a:solidFill>
          <a:ln/>
        </p:spPr>
      </p:sp>
      <p:sp>
        <p:nvSpPr>
          <p:cNvPr id="6" name="Text 4"/>
          <p:cNvSpPr/>
          <p:nvPr/>
        </p:nvSpPr>
        <p:spPr>
          <a:xfrm>
            <a:off x="685800" y="1463040"/>
            <a:ext cx="3474720" cy="320040"/>
          </a:xfrm>
          <a:prstGeom prst="rect">
            <a:avLst/>
          </a:prstGeom>
          <a:noFill/>
          <a:ln/>
        </p:spPr>
        <p:txBody>
          <a:bodyPr wrap="square" lIns="0" tIns="0" rIns="0" bIns="0" rtlCol="0" anchor="ctr"/>
          <a:lstStyle/>
          <a:p>
            <a:pPr indent="0" marL="0">
              <a:buNone/>
            </a:pPr>
            <a:r>
              <a:rPr lang="en-US" sz="1400" b="1" dirty="0">
                <a:solidFill>
                  <a:srgbClr val="F59E0B"/>
                </a:solidFill>
                <a:latin typeface="Arial" pitchFamily="34" charset="0"/>
                <a:ea typeface="Arial" pitchFamily="34" charset="-122"/>
                <a:cs typeface="Arial" pitchFamily="34" charset="-120"/>
              </a:rPr>
              <a:t>Use Case Scoring Framework</a:t>
            </a:r>
            <a:endParaRPr lang="en-US" sz="1400" dirty="0"/>
          </a:p>
        </p:txBody>
      </p:sp>
      <p:sp>
        <p:nvSpPr>
          <p:cNvPr id="7" name="Shape 5"/>
          <p:cNvSpPr/>
          <p:nvPr/>
        </p:nvSpPr>
        <p:spPr>
          <a:xfrm>
            <a:off x="731520" y="2011680"/>
            <a:ext cx="274320" cy="274320"/>
          </a:xfrm>
          <a:prstGeom prst="oval">
            <a:avLst/>
          </a:prstGeom>
          <a:solidFill>
            <a:srgbClr val="F59E0B">
              <a:alpha val="80000"/>
            </a:srgbClr>
          </a:solidFill>
          <a:ln/>
        </p:spPr>
      </p:sp>
      <p:sp>
        <p:nvSpPr>
          <p:cNvPr id="8" name="Text 6"/>
          <p:cNvSpPr/>
          <p:nvPr/>
        </p:nvSpPr>
        <p:spPr>
          <a:xfrm>
            <a:off x="731520" y="2011680"/>
            <a:ext cx="274320" cy="274320"/>
          </a:xfrm>
          <a:prstGeom prst="rect">
            <a:avLst/>
          </a:prstGeom>
          <a:noFill/>
          <a:ln/>
        </p:spPr>
        <p:txBody>
          <a:bodyPr wrap="square" lIns="0" tIns="0" rIns="0" bIns="0" rtlCol="0" anchor="ctr"/>
          <a:lstStyle/>
          <a:p>
            <a:pPr algn="ctr" indent="0" marL="0">
              <a:buNone/>
            </a:pPr>
            <a:r>
              <a:rPr lang="en-US" sz="800" dirty="0">
                <a:solidFill>
                  <a:srgbClr val="F59E0B"/>
                </a:solidFill>
                <a:latin typeface="Arial" pitchFamily="34" charset="0"/>
                <a:ea typeface="Arial" pitchFamily="34" charset="-122"/>
                <a:cs typeface="Arial" pitchFamily="34" charset="-120"/>
              </a:rPr>
              <a:t>1–10</a:t>
            </a:r>
            <a:endParaRPr lang="en-US" sz="800" dirty="0"/>
          </a:p>
        </p:txBody>
      </p:sp>
      <p:sp>
        <p:nvSpPr>
          <p:cNvPr id="9" name="Text 7"/>
          <p:cNvSpPr/>
          <p:nvPr/>
        </p:nvSpPr>
        <p:spPr>
          <a:xfrm>
            <a:off x="1143000" y="1965960"/>
            <a:ext cx="1371600" cy="201168"/>
          </a:xfrm>
          <a:prstGeom prst="rect">
            <a:avLst/>
          </a:prstGeom>
          <a:noFill/>
          <a:ln/>
        </p:spPr>
        <p:txBody>
          <a:bodyPr wrap="square" lIns="0" tIns="0" rIns="0" bIns="0" rtlCol="0" anchor="ctr"/>
          <a:lstStyle/>
          <a:p>
            <a:pPr indent="0" marL="0">
              <a:buNone/>
            </a:pPr>
            <a:r>
              <a:rPr lang="en-US" sz="1100" b="1" dirty="0">
                <a:solidFill>
                  <a:srgbClr val="F0FDFA"/>
                </a:solidFill>
                <a:latin typeface="Arial" pitchFamily="34" charset="0"/>
                <a:ea typeface="Arial" pitchFamily="34" charset="-122"/>
                <a:cs typeface="Arial" pitchFamily="34" charset="-120"/>
              </a:rPr>
              <a:t>Relatability</a:t>
            </a:r>
            <a:endParaRPr lang="en-US" sz="1100" dirty="0"/>
          </a:p>
        </p:txBody>
      </p:sp>
      <p:sp>
        <p:nvSpPr>
          <p:cNvPr id="10" name="Text 8"/>
          <p:cNvSpPr/>
          <p:nvPr/>
        </p:nvSpPr>
        <p:spPr>
          <a:xfrm>
            <a:off x="1143000" y="2167128"/>
            <a:ext cx="3017520" cy="201168"/>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Can Java devs see themselves using this?</a:t>
            </a:r>
            <a:endParaRPr lang="en-US" sz="900" dirty="0"/>
          </a:p>
        </p:txBody>
      </p:sp>
      <p:sp>
        <p:nvSpPr>
          <p:cNvPr id="11" name="Shape 9"/>
          <p:cNvSpPr/>
          <p:nvPr/>
        </p:nvSpPr>
        <p:spPr>
          <a:xfrm>
            <a:off x="731520" y="2487168"/>
            <a:ext cx="274320" cy="274320"/>
          </a:xfrm>
          <a:prstGeom prst="oval">
            <a:avLst/>
          </a:prstGeom>
          <a:solidFill>
            <a:srgbClr val="F59E0B">
              <a:alpha val="80000"/>
            </a:srgbClr>
          </a:solidFill>
          <a:ln/>
        </p:spPr>
      </p:sp>
      <p:sp>
        <p:nvSpPr>
          <p:cNvPr id="12" name="Text 10"/>
          <p:cNvSpPr/>
          <p:nvPr/>
        </p:nvSpPr>
        <p:spPr>
          <a:xfrm>
            <a:off x="731520" y="2487168"/>
            <a:ext cx="274320" cy="274320"/>
          </a:xfrm>
          <a:prstGeom prst="rect">
            <a:avLst/>
          </a:prstGeom>
          <a:noFill/>
          <a:ln/>
        </p:spPr>
        <p:txBody>
          <a:bodyPr wrap="square" lIns="0" tIns="0" rIns="0" bIns="0" rtlCol="0" anchor="ctr"/>
          <a:lstStyle/>
          <a:p>
            <a:pPr algn="ctr" indent="0" marL="0">
              <a:buNone/>
            </a:pPr>
            <a:r>
              <a:rPr lang="en-US" sz="800" dirty="0">
                <a:solidFill>
                  <a:srgbClr val="F59E0B"/>
                </a:solidFill>
                <a:latin typeface="Arial" pitchFamily="34" charset="0"/>
                <a:ea typeface="Arial" pitchFamily="34" charset="-122"/>
                <a:cs typeface="Arial" pitchFamily="34" charset="-120"/>
              </a:rPr>
              <a:t>1–10</a:t>
            </a:r>
            <a:endParaRPr lang="en-US" sz="800" dirty="0"/>
          </a:p>
        </p:txBody>
      </p:sp>
      <p:sp>
        <p:nvSpPr>
          <p:cNvPr id="13" name="Text 11"/>
          <p:cNvSpPr/>
          <p:nvPr/>
        </p:nvSpPr>
        <p:spPr>
          <a:xfrm>
            <a:off x="1143000" y="2441448"/>
            <a:ext cx="1371600" cy="201168"/>
          </a:xfrm>
          <a:prstGeom prst="rect">
            <a:avLst/>
          </a:prstGeom>
          <a:noFill/>
          <a:ln/>
        </p:spPr>
        <p:txBody>
          <a:bodyPr wrap="square" lIns="0" tIns="0" rIns="0" bIns="0" rtlCol="0" anchor="ctr"/>
          <a:lstStyle/>
          <a:p>
            <a:pPr indent="0" marL="0">
              <a:buNone/>
            </a:pPr>
            <a:r>
              <a:rPr lang="en-US" sz="1100" b="1" dirty="0">
                <a:solidFill>
                  <a:srgbClr val="F0FDFA"/>
                </a:solidFill>
                <a:latin typeface="Arial" pitchFamily="34" charset="0"/>
                <a:ea typeface="Arial" pitchFamily="34" charset="-122"/>
                <a:cs typeface="Arial" pitchFamily="34" charset="-120"/>
              </a:rPr>
              <a:t>Wow Factor</a:t>
            </a:r>
            <a:endParaRPr lang="en-US" sz="1100" dirty="0"/>
          </a:p>
        </p:txBody>
      </p:sp>
      <p:sp>
        <p:nvSpPr>
          <p:cNvPr id="14" name="Text 12"/>
          <p:cNvSpPr/>
          <p:nvPr/>
        </p:nvSpPr>
        <p:spPr>
          <a:xfrm>
            <a:off x="1143000" y="2642616"/>
            <a:ext cx="3017520" cy="201168"/>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How surprising is the outcome?</a:t>
            </a:r>
            <a:endParaRPr lang="en-US" sz="900" dirty="0"/>
          </a:p>
        </p:txBody>
      </p:sp>
      <p:sp>
        <p:nvSpPr>
          <p:cNvPr id="15" name="Shape 13"/>
          <p:cNvSpPr/>
          <p:nvPr/>
        </p:nvSpPr>
        <p:spPr>
          <a:xfrm>
            <a:off x="731520" y="2962656"/>
            <a:ext cx="274320" cy="274320"/>
          </a:xfrm>
          <a:prstGeom prst="oval">
            <a:avLst/>
          </a:prstGeom>
          <a:solidFill>
            <a:srgbClr val="F59E0B">
              <a:alpha val="80000"/>
            </a:srgbClr>
          </a:solidFill>
          <a:ln/>
        </p:spPr>
      </p:sp>
      <p:sp>
        <p:nvSpPr>
          <p:cNvPr id="16" name="Text 14"/>
          <p:cNvSpPr/>
          <p:nvPr/>
        </p:nvSpPr>
        <p:spPr>
          <a:xfrm>
            <a:off x="731520" y="2962656"/>
            <a:ext cx="274320" cy="274320"/>
          </a:xfrm>
          <a:prstGeom prst="rect">
            <a:avLst/>
          </a:prstGeom>
          <a:noFill/>
          <a:ln/>
        </p:spPr>
        <p:txBody>
          <a:bodyPr wrap="square" lIns="0" tIns="0" rIns="0" bIns="0" rtlCol="0" anchor="ctr"/>
          <a:lstStyle/>
          <a:p>
            <a:pPr algn="ctr" indent="0" marL="0">
              <a:buNone/>
            </a:pPr>
            <a:r>
              <a:rPr lang="en-US" sz="800" dirty="0">
                <a:solidFill>
                  <a:srgbClr val="F59E0B"/>
                </a:solidFill>
                <a:latin typeface="Arial" pitchFamily="34" charset="0"/>
                <a:ea typeface="Arial" pitchFamily="34" charset="-122"/>
                <a:cs typeface="Arial" pitchFamily="34" charset="-120"/>
              </a:rPr>
              <a:t>1–10</a:t>
            </a:r>
            <a:endParaRPr lang="en-US" sz="800" dirty="0"/>
          </a:p>
        </p:txBody>
      </p:sp>
      <p:sp>
        <p:nvSpPr>
          <p:cNvPr id="17" name="Text 15"/>
          <p:cNvSpPr/>
          <p:nvPr/>
        </p:nvSpPr>
        <p:spPr>
          <a:xfrm>
            <a:off x="1143000" y="2916936"/>
            <a:ext cx="1371600" cy="201168"/>
          </a:xfrm>
          <a:prstGeom prst="rect">
            <a:avLst/>
          </a:prstGeom>
          <a:noFill/>
          <a:ln/>
        </p:spPr>
        <p:txBody>
          <a:bodyPr wrap="square" lIns="0" tIns="0" rIns="0" bIns="0" rtlCol="0" anchor="ctr"/>
          <a:lstStyle/>
          <a:p>
            <a:pPr indent="0" marL="0">
              <a:buNone/>
            </a:pPr>
            <a:r>
              <a:rPr lang="en-US" sz="1100" b="1" dirty="0">
                <a:solidFill>
                  <a:srgbClr val="F0FDFA"/>
                </a:solidFill>
                <a:latin typeface="Arial" pitchFamily="34" charset="0"/>
                <a:ea typeface="Arial" pitchFamily="34" charset="-122"/>
                <a:cs typeface="Arial" pitchFamily="34" charset="-120"/>
              </a:rPr>
              <a:t>Practicality</a:t>
            </a:r>
            <a:endParaRPr lang="en-US" sz="1100" dirty="0"/>
          </a:p>
        </p:txBody>
      </p:sp>
      <p:sp>
        <p:nvSpPr>
          <p:cNvPr id="18" name="Text 16"/>
          <p:cNvSpPr/>
          <p:nvPr/>
        </p:nvSpPr>
        <p:spPr>
          <a:xfrm>
            <a:off x="1143000" y="3118104"/>
            <a:ext cx="3017520" cy="201168"/>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Can someone do this tomorrow?</a:t>
            </a:r>
            <a:endParaRPr lang="en-US" sz="900" dirty="0"/>
          </a:p>
        </p:txBody>
      </p:sp>
      <p:sp>
        <p:nvSpPr>
          <p:cNvPr id="19" name="Shape 17"/>
          <p:cNvSpPr/>
          <p:nvPr/>
        </p:nvSpPr>
        <p:spPr>
          <a:xfrm>
            <a:off x="731520" y="3438144"/>
            <a:ext cx="274320" cy="274320"/>
          </a:xfrm>
          <a:prstGeom prst="oval">
            <a:avLst/>
          </a:prstGeom>
          <a:solidFill>
            <a:srgbClr val="F59E0B">
              <a:alpha val="80000"/>
            </a:srgbClr>
          </a:solidFill>
          <a:ln/>
        </p:spPr>
      </p:sp>
      <p:sp>
        <p:nvSpPr>
          <p:cNvPr id="20" name="Text 18"/>
          <p:cNvSpPr/>
          <p:nvPr/>
        </p:nvSpPr>
        <p:spPr>
          <a:xfrm>
            <a:off x="731520" y="3438144"/>
            <a:ext cx="274320" cy="274320"/>
          </a:xfrm>
          <a:prstGeom prst="rect">
            <a:avLst/>
          </a:prstGeom>
          <a:noFill/>
          <a:ln/>
        </p:spPr>
        <p:txBody>
          <a:bodyPr wrap="square" lIns="0" tIns="0" rIns="0" bIns="0" rtlCol="0" anchor="ctr"/>
          <a:lstStyle/>
          <a:p>
            <a:pPr algn="ctr" indent="0" marL="0">
              <a:buNone/>
            </a:pPr>
            <a:r>
              <a:rPr lang="en-US" sz="800" dirty="0">
                <a:solidFill>
                  <a:srgbClr val="F59E0B"/>
                </a:solidFill>
                <a:latin typeface="Arial" pitchFamily="34" charset="0"/>
                <a:ea typeface="Arial" pitchFamily="34" charset="-122"/>
                <a:cs typeface="Arial" pitchFamily="34" charset="-120"/>
              </a:rPr>
              <a:t>1–10</a:t>
            </a:r>
            <a:endParaRPr lang="en-US" sz="800" dirty="0"/>
          </a:p>
        </p:txBody>
      </p:sp>
      <p:sp>
        <p:nvSpPr>
          <p:cNvPr id="21" name="Text 19"/>
          <p:cNvSpPr/>
          <p:nvPr/>
        </p:nvSpPr>
        <p:spPr>
          <a:xfrm>
            <a:off x="1143000" y="3392424"/>
            <a:ext cx="1371600" cy="201168"/>
          </a:xfrm>
          <a:prstGeom prst="rect">
            <a:avLst/>
          </a:prstGeom>
          <a:noFill/>
          <a:ln/>
        </p:spPr>
        <p:txBody>
          <a:bodyPr wrap="square" lIns="0" tIns="0" rIns="0" bIns="0" rtlCol="0" anchor="ctr"/>
          <a:lstStyle/>
          <a:p>
            <a:pPr indent="0" marL="0">
              <a:buNone/>
            </a:pPr>
            <a:r>
              <a:rPr lang="en-US" sz="1100" b="1" dirty="0">
                <a:solidFill>
                  <a:srgbClr val="F0FDFA"/>
                </a:solidFill>
                <a:latin typeface="Arial" pitchFamily="34" charset="0"/>
                <a:ea typeface="Arial" pitchFamily="34" charset="-122"/>
                <a:cs typeface="Arial" pitchFamily="34" charset="-120"/>
              </a:rPr>
              <a:t>Demo Potential</a:t>
            </a:r>
            <a:endParaRPr lang="en-US" sz="1100" dirty="0"/>
          </a:p>
        </p:txBody>
      </p:sp>
      <p:sp>
        <p:nvSpPr>
          <p:cNvPr id="22" name="Text 20"/>
          <p:cNvSpPr/>
          <p:nvPr/>
        </p:nvSpPr>
        <p:spPr>
          <a:xfrm>
            <a:off x="1143000" y="3593592"/>
            <a:ext cx="3017520" cy="201168"/>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Does it work live on stage?</a:t>
            </a:r>
            <a:endParaRPr lang="en-US" sz="900" dirty="0"/>
          </a:p>
        </p:txBody>
      </p:sp>
      <p:sp>
        <p:nvSpPr>
          <p:cNvPr id="23" name="Shape 21"/>
          <p:cNvSpPr/>
          <p:nvPr/>
        </p:nvSpPr>
        <p:spPr>
          <a:xfrm>
            <a:off x="4754880" y="1371600"/>
            <a:ext cx="3931920" cy="2743200"/>
          </a:xfrm>
          <a:prstGeom prst="rect">
            <a:avLst/>
          </a:prstGeom>
          <a:solidFill>
            <a:srgbClr val="0F3D4A"/>
          </a:solidFill>
          <a:ln/>
          <a:effectLst>
            <a:outerShdw sx="100000" sy="100000" kx="0" ky="0" algn="bl" rotWithShape="0" blurRad="76200" dist="25400" dir="8100000">
              <a:srgbClr val="000000">
                <a:alpha val="20000"/>
              </a:srgbClr>
            </a:outerShdw>
          </a:effectLst>
        </p:spPr>
      </p:sp>
      <p:sp>
        <p:nvSpPr>
          <p:cNvPr id="24" name="Shape 22"/>
          <p:cNvSpPr/>
          <p:nvPr/>
        </p:nvSpPr>
        <p:spPr>
          <a:xfrm>
            <a:off x="4754880" y="1371600"/>
            <a:ext cx="54864" cy="2743200"/>
          </a:xfrm>
          <a:prstGeom prst="rect">
            <a:avLst/>
          </a:prstGeom>
          <a:solidFill>
            <a:srgbClr val="14B8A6"/>
          </a:solidFill>
          <a:ln/>
        </p:spPr>
      </p:sp>
      <p:sp>
        <p:nvSpPr>
          <p:cNvPr id="25" name="Text 23"/>
          <p:cNvSpPr/>
          <p:nvPr/>
        </p:nvSpPr>
        <p:spPr>
          <a:xfrm>
            <a:off x="4983480" y="1463040"/>
            <a:ext cx="3474720" cy="320040"/>
          </a:xfrm>
          <a:prstGeom prst="rect">
            <a:avLst/>
          </a:prstGeom>
          <a:noFill/>
          <a:ln/>
        </p:spPr>
        <p:txBody>
          <a:bodyPr wrap="square" lIns="0" tIns="0" rIns="0" bIns="0" rtlCol="0" anchor="ctr"/>
          <a:lstStyle/>
          <a:p>
            <a:pPr indent="0" marL="0">
              <a:buNone/>
            </a:pPr>
            <a:r>
              <a:rPr lang="en-US" sz="1400" b="1" dirty="0">
                <a:solidFill>
                  <a:srgbClr val="14B8A6"/>
                </a:solidFill>
                <a:latin typeface="Arial" pitchFamily="34" charset="0"/>
                <a:ea typeface="Arial" pitchFamily="34" charset="-122"/>
                <a:cs typeface="Arial" pitchFamily="34" charset="-120"/>
              </a:rPr>
              <a:t>Personalized Action Plan</a:t>
            </a:r>
            <a:endParaRPr lang="en-US" sz="1400" dirty="0"/>
          </a:p>
        </p:txBody>
      </p:sp>
      <p:sp>
        <p:nvSpPr>
          <p:cNvPr id="26" name="Text 24"/>
          <p:cNvSpPr/>
          <p:nvPr/>
        </p:nvSpPr>
        <p:spPr>
          <a:xfrm>
            <a:off x="4983480" y="1965960"/>
            <a:ext cx="365760" cy="365760"/>
          </a:xfrm>
          <a:prstGeom prst="rect">
            <a:avLst/>
          </a:prstGeom>
          <a:noFill/>
          <a:ln/>
        </p:spPr>
        <p:txBody>
          <a:bodyPr wrap="square" lIns="0" tIns="0" rIns="0" bIns="0" rtlCol="0" anchor="ctr"/>
          <a:lstStyle/>
          <a:p>
            <a:pPr algn="ctr" indent="0" marL="0">
              <a:buNone/>
            </a:pPr>
            <a:r>
              <a:rPr lang="en-US" sz="1600" dirty="0">
                <a:solidFill>
                  <a:srgbClr val="000000"/>
                </a:solidFill>
                <a:latin typeface="Arial" pitchFamily="34" charset="0"/>
                <a:ea typeface="Arial" pitchFamily="34" charset="-122"/>
                <a:cs typeface="Arial" pitchFamily="34" charset="-120"/>
              </a:rPr>
              <a:t>🔧</a:t>
            </a:r>
            <a:endParaRPr lang="en-US" sz="1600" dirty="0"/>
          </a:p>
        </p:txBody>
      </p:sp>
      <p:sp>
        <p:nvSpPr>
          <p:cNvPr id="27" name="Text 25"/>
          <p:cNvSpPr/>
          <p:nvPr/>
        </p:nvSpPr>
        <p:spPr>
          <a:xfrm>
            <a:off x="5440680" y="1965960"/>
            <a:ext cx="3017520" cy="365760"/>
          </a:xfrm>
          <a:prstGeom prst="rect">
            <a:avLst/>
          </a:prstGeom>
          <a:noFill/>
          <a:ln/>
        </p:spPr>
        <p:txBody>
          <a:bodyPr wrap="square" lIns="0" tIns="0" rIns="0" bIns="0" rtlCol="0" anchor="ctr"/>
          <a:lstStyle/>
          <a:p>
            <a:pPr indent="0" marL="0">
              <a:buNone/>
            </a:pPr>
            <a:r>
              <a:rPr lang="en-US" sz="1100" dirty="0">
                <a:solidFill>
                  <a:srgbClr val="B4E4D9"/>
                </a:solidFill>
                <a:latin typeface="Calibri" pitchFamily="34" charset="0"/>
                <a:ea typeface="Calibri" pitchFamily="34" charset="-122"/>
                <a:cs typeface="Calibri" pitchFamily="34" charset="-120"/>
              </a:rPr>
              <a:t>Create a Custom GPT with Birkman insights</a:t>
            </a:r>
            <a:endParaRPr lang="en-US" sz="1100" dirty="0"/>
          </a:p>
        </p:txBody>
      </p:sp>
      <p:sp>
        <p:nvSpPr>
          <p:cNvPr id="28" name="Text 26"/>
          <p:cNvSpPr/>
          <p:nvPr/>
        </p:nvSpPr>
        <p:spPr>
          <a:xfrm>
            <a:off x="4983480" y="2441448"/>
            <a:ext cx="365760" cy="365760"/>
          </a:xfrm>
          <a:prstGeom prst="rect">
            <a:avLst/>
          </a:prstGeom>
          <a:noFill/>
          <a:ln/>
        </p:spPr>
        <p:txBody>
          <a:bodyPr wrap="square" lIns="0" tIns="0" rIns="0" bIns="0" rtlCol="0" anchor="ctr"/>
          <a:lstStyle/>
          <a:p>
            <a:pPr algn="ctr" indent="0" marL="0">
              <a:buNone/>
            </a:pPr>
            <a:r>
              <a:rPr lang="en-US" sz="1600" dirty="0">
                <a:solidFill>
                  <a:srgbClr val="000000"/>
                </a:solidFill>
                <a:latin typeface="Arial" pitchFamily="34" charset="0"/>
                <a:ea typeface="Arial" pitchFamily="34" charset="-122"/>
                <a:cs typeface="Arial" pitchFamily="34" charset="-120"/>
              </a:rPr>
              <a:t>💬</a:t>
            </a:r>
            <a:endParaRPr lang="en-US" sz="1600" dirty="0"/>
          </a:p>
        </p:txBody>
      </p:sp>
      <p:sp>
        <p:nvSpPr>
          <p:cNvPr id="29" name="Text 27"/>
          <p:cNvSpPr/>
          <p:nvPr/>
        </p:nvSpPr>
        <p:spPr>
          <a:xfrm>
            <a:off x="5440680" y="2441448"/>
            <a:ext cx="3017520" cy="365760"/>
          </a:xfrm>
          <a:prstGeom prst="rect">
            <a:avLst/>
          </a:prstGeom>
          <a:noFill/>
          <a:ln/>
        </p:spPr>
        <p:txBody>
          <a:bodyPr wrap="square" lIns="0" tIns="0" rIns="0" bIns="0" rtlCol="0" anchor="ctr"/>
          <a:lstStyle/>
          <a:p>
            <a:pPr indent="0" marL="0">
              <a:buNone/>
            </a:pPr>
            <a:r>
              <a:rPr lang="en-US" sz="1100" dirty="0">
                <a:solidFill>
                  <a:srgbClr val="B4E4D9"/>
                </a:solidFill>
                <a:latin typeface="Calibri" pitchFamily="34" charset="0"/>
                <a:ea typeface="Calibri" pitchFamily="34" charset="-122"/>
                <a:cs typeface="Calibri" pitchFamily="34" charset="-120"/>
              </a:rPr>
              <a:t>Use separate chats for brainstorm vs. design</a:t>
            </a:r>
            <a:endParaRPr lang="en-US" sz="1100" dirty="0"/>
          </a:p>
        </p:txBody>
      </p:sp>
      <p:sp>
        <p:nvSpPr>
          <p:cNvPr id="30" name="Text 28"/>
          <p:cNvSpPr/>
          <p:nvPr/>
        </p:nvSpPr>
        <p:spPr>
          <a:xfrm>
            <a:off x="4983480" y="2916936"/>
            <a:ext cx="365760" cy="365760"/>
          </a:xfrm>
          <a:prstGeom prst="rect">
            <a:avLst/>
          </a:prstGeom>
          <a:noFill/>
          <a:ln/>
        </p:spPr>
        <p:txBody>
          <a:bodyPr wrap="square" lIns="0" tIns="0" rIns="0" bIns="0" rtlCol="0" anchor="ctr"/>
          <a:lstStyle/>
          <a:p>
            <a:pPr algn="ctr" indent="0" marL="0">
              <a:buNone/>
            </a:pPr>
            <a:r>
              <a:rPr lang="en-US" sz="1600" dirty="0">
                <a:solidFill>
                  <a:srgbClr val="000000"/>
                </a:solidFill>
                <a:latin typeface="Arial" pitchFamily="34" charset="0"/>
                <a:ea typeface="Arial" pitchFamily="34" charset="-122"/>
                <a:cs typeface="Arial" pitchFamily="34" charset="-120"/>
              </a:rPr>
              <a:t>📊</a:t>
            </a:r>
            <a:endParaRPr lang="en-US" sz="1600" dirty="0"/>
          </a:p>
        </p:txBody>
      </p:sp>
      <p:sp>
        <p:nvSpPr>
          <p:cNvPr id="31" name="Text 29"/>
          <p:cNvSpPr/>
          <p:nvPr/>
        </p:nvSpPr>
        <p:spPr>
          <a:xfrm>
            <a:off x="5440680" y="2916936"/>
            <a:ext cx="3017520" cy="365760"/>
          </a:xfrm>
          <a:prstGeom prst="rect">
            <a:avLst/>
          </a:prstGeom>
          <a:noFill/>
          <a:ln/>
        </p:spPr>
        <p:txBody>
          <a:bodyPr wrap="square" lIns="0" tIns="0" rIns="0" bIns="0" rtlCol="0" anchor="ctr"/>
          <a:lstStyle/>
          <a:p>
            <a:pPr indent="0" marL="0">
              <a:buNone/>
            </a:pPr>
            <a:r>
              <a:rPr lang="en-US" sz="1100" dirty="0">
                <a:solidFill>
                  <a:srgbClr val="B4E4D9"/>
                </a:solidFill>
                <a:latin typeface="Calibri" pitchFamily="34" charset="0"/>
                <a:ea typeface="Calibri" pitchFamily="34" charset="-122"/>
                <a:cs typeface="Calibri" pitchFamily="34" charset="-120"/>
              </a:rPr>
              <a:t>Rank use cases by audience impact</a:t>
            </a:r>
            <a:endParaRPr lang="en-US" sz="1100" dirty="0"/>
          </a:p>
        </p:txBody>
      </p:sp>
      <p:sp>
        <p:nvSpPr>
          <p:cNvPr id="32" name="Text 30"/>
          <p:cNvSpPr/>
          <p:nvPr/>
        </p:nvSpPr>
        <p:spPr>
          <a:xfrm>
            <a:off x="4983480" y="3392424"/>
            <a:ext cx="365760" cy="365760"/>
          </a:xfrm>
          <a:prstGeom prst="rect">
            <a:avLst/>
          </a:prstGeom>
          <a:noFill/>
          <a:ln/>
        </p:spPr>
        <p:txBody>
          <a:bodyPr wrap="square" lIns="0" tIns="0" rIns="0" bIns="0" rtlCol="0" anchor="ctr"/>
          <a:lstStyle/>
          <a:p>
            <a:pPr algn="ctr" indent="0" marL="0">
              <a:buNone/>
            </a:pPr>
            <a:r>
              <a:rPr lang="en-US" sz="1600" dirty="0">
                <a:solidFill>
                  <a:srgbClr val="000000"/>
                </a:solidFill>
                <a:latin typeface="Arial" pitchFamily="34" charset="0"/>
                <a:ea typeface="Arial" pitchFamily="34" charset="-122"/>
                <a:cs typeface="Arial" pitchFamily="34" charset="-120"/>
              </a:rPr>
              <a:t>🎯</a:t>
            </a:r>
            <a:endParaRPr lang="en-US" sz="1600" dirty="0"/>
          </a:p>
        </p:txBody>
      </p:sp>
      <p:sp>
        <p:nvSpPr>
          <p:cNvPr id="33" name="Text 31"/>
          <p:cNvSpPr/>
          <p:nvPr/>
        </p:nvSpPr>
        <p:spPr>
          <a:xfrm>
            <a:off x="5440680" y="3392424"/>
            <a:ext cx="3017520" cy="365760"/>
          </a:xfrm>
          <a:prstGeom prst="rect">
            <a:avLst/>
          </a:prstGeom>
          <a:noFill/>
          <a:ln/>
        </p:spPr>
        <p:txBody>
          <a:bodyPr wrap="square" lIns="0" tIns="0" rIns="0" bIns="0" rtlCol="0" anchor="ctr"/>
          <a:lstStyle/>
          <a:p>
            <a:pPr indent="0" marL="0">
              <a:buNone/>
            </a:pPr>
            <a:r>
              <a:rPr lang="en-US" sz="1100" dirty="0">
                <a:solidFill>
                  <a:srgbClr val="B4E4D9"/>
                </a:solidFill>
                <a:latin typeface="Calibri" pitchFamily="34" charset="0"/>
                <a:ea typeface="Calibri" pitchFamily="34" charset="-122"/>
                <a:cs typeface="Calibri" pitchFamily="34" charset="-120"/>
              </a:rPr>
              <a:t>Practice live demos with AI as audience</a:t>
            </a:r>
            <a:endParaRPr lang="en-US" sz="1100" dirty="0"/>
          </a:p>
        </p:txBody>
      </p:sp>
      <p:sp>
        <p:nvSpPr>
          <p:cNvPr id="34" name="Shape 32"/>
          <p:cNvSpPr/>
          <p:nvPr/>
        </p:nvSpPr>
        <p:spPr>
          <a:xfrm>
            <a:off x="457200" y="4297680"/>
            <a:ext cx="8229600" cy="320040"/>
          </a:xfrm>
          <a:prstGeom prst="rect">
            <a:avLst/>
          </a:prstGeom>
          <a:solidFill>
            <a:srgbClr val="0F3D4A"/>
          </a:solidFill>
          <a:ln/>
          <a:effectLst>
            <a:outerShdw sx="100000" sy="100000" kx="0" ky="0" algn="bl" rotWithShape="0" blurRad="76200" dist="25400" dir="8100000">
              <a:srgbClr val="000000">
                <a:alpha val="20000"/>
              </a:srgbClr>
            </a:outerShdw>
          </a:effectLst>
        </p:spPr>
      </p:sp>
      <p:sp>
        <p:nvSpPr>
          <p:cNvPr id="35" name="Text 33"/>
          <p:cNvSpPr/>
          <p:nvPr/>
        </p:nvSpPr>
        <p:spPr>
          <a:xfrm>
            <a:off x="640080" y="4297680"/>
            <a:ext cx="7863840" cy="320040"/>
          </a:xfrm>
          <a:prstGeom prst="rect">
            <a:avLst/>
          </a:prstGeom>
          <a:noFill/>
          <a:ln/>
        </p:spPr>
        <p:txBody>
          <a:bodyPr wrap="square" lIns="0" tIns="0" rIns="0" bIns="0" rtlCol="0" anchor="ctr"/>
          <a:lstStyle/>
          <a:p>
            <a:pPr indent="0" marL="0">
              <a:buNone/>
            </a:pPr>
            <a:r>
              <a:rPr lang="en-US" sz="1100" i="1" dirty="0">
                <a:solidFill>
                  <a:srgbClr val="F59E0B"/>
                </a:solidFill>
                <a:latin typeface="Georgia" pitchFamily="34" charset="0"/>
                <a:ea typeface="Georgia" pitchFamily="34" charset="-122"/>
                <a:cs typeface="Georgia" pitchFamily="34" charset="-120"/>
              </a:rPr>
              <a:t>"ProfAI didn't just help me brainstorm — it gave me a SYSTEM for deciding what's worth presenting."</a:t>
            </a:r>
            <a:endParaRPr lang="en-US" sz="1100" dirty="0"/>
          </a:p>
        </p:txBody>
      </p:sp>
      <p:sp>
        <p:nvSpPr>
          <p:cNvPr id="36" name="Shape 34"/>
          <p:cNvSpPr/>
          <p:nvPr/>
        </p:nvSpPr>
        <p:spPr>
          <a:xfrm>
            <a:off x="0" y="4800600"/>
            <a:ext cx="9144000" cy="342900"/>
          </a:xfrm>
          <a:prstGeom prst="rect">
            <a:avLst/>
          </a:prstGeom>
          <a:solidFill>
            <a:srgbClr val="14B8A6"/>
          </a:solidFill>
          <a:ln/>
        </p:spPr>
      </p:sp>
      <p:sp>
        <p:nvSpPr>
          <p:cNvPr id="37" name="Text 35"/>
          <p:cNvSpPr/>
          <p:nvPr/>
        </p:nvSpPr>
        <p:spPr>
          <a:xfrm>
            <a:off x="457200" y="4800600"/>
            <a:ext cx="8229600" cy="342900"/>
          </a:xfrm>
          <a:prstGeom prst="rect">
            <a:avLst/>
          </a:prstGeom>
          <a:noFill/>
          <a:ln/>
        </p:spPr>
        <p:txBody>
          <a:bodyPr wrap="square" lIns="0" tIns="0" rIns="0" bIns="0" rtlCol="0" anchor="ctr"/>
          <a:lstStyle/>
          <a:p>
            <a:pPr algn="l" indent="0" marL="0">
              <a:buNone/>
            </a:pPr>
            <a:r>
              <a:rPr lang="en-US" sz="900" b="1" dirty="0">
                <a:solidFill>
                  <a:srgbClr val="081E25"/>
                </a:solidFill>
                <a:latin typeface="Calibri" pitchFamily="34" charset="0"/>
                <a:ea typeface="Calibri" pitchFamily="34" charset="-122"/>
                <a:cs typeface="Calibri" pitchFamily="34" charset="-120"/>
              </a:rPr>
              <a:t>PROFAI WORKFLOW DEMO</a:t>
            </a:r>
            <a:endParaRPr lang="en-US" sz="900" dirty="0"/>
          </a:p>
        </p:txBody>
      </p:sp>
      <p:sp>
        <p:nvSpPr>
          <p:cNvPr id="38" name="Text 36"/>
          <p:cNvSpPr/>
          <p:nvPr/>
        </p:nvSpPr>
        <p:spPr>
          <a:xfrm>
            <a:off x="8046720" y="4800600"/>
            <a:ext cx="914400" cy="342900"/>
          </a:xfrm>
          <a:prstGeom prst="rect">
            <a:avLst/>
          </a:prstGeom>
          <a:noFill/>
          <a:ln/>
        </p:spPr>
        <p:txBody>
          <a:bodyPr wrap="square" lIns="0" tIns="0" rIns="0" bIns="0" rtlCol="0" anchor="ctr"/>
          <a:lstStyle/>
          <a:p>
            <a:pPr algn="r" indent="0" marL="0">
              <a:buNone/>
            </a:pPr>
            <a:r>
              <a:rPr lang="en-US" sz="800" dirty="0">
                <a:solidFill>
                  <a:srgbClr val="081E25"/>
                </a:solidFill>
                <a:latin typeface="Calibri" pitchFamily="34" charset="0"/>
                <a:ea typeface="Calibri" pitchFamily="34" charset="-122"/>
                <a:cs typeface="Calibri" pitchFamily="34" charset="-120"/>
              </a:rPr>
              <a:t>24 / 31</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2E38"/>
        </a:solidFill>
      </p:bgPr>
    </p:bg>
    <p:spTree>
      <p:nvGrpSpPr>
        <p:cNvPr id="1" name=""/>
        <p:cNvGrpSpPr/>
        <p:nvPr/>
      </p:nvGrpSpPr>
      <p:grpSpPr>
        <a:xfrm>
          <a:off x="0" y="0"/>
          <a:ext cx="0" cy="0"/>
          <a:chOff x="0" y="0"/>
          <a:chExt cx="0" cy="0"/>
        </a:xfrm>
      </p:grpSpPr>
      <p:sp>
        <p:nvSpPr>
          <p:cNvPr id="2" name="Text 0"/>
          <p:cNvSpPr/>
          <p:nvPr/>
        </p:nvSpPr>
        <p:spPr>
          <a:xfrm>
            <a:off x="731520" y="365760"/>
            <a:ext cx="7315200" cy="365760"/>
          </a:xfrm>
          <a:prstGeom prst="rect">
            <a:avLst/>
          </a:prstGeom>
          <a:noFill/>
          <a:ln/>
        </p:spPr>
        <p:txBody>
          <a:bodyPr wrap="square" lIns="0" tIns="0" rIns="0" bIns="0" rtlCol="0" anchor="ctr"/>
          <a:lstStyle/>
          <a:p>
            <a:pPr indent="0" marL="0">
              <a:buNone/>
            </a:pPr>
            <a:r>
              <a:rPr lang="en-US" sz="1400" b="1" spc="300" kern="0" dirty="0">
                <a:solidFill>
                  <a:srgbClr val="14B8A6"/>
                </a:solidFill>
                <a:latin typeface="Arial" pitchFamily="34" charset="0"/>
                <a:ea typeface="Arial" pitchFamily="34" charset="-122"/>
                <a:cs typeface="Arial" pitchFamily="34" charset="-120"/>
              </a:rPr>
              <a:t>YOUR TAKE-HOME FRAMEWORK</a:t>
            </a:r>
            <a:endParaRPr lang="en-US" sz="1400" dirty="0"/>
          </a:p>
        </p:txBody>
      </p:sp>
      <p:sp>
        <p:nvSpPr>
          <p:cNvPr id="3" name="Text 1"/>
          <p:cNvSpPr/>
          <p:nvPr/>
        </p:nvSpPr>
        <p:spPr>
          <a:xfrm>
            <a:off x="731520" y="822960"/>
            <a:ext cx="7315200" cy="548640"/>
          </a:xfrm>
          <a:prstGeom prst="rect">
            <a:avLst/>
          </a:prstGeom>
          <a:noFill/>
          <a:ln/>
        </p:spPr>
        <p:txBody>
          <a:bodyPr wrap="square" lIns="0" tIns="0" rIns="0" bIns="0" rtlCol="0" anchor="ctr"/>
          <a:lstStyle/>
          <a:p>
            <a:pPr indent="0" marL="0">
              <a:buNone/>
            </a:pPr>
            <a:r>
              <a:rPr lang="en-US" sz="2800" dirty="0">
                <a:solidFill>
                  <a:srgbClr val="F0FDFA"/>
                </a:solidFill>
                <a:latin typeface="Arial Black" pitchFamily="34" charset="0"/>
                <a:ea typeface="Arial Black" pitchFamily="34" charset="-122"/>
                <a:cs typeface="Arial Black" pitchFamily="34" charset="-120"/>
              </a:rPr>
              <a:t>4 Workflow Patterns for AI</a:t>
            </a:r>
            <a:endParaRPr lang="en-US" sz="2800" dirty="0"/>
          </a:p>
        </p:txBody>
      </p:sp>
      <p:sp>
        <p:nvSpPr>
          <p:cNvPr id="4" name="Shape 2"/>
          <p:cNvSpPr/>
          <p:nvPr/>
        </p:nvSpPr>
        <p:spPr>
          <a:xfrm>
            <a:off x="731520" y="1554480"/>
            <a:ext cx="7680960" cy="548640"/>
          </a:xfrm>
          <a:prstGeom prst="rect">
            <a:avLst/>
          </a:prstGeom>
          <a:solidFill>
            <a:srgbClr val="0F3D4A"/>
          </a:solidFill>
          <a:ln/>
          <a:effectLst>
            <a:outerShdw sx="100000" sy="100000" kx="0" ky="0" algn="bl" rotWithShape="0" blurRad="76200" dist="25400" dir="8100000">
              <a:srgbClr val="000000">
                <a:alpha val="20000"/>
              </a:srgbClr>
            </a:outerShdw>
          </a:effectLst>
        </p:spPr>
      </p:sp>
      <p:sp>
        <p:nvSpPr>
          <p:cNvPr id="5" name="Shape 3"/>
          <p:cNvSpPr/>
          <p:nvPr/>
        </p:nvSpPr>
        <p:spPr>
          <a:xfrm>
            <a:off x="914400" y="1627632"/>
            <a:ext cx="365760" cy="365760"/>
          </a:xfrm>
          <a:prstGeom prst="oval">
            <a:avLst/>
          </a:prstGeom>
          <a:solidFill>
            <a:srgbClr val="14B8A6"/>
          </a:solidFill>
          <a:ln/>
        </p:spPr>
      </p:sp>
      <p:sp>
        <p:nvSpPr>
          <p:cNvPr id="6" name="Text 4"/>
          <p:cNvSpPr/>
          <p:nvPr/>
        </p:nvSpPr>
        <p:spPr>
          <a:xfrm>
            <a:off x="914400" y="1627632"/>
            <a:ext cx="365760" cy="365760"/>
          </a:xfrm>
          <a:prstGeom prst="rect">
            <a:avLst/>
          </a:prstGeom>
          <a:noFill/>
          <a:ln/>
        </p:spPr>
        <p:txBody>
          <a:bodyPr wrap="square" lIns="0" tIns="0" rIns="0" bIns="0" rtlCol="0" anchor="ctr"/>
          <a:lstStyle/>
          <a:p>
            <a:pPr algn="ctr" indent="0" marL="0">
              <a:buNone/>
            </a:pPr>
            <a:r>
              <a:rPr lang="en-US" sz="1500" dirty="0">
                <a:solidFill>
                  <a:srgbClr val="081E25"/>
                </a:solidFill>
                <a:latin typeface="Arial Black" pitchFamily="34" charset="0"/>
                <a:ea typeface="Arial Black" pitchFamily="34" charset="-122"/>
                <a:cs typeface="Arial Black" pitchFamily="34" charset="-120"/>
              </a:rPr>
              <a:t>1</a:t>
            </a:r>
            <a:endParaRPr lang="en-US" sz="1500" dirty="0"/>
          </a:p>
        </p:txBody>
      </p:sp>
      <p:sp>
        <p:nvSpPr>
          <p:cNvPr id="7" name="Text 5"/>
          <p:cNvSpPr/>
          <p:nvPr/>
        </p:nvSpPr>
        <p:spPr>
          <a:xfrm>
            <a:off x="1463040" y="1554480"/>
            <a:ext cx="3200400" cy="548640"/>
          </a:xfrm>
          <a:prstGeom prst="rect">
            <a:avLst/>
          </a:prstGeom>
          <a:noFill/>
          <a:ln/>
        </p:spPr>
        <p:txBody>
          <a:bodyPr wrap="square" lIns="0" tIns="0" rIns="0" bIns="0" rtlCol="0" anchor="ctr"/>
          <a:lstStyle/>
          <a:p>
            <a:pPr indent="0" marL="0">
              <a:buNone/>
            </a:pPr>
            <a:r>
              <a:rPr lang="en-US" sz="1300" b="1" dirty="0">
                <a:solidFill>
                  <a:srgbClr val="14B8A6"/>
                </a:solidFill>
                <a:latin typeface="Arial" pitchFamily="34" charset="0"/>
                <a:ea typeface="Arial" pitchFamily="34" charset="-122"/>
                <a:cs typeface="Arial" pitchFamily="34" charset="-120"/>
              </a:rPr>
              <a:t>Translate → Synthesize → Act</a:t>
            </a:r>
            <a:endParaRPr lang="en-US" sz="1300" dirty="0"/>
          </a:p>
        </p:txBody>
      </p:sp>
      <p:sp>
        <p:nvSpPr>
          <p:cNvPr id="8" name="Text 6"/>
          <p:cNvSpPr/>
          <p:nvPr/>
        </p:nvSpPr>
        <p:spPr>
          <a:xfrm>
            <a:off x="4663440" y="1554480"/>
            <a:ext cx="2286000" cy="548640"/>
          </a:xfrm>
          <a:prstGeom prst="rect">
            <a:avLst/>
          </a:prstGeom>
          <a:noFill/>
          <a:ln/>
        </p:spPr>
        <p:txBody>
          <a:bodyPr wrap="square" lIns="0" tIns="0" rIns="0" bIns="0" rtlCol="0" anchor="ctr"/>
          <a:lstStyle/>
          <a:p>
            <a:pPr indent="0" marL="0">
              <a:buNone/>
            </a:pPr>
            <a:r>
              <a:rPr lang="en-US" sz="1000" dirty="0">
                <a:solidFill>
                  <a:srgbClr val="B4E4D9"/>
                </a:solidFill>
                <a:latin typeface="Calibri" pitchFamily="34" charset="0"/>
                <a:ea typeface="Calibri" pitchFamily="34" charset="-122"/>
                <a:cs typeface="Calibri" pitchFamily="34" charset="-120"/>
              </a:rPr>
              <a:t>Raw data to executive insights to action plans</a:t>
            </a:r>
            <a:endParaRPr lang="en-US" sz="1000" dirty="0"/>
          </a:p>
        </p:txBody>
      </p:sp>
      <p:sp>
        <p:nvSpPr>
          <p:cNvPr id="9" name="Text 7"/>
          <p:cNvSpPr/>
          <p:nvPr/>
        </p:nvSpPr>
        <p:spPr>
          <a:xfrm>
            <a:off x="7040880" y="1554480"/>
            <a:ext cx="1280160" cy="54864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Executive Reporting</a:t>
            </a:r>
            <a:endParaRPr lang="en-US" sz="900" dirty="0"/>
          </a:p>
        </p:txBody>
      </p:sp>
      <p:sp>
        <p:nvSpPr>
          <p:cNvPr id="10" name="Shape 8"/>
          <p:cNvSpPr/>
          <p:nvPr/>
        </p:nvSpPr>
        <p:spPr>
          <a:xfrm>
            <a:off x="731520" y="2240280"/>
            <a:ext cx="7680960" cy="548640"/>
          </a:xfrm>
          <a:prstGeom prst="rect">
            <a:avLst/>
          </a:prstGeom>
          <a:solidFill>
            <a:srgbClr val="0F3D4A"/>
          </a:solidFill>
          <a:ln/>
          <a:effectLst>
            <a:outerShdw sx="100000" sy="100000" kx="0" ky="0" algn="bl" rotWithShape="0" blurRad="76200" dist="25400" dir="8100000">
              <a:srgbClr val="000000">
                <a:alpha val="20000"/>
              </a:srgbClr>
            </a:outerShdw>
          </a:effectLst>
        </p:spPr>
      </p:sp>
      <p:sp>
        <p:nvSpPr>
          <p:cNvPr id="11" name="Shape 9"/>
          <p:cNvSpPr/>
          <p:nvPr/>
        </p:nvSpPr>
        <p:spPr>
          <a:xfrm>
            <a:off x="914400" y="2313432"/>
            <a:ext cx="365760" cy="365760"/>
          </a:xfrm>
          <a:prstGeom prst="oval">
            <a:avLst/>
          </a:prstGeom>
          <a:solidFill>
            <a:srgbClr val="5EEAD4"/>
          </a:solidFill>
          <a:ln/>
        </p:spPr>
      </p:sp>
      <p:sp>
        <p:nvSpPr>
          <p:cNvPr id="12" name="Text 10"/>
          <p:cNvSpPr/>
          <p:nvPr/>
        </p:nvSpPr>
        <p:spPr>
          <a:xfrm>
            <a:off x="914400" y="2313432"/>
            <a:ext cx="365760" cy="365760"/>
          </a:xfrm>
          <a:prstGeom prst="rect">
            <a:avLst/>
          </a:prstGeom>
          <a:noFill/>
          <a:ln/>
        </p:spPr>
        <p:txBody>
          <a:bodyPr wrap="square" lIns="0" tIns="0" rIns="0" bIns="0" rtlCol="0" anchor="ctr"/>
          <a:lstStyle/>
          <a:p>
            <a:pPr algn="ctr" indent="0" marL="0">
              <a:buNone/>
            </a:pPr>
            <a:r>
              <a:rPr lang="en-US" sz="1500" dirty="0">
                <a:solidFill>
                  <a:srgbClr val="081E25"/>
                </a:solidFill>
                <a:latin typeface="Arial Black" pitchFamily="34" charset="0"/>
                <a:ea typeface="Arial Black" pitchFamily="34" charset="-122"/>
                <a:cs typeface="Arial Black" pitchFamily="34" charset="-120"/>
              </a:rPr>
              <a:t>2</a:t>
            </a:r>
            <a:endParaRPr lang="en-US" sz="1500" dirty="0"/>
          </a:p>
        </p:txBody>
      </p:sp>
      <p:sp>
        <p:nvSpPr>
          <p:cNvPr id="13" name="Text 11"/>
          <p:cNvSpPr/>
          <p:nvPr/>
        </p:nvSpPr>
        <p:spPr>
          <a:xfrm>
            <a:off x="1463040" y="2240280"/>
            <a:ext cx="3200400" cy="548640"/>
          </a:xfrm>
          <a:prstGeom prst="rect">
            <a:avLst/>
          </a:prstGeom>
          <a:noFill/>
          <a:ln/>
        </p:spPr>
        <p:txBody>
          <a:bodyPr wrap="square" lIns="0" tIns="0" rIns="0" bIns="0" rtlCol="0" anchor="ctr"/>
          <a:lstStyle/>
          <a:p>
            <a:pPr indent="0" marL="0">
              <a:buNone/>
            </a:pPr>
            <a:r>
              <a:rPr lang="en-US" sz="1300" b="1" dirty="0">
                <a:solidFill>
                  <a:srgbClr val="5EEAD4"/>
                </a:solidFill>
                <a:latin typeface="Arial" pitchFamily="34" charset="0"/>
                <a:ea typeface="Arial" pitchFamily="34" charset="-122"/>
                <a:cs typeface="Arial" pitchFamily="34" charset="-120"/>
              </a:rPr>
              <a:t>Build → Test → Iterate</a:t>
            </a:r>
            <a:endParaRPr lang="en-US" sz="1300" dirty="0"/>
          </a:p>
        </p:txBody>
      </p:sp>
      <p:sp>
        <p:nvSpPr>
          <p:cNvPr id="14" name="Text 12"/>
          <p:cNvSpPr/>
          <p:nvPr/>
        </p:nvSpPr>
        <p:spPr>
          <a:xfrm>
            <a:off x="4663440" y="2240280"/>
            <a:ext cx="2286000" cy="548640"/>
          </a:xfrm>
          <a:prstGeom prst="rect">
            <a:avLst/>
          </a:prstGeom>
          <a:noFill/>
          <a:ln/>
        </p:spPr>
        <p:txBody>
          <a:bodyPr wrap="square" lIns="0" tIns="0" rIns="0" bIns="0" rtlCol="0" anchor="ctr"/>
          <a:lstStyle/>
          <a:p>
            <a:pPr indent="0" marL="0">
              <a:buNone/>
            </a:pPr>
            <a:r>
              <a:rPr lang="en-US" sz="1000" dirty="0">
                <a:solidFill>
                  <a:srgbClr val="B4E4D9"/>
                </a:solidFill>
                <a:latin typeface="Calibri" pitchFamily="34" charset="0"/>
                <a:ea typeface="Calibri" pitchFamily="34" charset="-122"/>
                <a:cs typeface="Calibri" pitchFamily="34" charset="-120"/>
              </a:rPr>
              <a:t>Generate code, test it, fix failures with AI</a:t>
            </a:r>
            <a:endParaRPr lang="en-US" sz="1000" dirty="0"/>
          </a:p>
        </p:txBody>
      </p:sp>
      <p:sp>
        <p:nvSpPr>
          <p:cNvPr id="15" name="Text 13"/>
          <p:cNvSpPr/>
          <p:nvPr/>
        </p:nvSpPr>
        <p:spPr>
          <a:xfrm>
            <a:off x="7040880" y="2240280"/>
            <a:ext cx="1280160" cy="54864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Apps Script Demo</a:t>
            </a:r>
            <a:endParaRPr lang="en-US" sz="900" dirty="0"/>
          </a:p>
        </p:txBody>
      </p:sp>
      <p:sp>
        <p:nvSpPr>
          <p:cNvPr id="16" name="Shape 14"/>
          <p:cNvSpPr/>
          <p:nvPr/>
        </p:nvSpPr>
        <p:spPr>
          <a:xfrm>
            <a:off x="731520" y="2926080"/>
            <a:ext cx="7680960" cy="548640"/>
          </a:xfrm>
          <a:prstGeom prst="rect">
            <a:avLst/>
          </a:prstGeom>
          <a:solidFill>
            <a:srgbClr val="0F3D4A"/>
          </a:solidFill>
          <a:ln/>
          <a:effectLst>
            <a:outerShdw sx="100000" sy="100000" kx="0" ky="0" algn="bl" rotWithShape="0" blurRad="76200" dist="25400" dir="8100000">
              <a:srgbClr val="000000">
                <a:alpha val="20000"/>
              </a:srgbClr>
            </a:outerShdw>
          </a:effectLst>
        </p:spPr>
      </p:sp>
      <p:sp>
        <p:nvSpPr>
          <p:cNvPr id="17" name="Shape 15"/>
          <p:cNvSpPr/>
          <p:nvPr/>
        </p:nvSpPr>
        <p:spPr>
          <a:xfrm>
            <a:off x="914400" y="2999232"/>
            <a:ext cx="365760" cy="365760"/>
          </a:xfrm>
          <a:prstGeom prst="oval">
            <a:avLst/>
          </a:prstGeom>
          <a:solidFill>
            <a:srgbClr val="F59E0B"/>
          </a:solidFill>
          <a:ln/>
        </p:spPr>
      </p:sp>
      <p:sp>
        <p:nvSpPr>
          <p:cNvPr id="18" name="Text 16"/>
          <p:cNvSpPr/>
          <p:nvPr/>
        </p:nvSpPr>
        <p:spPr>
          <a:xfrm>
            <a:off x="914400" y="2999232"/>
            <a:ext cx="365760" cy="365760"/>
          </a:xfrm>
          <a:prstGeom prst="rect">
            <a:avLst/>
          </a:prstGeom>
          <a:noFill/>
          <a:ln/>
        </p:spPr>
        <p:txBody>
          <a:bodyPr wrap="square" lIns="0" tIns="0" rIns="0" bIns="0" rtlCol="0" anchor="ctr"/>
          <a:lstStyle/>
          <a:p>
            <a:pPr algn="ctr" indent="0" marL="0">
              <a:buNone/>
            </a:pPr>
            <a:r>
              <a:rPr lang="en-US" sz="1500" dirty="0">
                <a:solidFill>
                  <a:srgbClr val="081E25"/>
                </a:solidFill>
                <a:latin typeface="Arial Black" pitchFamily="34" charset="0"/>
                <a:ea typeface="Arial Black" pitchFamily="34" charset="-122"/>
                <a:cs typeface="Arial Black" pitchFamily="34" charset="-120"/>
              </a:rPr>
              <a:t>3</a:t>
            </a:r>
            <a:endParaRPr lang="en-US" sz="1500" dirty="0"/>
          </a:p>
        </p:txBody>
      </p:sp>
      <p:sp>
        <p:nvSpPr>
          <p:cNvPr id="19" name="Text 17"/>
          <p:cNvSpPr/>
          <p:nvPr/>
        </p:nvSpPr>
        <p:spPr>
          <a:xfrm>
            <a:off x="1463040" y="2926080"/>
            <a:ext cx="3200400" cy="548640"/>
          </a:xfrm>
          <a:prstGeom prst="rect">
            <a:avLst/>
          </a:prstGeom>
          <a:noFill/>
          <a:ln/>
        </p:spPr>
        <p:txBody>
          <a:bodyPr wrap="square" lIns="0" tIns="0" rIns="0" bIns="0" rtlCol="0" anchor="ctr"/>
          <a:lstStyle/>
          <a:p>
            <a:pPr indent="0" marL="0">
              <a:buNone/>
            </a:pPr>
            <a:r>
              <a:rPr lang="en-US" sz="1300" b="1" dirty="0">
                <a:solidFill>
                  <a:srgbClr val="F59E0B"/>
                </a:solidFill>
                <a:latin typeface="Arial" pitchFamily="34" charset="0"/>
                <a:ea typeface="Arial" pitchFamily="34" charset="-122"/>
                <a:cs typeface="Arial" pitchFamily="34" charset="-120"/>
              </a:rPr>
              <a:t>Research → Evaluate → Decide</a:t>
            </a:r>
            <a:endParaRPr lang="en-US" sz="1300" dirty="0"/>
          </a:p>
        </p:txBody>
      </p:sp>
      <p:sp>
        <p:nvSpPr>
          <p:cNvPr id="20" name="Text 18"/>
          <p:cNvSpPr/>
          <p:nvPr/>
        </p:nvSpPr>
        <p:spPr>
          <a:xfrm>
            <a:off x="4663440" y="2926080"/>
            <a:ext cx="2286000" cy="548640"/>
          </a:xfrm>
          <a:prstGeom prst="rect">
            <a:avLst/>
          </a:prstGeom>
          <a:noFill/>
          <a:ln/>
        </p:spPr>
        <p:txBody>
          <a:bodyPr wrap="square" lIns="0" tIns="0" rIns="0" bIns="0" rtlCol="0" anchor="ctr"/>
          <a:lstStyle/>
          <a:p>
            <a:pPr indent="0" marL="0">
              <a:buNone/>
            </a:pPr>
            <a:r>
              <a:rPr lang="en-US" sz="1000" dirty="0">
                <a:solidFill>
                  <a:srgbClr val="B4E4D9"/>
                </a:solidFill>
                <a:latin typeface="Calibri" pitchFamily="34" charset="0"/>
                <a:ea typeface="Calibri" pitchFamily="34" charset="-122"/>
                <a:cs typeface="Calibri" pitchFamily="34" charset="-120"/>
              </a:rPr>
              <a:t>Analyze materials, weigh evidence, make decisions</a:t>
            </a:r>
            <a:endParaRPr lang="en-US" sz="1000" dirty="0"/>
          </a:p>
        </p:txBody>
      </p:sp>
      <p:sp>
        <p:nvSpPr>
          <p:cNvPr id="21" name="Text 19"/>
          <p:cNvSpPr/>
          <p:nvPr/>
        </p:nvSpPr>
        <p:spPr>
          <a:xfrm>
            <a:off x="7040880" y="2926080"/>
            <a:ext cx="1280160" cy="54864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R&amp;D Tax Credits</a:t>
            </a:r>
            <a:endParaRPr lang="en-US" sz="900" dirty="0"/>
          </a:p>
        </p:txBody>
      </p:sp>
      <p:sp>
        <p:nvSpPr>
          <p:cNvPr id="22" name="Shape 20"/>
          <p:cNvSpPr/>
          <p:nvPr/>
        </p:nvSpPr>
        <p:spPr>
          <a:xfrm>
            <a:off x="731520" y="3611880"/>
            <a:ext cx="7680960" cy="548640"/>
          </a:xfrm>
          <a:prstGeom prst="rect">
            <a:avLst/>
          </a:prstGeom>
          <a:solidFill>
            <a:srgbClr val="0F3D4A"/>
          </a:solidFill>
          <a:ln/>
          <a:effectLst>
            <a:outerShdw sx="100000" sy="100000" kx="0" ky="0" algn="bl" rotWithShape="0" blurRad="76200" dist="25400" dir="8100000">
              <a:srgbClr val="000000">
                <a:alpha val="20000"/>
              </a:srgbClr>
            </a:outerShdw>
          </a:effectLst>
        </p:spPr>
      </p:sp>
      <p:sp>
        <p:nvSpPr>
          <p:cNvPr id="23" name="Shape 21"/>
          <p:cNvSpPr/>
          <p:nvPr/>
        </p:nvSpPr>
        <p:spPr>
          <a:xfrm>
            <a:off x="914400" y="3685032"/>
            <a:ext cx="365760" cy="365760"/>
          </a:xfrm>
          <a:prstGeom prst="oval">
            <a:avLst/>
          </a:prstGeom>
          <a:solidFill>
            <a:srgbClr val="14B8A6"/>
          </a:solidFill>
          <a:ln/>
        </p:spPr>
      </p:sp>
      <p:sp>
        <p:nvSpPr>
          <p:cNvPr id="24" name="Text 22"/>
          <p:cNvSpPr/>
          <p:nvPr/>
        </p:nvSpPr>
        <p:spPr>
          <a:xfrm>
            <a:off x="914400" y="3685032"/>
            <a:ext cx="365760" cy="365760"/>
          </a:xfrm>
          <a:prstGeom prst="rect">
            <a:avLst/>
          </a:prstGeom>
          <a:noFill/>
          <a:ln/>
        </p:spPr>
        <p:txBody>
          <a:bodyPr wrap="square" lIns="0" tIns="0" rIns="0" bIns="0" rtlCol="0" anchor="ctr"/>
          <a:lstStyle/>
          <a:p>
            <a:pPr algn="ctr" indent="0" marL="0">
              <a:buNone/>
            </a:pPr>
            <a:r>
              <a:rPr lang="en-US" sz="1500" dirty="0">
                <a:solidFill>
                  <a:srgbClr val="081E25"/>
                </a:solidFill>
                <a:latin typeface="Arial Black" pitchFamily="34" charset="0"/>
                <a:ea typeface="Arial Black" pitchFamily="34" charset="-122"/>
                <a:cs typeface="Arial Black" pitchFamily="34" charset="-120"/>
              </a:rPr>
              <a:t>4</a:t>
            </a:r>
            <a:endParaRPr lang="en-US" sz="1500" dirty="0"/>
          </a:p>
        </p:txBody>
      </p:sp>
      <p:sp>
        <p:nvSpPr>
          <p:cNvPr id="25" name="Text 23"/>
          <p:cNvSpPr/>
          <p:nvPr/>
        </p:nvSpPr>
        <p:spPr>
          <a:xfrm>
            <a:off x="1463040" y="3611880"/>
            <a:ext cx="3200400" cy="548640"/>
          </a:xfrm>
          <a:prstGeom prst="rect">
            <a:avLst/>
          </a:prstGeom>
          <a:noFill/>
          <a:ln/>
        </p:spPr>
        <p:txBody>
          <a:bodyPr wrap="square" lIns="0" tIns="0" rIns="0" bIns="0" rtlCol="0" anchor="ctr"/>
          <a:lstStyle/>
          <a:p>
            <a:pPr indent="0" marL="0">
              <a:buNone/>
            </a:pPr>
            <a:r>
              <a:rPr lang="en-US" sz="1300" b="1" dirty="0">
                <a:solidFill>
                  <a:srgbClr val="14B8A6"/>
                </a:solidFill>
                <a:latin typeface="Arial" pitchFamily="34" charset="0"/>
                <a:ea typeface="Arial" pitchFamily="34" charset="-122"/>
                <a:cs typeface="Arial" pitchFamily="34" charset="-120"/>
              </a:rPr>
              <a:t>Draft → Fact-Check → Refine</a:t>
            </a:r>
            <a:endParaRPr lang="en-US" sz="1300" dirty="0"/>
          </a:p>
        </p:txBody>
      </p:sp>
      <p:sp>
        <p:nvSpPr>
          <p:cNvPr id="26" name="Text 24"/>
          <p:cNvSpPr/>
          <p:nvPr/>
        </p:nvSpPr>
        <p:spPr>
          <a:xfrm>
            <a:off x="4663440" y="3611880"/>
            <a:ext cx="2286000" cy="548640"/>
          </a:xfrm>
          <a:prstGeom prst="rect">
            <a:avLst/>
          </a:prstGeom>
          <a:noFill/>
          <a:ln/>
        </p:spPr>
        <p:txBody>
          <a:bodyPr wrap="square" lIns="0" tIns="0" rIns="0" bIns="0" rtlCol="0" anchor="ctr"/>
          <a:lstStyle/>
          <a:p>
            <a:pPr indent="0" marL="0">
              <a:buNone/>
            </a:pPr>
            <a:r>
              <a:rPr lang="en-US" sz="1000" dirty="0">
                <a:solidFill>
                  <a:srgbClr val="B4E4D9"/>
                </a:solidFill>
                <a:latin typeface="Calibri" pitchFamily="34" charset="0"/>
                <a:ea typeface="Calibri" pitchFamily="34" charset="-122"/>
                <a:cs typeface="Calibri" pitchFamily="34" charset="-120"/>
              </a:rPr>
              <a:t>Create content, verify claims, polish output</a:t>
            </a:r>
            <a:endParaRPr lang="en-US" sz="1000" dirty="0"/>
          </a:p>
        </p:txBody>
      </p:sp>
      <p:sp>
        <p:nvSpPr>
          <p:cNvPr id="27" name="Text 25"/>
          <p:cNvSpPr/>
          <p:nvPr/>
        </p:nvSpPr>
        <p:spPr>
          <a:xfrm>
            <a:off x="7040880" y="3611880"/>
            <a:ext cx="1280160" cy="548640"/>
          </a:xfrm>
          <a:prstGeom prst="rect">
            <a:avLst/>
          </a:prstGeom>
          <a:noFill/>
          <a:ln/>
        </p:spPr>
        <p:txBody>
          <a:bodyPr wrap="square" lIns="0" tIns="0" rIns="0" bIns="0" rtlCol="0" anchor="ctr"/>
          <a:lstStyle/>
          <a:p>
            <a:pPr algn="r" indent="0" marL="0">
              <a:buNone/>
            </a:pPr>
            <a:r>
              <a:rPr lang="en-US" sz="900" dirty="0">
                <a:solidFill>
                  <a:srgbClr val="94A3B8"/>
                </a:solidFill>
                <a:latin typeface="Arial" pitchFamily="34" charset="0"/>
                <a:ea typeface="Arial" pitchFamily="34" charset="-122"/>
                <a:cs typeface="Arial" pitchFamily="34" charset="-120"/>
              </a:rPr>
              <a:t>Persona Analyzer</a:t>
            </a:r>
            <a:endParaRPr lang="en-US" sz="900" dirty="0"/>
          </a:p>
        </p:txBody>
      </p:sp>
      <p:sp>
        <p:nvSpPr>
          <p:cNvPr id="28" name="Shape 26"/>
          <p:cNvSpPr/>
          <p:nvPr/>
        </p:nvSpPr>
        <p:spPr>
          <a:xfrm>
            <a:off x="731520" y="4389120"/>
            <a:ext cx="7680960" cy="274320"/>
          </a:xfrm>
          <a:prstGeom prst="rect">
            <a:avLst/>
          </a:prstGeom>
          <a:solidFill>
            <a:srgbClr val="0F3D4A"/>
          </a:solidFill>
          <a:ln/>
          <a:effectLst>
            <a:outerShdw sx="100000" sy="100000" kx="0" ky="0" algn="bl" rotWithShape="0" blurRad="76200" dist="25400" dir="8100000">
              <a:srgbClr val="000000">
                <a:alpha val="20000"/>
              </a:srgbClr>
            </a:outerShdw>
          </a:effectLst>
        </p:spPr>
      </p:sp>
      <p:sp>
        <p:nvSpPr>
          <p:cNvPr id="29" name="Text 27"/>
          <p:cNvSpPr/>
          <p:nvPr/>
        </p:nvSpPr>
        <p:spPr>
          <a:xfrm>
            <a:off x="914400" y="4389120"/>
            <a:ext cx="7315200" cy="274320"/>
          </a:xfrm>
          <a:prstGeom prst="rect">
            <a:avLst/>
          </a:prstGeom>
          <a:noFill/>
          <a:ln/>
        </p:spPr>
        <p:txBody>
          <a:bodyPr wrap="square" lIns="0" tIns="0" rIns="0" bIns="0" rtlCol="0" anchor="ctr"/>
          <a:lstStyle/>
          <a:p>
            <a:pPr indent="0" marL="0">
              <a:buNone/>
            </a:pPr>
            <a:r>
              <a:rPr lang="en-US" sz="1100" i="1" dirty="0">
                <a:solidFill>
                  <a:srgbClr val="F59E0B"/>
                </a:solidFill>
                <a:latin typeface="Georgia" pitchFamily="34" charset="0"/>
                <a:ea typeface="Georgia" pitchFamily="34" charset="-122"/>
                <a:cs typeface="Georgia" pitchFamily="34" charset="-120"/>
              </a:rPr>
              <a:t>"You don't need my use cases — you need these patterns applied to YOUR work."</a:t>
            </a:r>
            <a:endParaRPr lang="en-US" sz="1100" dirty="0"/>
          </a:p>
        </p:txBody>
      </p:sp>
      <p:sp>
        <p:nvSpPr>
          <p:cNvPr id="30" name="Shape 28"/>
          <p:cNvSpPr/>
          <p:nvPr/>
        </p:nvSpPr>
        <p:spPr>
          <a:xfrm>
            <a:off x="0" y="4800600"/>
            <a:ext cx="9144000" cy="342900"/>
          </a:xfrm>
          <a:prstGeom prst="rect">
            <a:avLst/>
          </a:prstGeom>
          <a:solidFill>
            <a:srgbClr val="14B8A6"/>
          </a:solidFill>
          <a:ln/>
        </p:spPr>
      </p:sp>
      <p:sp>
        <p:nvSpPr>
          <p:cNvPr id="31" name="Text 29"/>
          <p:cNvSpPr/>
          <p:nvPr/>
        </p:nvSpPr>
        <p:spPr>
          <a:xfrm>
            <a:off x="457200" y="4800600"/>
            <a:ext cx="8229600" cy="342900"/>
          </a:xfrm>
          <a:prstGeom prst="rect">
            <a:avLst/>
          </a:prstGeom>
          <a:noFill/>
          <a:ln/>
        </p:spPr>
        <p:txBody>
          <a:bodyPr wrap="square" lIns="0" tIns="0" rIns="0" bIns="0" rtlCol="0" anchor="ctr"/>
          <a:lstStyle/>
          <a:p>
            <a:pPr algn="l" indent="0" marL="0">
              <a:buNone/>
            </a:pPr>
            <a:r>
              <a:rPr lang="en-US" sz="900" b="1" dirty="0">
                <a:solidFill>
                  <a:srgbClr val="081E25"/>
                </a:solidFill>
                <a:latin typeface="Calibri" pitchFamily="34" charset="0"/>
                <a:ea typeface="Calibri" pitchFamily="34" charset="-122"/>
                <a:cs typeface="Calibri" pitchFamily="34" charset="-120"/>
              </a:rPr>
              <a:t>TAKEAWAY FRAMEWORK</a:t>
            </a:r>
            <a:endParaRPr lang="en-US" sz="900" dirty="0"/>
          </a:p>
        </p:txBody>
      </p:sp>
      <p:sp>
        <p:nvSpPr>
          <p:cNvPr id="32" name="Text 30"/>
          <p:cNvSpPr/>
          <p:nvPr/>
        </p:nvSpPr>
        <p:spPr>
          <a:xfrm>
            <a:off x="8046720" y="4800600"/>
            <a:ext cx="914400" cy="342900"/>
          </a:xfrm>
          <a:prstGeom prst="rect">
            <a:avLst/>
          </a:prstGeom>
          <a:noFill/>
          <a:ln/>
        </p:spPr>
        <p:txBody>
          <a:bodyPr wrap="square" lIns="0" tIns="0" rIns="0" bIns="0" rtlCol="0" anchor="ctr"/>
          <a:lstStyle/>
          <a:p>
            <a:pPr algn="r" indent="0" marL="0">
              <a:buNone/>
            </a:pPr>
            <a:r>
              <a:rPr lang="en-US" sz="800" dirty="0">
                <a:solidFill>
                  <a:srgbClr val="081E25"/>
                </a:solidFill>
                <a:latin typeface="Calibri" pitchFamily="34" charset="0"/>
                <a:ea typeface="Calibri" pitchFamily="34" charset="-122"/>
                <a:cs typeface="Calibri" pitchFamily="34" charset="-120"/>
              </a:rPr>
              <a:t>25 / 31</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2E38"/>
        </a:solidFill>
      </p:bgPr>
    </p:bg>
    <p:spTree>
      <p:nvGrpSpPr>
        <p:cNvPr id="1" name=""/>
        <p:cNvGrpSpPr/>
        <p:nvPr/>
      </p:nvGrpSpPr>
      <p:grpSpPr>
        <a:xfrm>
          <a:off x="0" y="0"/>
          <a:ext cx="0" cy="0"/>
          <a:chOff x="0" y="0"/>
          <a:chExt cx="0" cy="0"/>
        </a:xfrm>
      </p:grpSpPr>
      <p:sp>
        <p:nvSpPr>
          <p:cNvPr id="2" name="Text 0"/>
          <p:cNvSpPr/>
          <p:nvPr/>
        </p:nvSpPr>
        <p:spPr>
          <a:xfrm>
            <a:off x="731520" y="365760"/>
            <a:ext cx="5486400" cy="365760"/>
          </a:xfrm>
          <a:prstGeom prst="rect">
            <a:avLst/>
          </a:prstGeom>
          <a:noFill/>
          <a:ln/>
        </p:spPr>
        <p:txBody>
          <a:bodyPr wrap="square" lIns="0" tIns="0" rIns="0" bIns="0" rtlCol="0" anchor="ctr"/>
          <a:lstStyle/>
          <a:p>
            <a:pPr indent="0" marL="0">
              <a:buNone/>
            </a:pPr>
            <a:r>
              <a:rPr lang="en-US" sz="1400" b="1" spc="300" kern="0" dirty="0">
                <a:solidFill>
                  <a:srgbClr val="14B8A6"/>
                </a:solidFill>
                <a:latin typeface="Arial" pitchFamily="34" charset="0"/>
                <a:ea typeface="Arial" pitchFamily="34" charset="-122"/>
                <a:cs typeface="Arial" pitchFamily="34" charset="-120"/>
              </a:rPr>
              <a:t>START TOMORROW</a:t>
            </a:r>
            <a:endParaRPr lang="en-US" sz="1400" dirty="0"/>
          </a:p>
        </p:txBody>
      </p:sp>
      <p:sp>
        <p:nvSpPr>
          <p:cNvPr id="3" name="Shape 1"/>
          <p:cNvSpPr/>
          <p:nvPr/>
        </p:nvSpPr>
        <p:spPr>
          <a:xfrm>
            <a:off x="731520" y="1005840"/>
            <a:ext cx="7680960" cy="822960"/>
          </a:xfrm>
          <a:prstGeom prst="rect">
            <a:avLst/>
          </a:prstGeom>
          <a:solidFill>
            <a:srgbClr val="0F3D4A"/>
          </a:solidFill>
          <a:ln/>
          <a:effectLst>
            <a:outerShdw sx="100000" sy="100000" kx="0" ky="0" algn="bl" rotWithShape="0" blurRad="76200" dist="25400" dir="8100000">
              <a:srgbClr val="000000">
                <a:alpha val="20000"/>
              </a:srgbClr>
            </a:outerShdw>
          </a:effectLst>
        </p:spPr>
      </p:sp>
      <p:sp>
        <p:nvSpPr>
          <p:cNvPr id="4" name="Shape 2"/>
          <p:cNvSpPr/>
          <p:nvPr/>
        </p:nvSpPr>
        <p:spPr>
          <a:xfrm>
            <a:off x="914400" y="1143000"/>
            <a:ext cx="457200" cy="457200"/>
          </a:xfrm>
          <a:prstGeom prst="oval">
            <a:avLst/>
          </a:prstGeom>
          <a:solidFill>
            <a:srgbClr val="14B8A6"/>
          </a:solidFill>
          <a:ln/>
        </p:spPr>
      </p:sp>
      <p:sp>
        <p:nvSpPr>
          <p:cNvPr id="5" name="Text 3"/>
          <p:cNvSpPr/>
          <p:nvPr/>
        </p:nvSpPr>
        <p:spPr>
          <a:xfrm>
            <a:off x="914400" y="1143000"/>
            <a:ext cx="457200" cy="457200"/>
          </a:xfrm>
          <a:prstGeom prst="rect">
            <a:avLst/>
          </a:prstGeom>
          <a:noFill/>
          <a:ln/>
        </p:spPr>
        <p:txBody>
          <a:bodyPr wrap="square" lIns="0" tIns="0" rIns="0" bIns="0" rtlCol="0" anchor="ctr"/>
          <a:lstStyle/>
          <a:p>
            <a:pPr algn="ctr" indent="0" marL="0">
              <a:buNone/>
            </a:pPr>
            <a:r>
              <a:rPr lang="en-US" sz="1800" dirty="0">
                <a:solidFill>
                  <a:srgbClr val="081E25"/>
                </a:solidFill>
                <a:latin typeface="Arial Black" pitchFamily="34" charset="0"/>
                <a:ea typeface="Arial Black" pitchFamily="34" charset="-122"/>
                <a:cs typeface="Arial Black" pitchFamily="34" charset="-120"/>
              </a:rPr>
              <a:t>1</a:t>
            </a:r>
            <a:endParaRPr lang="en-US" sz="1800" dirty="0"/>
          </a:p>
        </p:txBody>
      </p:sp>
      <p:sp>
        <p:nvSpPr>
          <p:cNvPr id="6" name="Text 4"/>
          <p:cNvSpPr/>
          <p:nvPr/>
        </p:nvSpPr>
        <p:spPr>
          <a:xfrm>
            <a:off x="1554480" y="1005840"/>
            <a:ext cx="2743200" cy="822960"/>
          </a:xfrm>
          <a:prstGeom prst="rect">
            <a:avLst/>
          </a:prstGeom>
          <a:noFill/>
          <a:ln/>
        </p:spPr>
        <p:txBody>
          <a:bodyPr wrap="square" lIns="0" tIns="0" rIns="0" bIns="0" rtlCol="0" anchor="ctr"/>
          <a:lstStyle/>
          <a:p>
            <a:pPr indent="0" marL="0">
              <a:buNone/>
            </a:pPr>
            <a:r>
              <a:rPr lang="en-US" sz="1500" b="1" dirty="0">
                <a:solidFill>
                  <a:srgbClr val="14B8A6"/>
                </a:solidFill>
                <a:latin typeface="Arial" pitchFamily="34" charset="0"/>
                <a:ea typeface="Arial" pitchFamily="34" charset="-122"/>
                <a:cs typeface="Arial" pitchFamily="34" charset="-120"/>
              </a:rPr>
              <a:t>Pick your boring task</a:t>
            </a:r>
            <a:endParaRPr lang="en-US" sz="1500" dirty="0"/>
          </a:p>
        </p:txBody>
      </p:sp>
      <p:sp>
        <p:nvSpPr>
          <p:cNvPr id="7" name="Text 5"/>
          <p:cNvSpPr/>
          <p:nvPr/>
        </p:nvSpPr>
        <p:spPr>
          <a:xfrm>
            <a:off x="4114800" y="1005840"/>
            <a:ext cx="4114800" cy="822960"/>
          </a:xfrm>
          <a:prstGeom prst="rect">
            <a:avLst/>
          </a:prstGeom>
          <a:noFill/>
          <a:ln/>
        </p:spPr>
        <p:txBody>
          <a:bodyPr wrap="square" lIns="0" tIns="0" rIns="0" bIns="0" rtlCol="0" anchor="ctr"/>
          <a:lstStyle/>
          <a:p>
            <a:pPr indent="0" marL="0">
              <a:buNone/>
            </a:pPr>
            <a:r>
              <a:rPr lang="en-US" sz="1200" dirty="0">
                <a:solidFill>
                  <a:srgbClr val="B4E4D9"/>
                </a:solidFill>
                <a:latin typeface="Calibri" pitchFamily="34" charset="0"/>
                <a:ea typeface="Calibri" pitchFamily="34" charset="-122"/>
                <a:cs typeface="Calibri" pitchFamily="34" charset="-120"/>
              </a:rPr>
              <a:t>The one you dread every week. The one that's 90% repetitive. That's your first target.</a:t>
            </a:r>
            <a:endParaRPr lang="en-US" sz="1200" dirty="0"/>
          </a:p>
        </p:txBody>
      </p:sp>
      <p:sp>
        <p:nvSpPr>
          <p:cNvPr id="8" name="Shape 6"/>
          <p:cNvSpPr/>
          <p:nvPr/>
        </p:nvSpPr>
        <p:spPr>
          <a:xfrm>
            <a:off x="731520" y="1965960"/>
            <a:ext cx="7680960" cy="822960"/>
          </a:xfrm>
          <a:prstGeom prst="rect">
            <a:avLst/>
          </a:prstGeom>
          <a:solidFill>
            <a:srgbClr val="0F3D4A"/>
          </a:solidFill>
          <a:ln/>
          <a:effectLst>
            <a:outerShdw sx="100000" sy="100000" kx="0" ky="0" algn="bl" rotWithShape="0" blurRad="76200" dist="25400" dir="8100000">
              <a:srgbClr val="000000">
                <a:alpha val="20000"/>
              </a:srgbClr>
            </a:outerShdw>
          </a:effectLst>
        </p:spPr>
      </p:sp>
      <p:sp>
        <p:nvSpPr>
          <p:cNvPr id="9" name="Shape 7"/>
          <p:cNvSpPr/>
          <p:nvPr/>
        </p:nvSpPr>
        <p:spPr>
          <a:xfrm>
            <a:off x="914400" y="2103120"/>
            <a:ext cx="457200" cy="457200"/>
          </a:xfrm>
          <a:prstGeom prst="oval">
            <a:avLst/>
          </a:prstGeom>
          <a:solidFill>
            <a:srgbClr val="5EEAD4"/>
          </a:solidFill>
          <a:ln/>
        </p:spPr>
      </p:sp>
      <p:sp>
        <p:nvSpPr>
          <p:cNvPr id="10" name="Text 8"/>
          <p:cNvSpPr/>
          <p:nvPr/>
        </p:nvSpPr>
        <p:spPr>
          <a:xfrm>
            <a:off x="914400" y="2103120"/>
            <a:ext cx="457200" cy="457200"/>
          </a:xfrm>
          <a:prstGeom prst="rect">
            <a:avLst/>
          </a:prstGeom>
          <a:noFill/>
          <a:ln/>
        </p:spPr>
        <p:txBody>
          <a:bodyPr wrap="square" lIns="0" tIns="0" rIns="0" bIns="0" rtlCol="0" anchor="ctr"/>
          <a:lstStyle/>
          <a:p>
            <a:pPr algn="ctr" indent="0" marL="0">
              <a:buNone/>
            </a:pPr>
            <a:r>
              <a:rPr lang="en-US" sz="1800" dirty="0">
                <a:solidFill>
                  <a:srgbClr val="081E25"/>
                </a:solidFill>
                <a:latin typeface="Arial Black" pitchFamily="34" charset="0"/>
                <a:ea typeface="Arial Black" pitchFamily="34" charset="-122"/>
                <a:cs typeface="Arial Black" pitchFamily="34" charset="-120"/>
              </a:rPr>
              <a:t>2</a:t>
            </a:r>
            <a:endParaRPr lang="en-US" sz="1800" dirty="0"/>
          </a:p>
        </p:txBody>
      </p:sp>
      <p:sp>
        <p:nvSpPr>
          <p:cNvPr id="11" name="Text 9"/>
          <p:cNvSpPr/>
          <p:nvPr/>
        </p:nvSpPr>
        <p:spPr>
          <a:xfrm>
            <a:off x="1554480" y="1965960"/>
            <a:ext cx="2743200" cy="822960"/>
          </a:xfrm>
          <a:prstGeom prst="rect">
            <a:avLst/>
          </a:prstGeom>
          <a:noFill/>
          <a:ln/>
        </p:spPr>
        <p:txBody>
          <a:bodyPr wrap="square" lIns="0" tIns="0" rIns="0" bIns="0" rtlCol="0" anchor="ctr"/>
          <a:lstStyle/>
          <a:p>
            <a:pPr indent="0" marL="0">
              <a:buNone/>
            </a:pPr>
            <a:r>
              <a:rPr lang="en-US" sz="1500" b="1" dirty="0">
                <a:solidFill>
                  <a:srgbClr val="5EEAD4"/>
                </a:solidFill>
                <a:latin typeface="Arial" pitchFamily="34" charset="0"/>
                <a:ea typeface="Arial" pitchFamily="34" charset="-122"/>
                <a:cs typeface="Arial" pitchFamily="34" charset="-120"/>
              </a:rPr>
              <a:t>Write a specific prompt</a:t>
            </a:r>
            <a:endParaRPr lang="en-US" sz="1500" dirty="0"/>
          </a:p>
        </p:txBody>
      </p:sp>
      <p:sp>
        <p:nvSpPr>
          <p:cNvPr id="12" name="Text 10"/>
          <p:cNvSpPr/>
          <p:nvPr/>
        </p:nvSpPr>
        <p:spPr>
          <a:xfrm>
            <a:off x="4114800" y="1965960"/>
            <a:ext cx="4114800" cy="822960"/>
          </a:xfrm>
          <a:prstGeom prst="rect">
            <a:avLst/>
          </a:prstGeom>
          <a:noFill/>
          <a:ln/>
        </p:spPr>
        <p:txBody>
          <a:bodyPr wrap="square" lIns="0" tIns="0" rIns="0" bIns="0" rtlCol="0" anchor="ctr"/>
          <a:lstStyle/>
          <a:p>
            <a:pPr indent="0" marL="0">
              <a:buNone/>
            </a:pPr>
            <a:r>
              <a:rPr lang="en-US" sz="1200" dirty="0">
                <a:solidFill>
                  <a:srgbClr val="B4E4D9"/>
                </a:solidFill>
                <a:latin typeface="Calibri" pitchFamily="34" charset="0"/>
                <a:ea typeface="Calibri" pitchFamily="34" charset="-122"/>
                <a:cs typeface="Calibri" pitchFamily="34" charset="-120"/>
              </a:rPr>
              <a:t>Role + context + procedure + constraints + output format. Not "do my thing" — be precise.</a:t>
            </a:r>
            <a:endParaRPr lang="en-US" sz="1200" dirty="0"/>
          </a:p>
        </p:txBody>
      </p:sp>
      <p:sp>
        <p:nvSpPr>
          <p:cNvPr id="13" name="Shape 11"/>
          <p:cNvSpPr/>
          <p:nvPr/>
        </p:nvSpPr>
        <p:spPr>
          <a:xfrm>
            <a:off x="731520" y="2926080"/>
            <a:ext cx="7680960" cy="822960"/>
          </a:xfrm>
          <a:prstGeom prst="rect">
            <a:avLst/>
          </a:prstGeom>
          <a:solidFill>
            <a:srgbClr val="0F3D4A"/>
          </a:solidFill>
          <a:ln/>
          <a:effectLst>
            <a:outerShdw sx="100000" sy="100000" kx="0" ky="0" algn="bl" rotWithShape="0" blurRad="76200" dist="25400" dir="8100000">
              <a:srgbClr val="000000">
                <a:alpha val="20000"/>
              </a:srgbClr>
            </a:outerShdw>
          </a:effectLst>
        </p:spPr>
      </p:sp>
      <p:sp>
        <p:nvSpPr>
          <p:cNvPr id="14" name="Shape 12"/>
          <p:cNvSpPr/>
          <p:nvPr/>
        </p:nvSpPr>
        <p:spPr>
          <a:xfrm>
            <a:off x="914400" y="3063240"/>
            <a:ext cx="457200" cy="457200"/>
          </a:xfrm>
          <a:prstGeom prst="oval">
            <a:avLst/>
          </a:prstGeom>
          <a:solidFill>
            <a:srgbClr val="F59E0B"/>
          </a:solidFill>
          <a:ln/>
        </p:spPr>
      </p:sp>
      <p:sp>
        <p:nvSpPr>
          <p:cNvPr id="15" name="Text 13"/>
          <p:cNvSpPr/>
          <p:nvPr/>
        </p:nvSpPr>
        <p:spPr>
          <a:xfrm>
            <a:off x="914400" y="3063240"/>
            <a:ext cx="457200" cy="457200"/>
          </a:xfrm>
          <a:prstGeom prst="rect">
            <a:avLst/>
          </a:prstGeom>
          <a:noFill/>
          <a:ln/>
        </p:spPr>
        <p:txBody>
          <a:bodyPr wrap="square" lIns="0" tIns="0" rIns="0" bIns="0" rtlCol="0" anchor="ctr"/>
          <a:lstStyle/>
          <a:p>
            <a:pPr algn="ctr" indent="0" marL="0">
              <a:buNone/>
            </a:pPr>
            <a:r>
              <a:rPr lang="en-US" sz="1800" dirty="0">
                <a:solidFill>
                  <a:srgbClr val="081E25"/>
                </a:solidFill>
                <a:latin typeface="Arial Black" pitchFamily="34" charset="0"/>
                <a:ea typeface="Arial Black" pitchFamily="34" charset="-122"/>
                <a:cs typeface="Arial Black" pitchFamily="34" charset="-120"/>
              </a:rPr>
              <a:t>3</a:t>
            </a:r>
            <a:endParaRPr lang="en-US" sz="1800" dirty="0"/>
          </a:p>
        </p:txBody>
      </p:sp>
      <p:sp>
        <p:nvSpPr>
          <p:cNvPr id="16" name="Text 14"/>
          <p:cNvSpPr/>
          <p:nvPr/>
        </p:nvSpPr>
        <p:spPr>
          <a:xfrm>
            <a:off x="1554480" y="2926080"/>
            <a:ext cx="2743200" cy="822960"/>
          </a:xfrm>
          <a:prstGeom prst="rect">
            <a:avLst/>
          </a:prstGeom>
          <a:noFill/>
          <a:ln/>
        </p:spPr>
        <p:txBody>
          <a:bodyPr wrap="square" lIns="0" tIns="0" rIns="0" bIns="0" rtlCol="0" anchor="ctr"/>
          <a:lstStyle/>
          <a:p>
            <a:pPr indent="0" marL="0">
              <a:buNone/>
            </a:pPr>
            <a:r>
              <a:rPr lang="en-US" sz="1500" b="1" dirty="0">
                <a:solidFill>
                  <a:srgbClr val="F59E0B"/>
                </a:solidFill>
                <a:latin typeface="Arial" pitchFamily="34" charset="0"/>
                <a:ea typeface="Arial" pitchFamily="34" charset="-122"/>
                <a:cs typeface="Arial" pitchFamily="34" charset="-120"/>
              </a:rPr>
              <a:t>Iterate, don't abandon</a:t>
            </a:r>
            <a:endParaRPr lang="en-US" sz="1500" dirty="0"/>
          </a:p>
        </p:txBody>
      </p:sp>
      <p:sp>
        <p:nvSpPr>
          <p:cNvPr id="17" name="Text 15"/>
          <p:cNvSpPr/>
          <p:nvPr/>
        </p:nvSpPr>
        <p:spPr>
          <a:xfrm>
            <a:off x="4114800" y="2926080"/>
            <a:ext cx="4114800" cy="822960"/>
          </a:xfrm>
          <a:prstGeom prst="rect">
            <a:avLst/>
          </a:prstGeom>
          <a:noFill/>
          <a:ln/>
        </p:spPr>
        <p:txBody>
          <a:bodyPr wrap="square" lIns="0" tIns="0" rIns="0" bIns="0" rtlCol="0" anchor="ctr"/>
          <a:lstStyle/>
          <a:p>
            <a:pPr indent="0" marL="0">
              <a:buNone/>
            </a:pPr>
            <a:r>
              <a:rPr lang="en-US" sz="1200" dirty="0">
                <a:solidFill>
                  <a:srgbClr val="B4E4D9"/>
                </a:solidFill>
                <a:latin typeface="Calibri" pitchFamily="34" charset="0"/>
                <a:ea typeface="Calibri" pitchFamily="34" charset="-122"/>
                <a:cs typeface="Calibri" pitchFamily="34" charset="-120"/>
              </a:rPr>
              <a:t>First output won't be perfect. Paste the error back. Refine the prompt. The loop IS the skill.</a:t>
            </a:r>
            <a:endParaRPr lang="en-US" sz="1200" dirty="0"/>
          </a:p>
        </p:txBody>
      </p:sp>
      <p:sp>
        <p:nvSpPr>
          <p:cNvPr id="18" name="Shape 16"/>
          <p:cNvSpPr/>
          <p:nvPr/>
        </p:nvSpPr>
        <p:spPr>
          <a:xfrm>
            <a:off x="731520" y="3886200"/>
            <a:ext cx="7680960" cy="822960"/>
          </a:xfrm>
          <a:prstGeom prst="rect">
            <a:avLst/>
          </a:prstGeom>
          <a:solidFill>
            <a:srgbClr val="0F3D4A"/>
          </a:solidFill>
          <a:ln/>
          <a:effectLst>
            <a:outerShdw sx="100000" sy="100000" kx="0" ky="0" algn="bl" rotWithShape="0" blurRad="76200" dist="25400" dir="8100000">
              <a:srgbClr val="000000">
                <a:alpha val="20000"/>
              </a:srgbClr>
            </a:outerShdw>
          </a:effectLst>
        </p:spPr>
      </p:sp>
      <p:sp>
        <p:nvSpPr>
          <p:cNvPr id="19" name="Shape 17"/>
          <p:cNvSpPr/>
          <p:nvPr/>
        </p:nvSpPr>
        <p:spPr>
          <a:xfrm>
            <a:off x="914400" y="4023360"/>
            <a:ext cx="457200" cy="457200"/>
          </a:xfrm>
          <a:prstGeom prst="oval">
            <a:avLst/>
          </a:prstGeom>
          <a:solidFill>
            <a:srgbClr val="14B8A6"/>
          </a:solidFill>
          <a:ln/>
        </p:spPr>
      </p:sp>
      <p:sp>
        <p:nvSpPr>
          <p:cNvPr id="20" name="Text 18"/>
          <p:cNvSpPr/>
          <p:nvPr/>
        </p:nvSpPr>
        <p:spPr>
          <a:xfrm>
            <a:off x="914400" y="4023360"/>
            <a:ext cx="457200" cy="457200"/>
          </a:xfrm>
          <a:prstGeom prst="rect">
            <a:avLst/>
          </a:prstGeom>
          <a:noFill/>
          <a:ln/>
        </p:spPr>
        <p:txBody>
          <a:bodyPr wrap="square" lIns="0" tIns="0" rIns="0" bIns="0" rtlCol="0" anchor="ctr"/>
          <a:lstStyle/>
          <a:p>
            <a:pPr algn="ctr" indent="0" marL="0">
              <a:buNone/>
            </a:pPr>
            <a:r>
              <a:rPr lang="en-US" sz="1800" dirty="0">
                <a:solidFill>
                  <a:srgbClr val="081E25"/>
                </a:solidFill>
                <a:latin typeface="Arial Black" pitchFamily="34" charset="0"/>
                <a:ea typeface="Arial Black" pitchFamily="34" charset="-122"/>
                <a:cs typeface="Arial Black" pitchFamily="34" charset="-120"/>
              </a:rPr>
              <a:t>4</a:t>
            </a:r>
            <a:endParaRPr lang="en-US" sz="1800" dirty="0"/>
          </a:p>
        </p:txBody>
      </p:sp>
      <p:sp>
        <p:nvSpPr>
          <p:cNvPr id="21" name="Text 19"/>
          <p:cNvSpPr/>
          <p:nvPr/>
        </p:nvSpPr>
        <p:spPr>
          <a:xfrm>
            <a:off x="1554480" y="3886200"/>
            <a:ext cx="2743200" cy="822960"/>
          </a:xfrm>
          <a:prstGeom prst="rect">
            <a:avLst/>
          </a:prstGeom>
          <a:noFill/>
          <a:ln/>
        </p:spPr>
        <p:txBody>
          <a:bodyPr wrap="square" lIns="0" tIns="0" rIns="0" bIns="0" rtlCol="0" anchor="ctr"/>
          <a:lstStyle/>
          <a:p>
            <a:pPr indent="0" marL="0">
              <a:buNone/>
            </a:pPr>
            <a:r>
              <a:rPr lang="en-US" sz="1500" b="1" dirty="0">
                <a:solidFill>
                  <a:srgbClr val="14B8A6"/>
                </a:solidFill>
                <a:latin typeface="Arial" pitchFamily="34" charset="0"/>
                <a:ea typeface="Arial" pitchFamily="34" charset="-122"/>
                <a:cs typeface="Arial" pitchFamily="34" charset="-120"/>
              </a:rPr>
              <a:t>Build a system, not a prompt</a:t>
            </a:r>
            <a:endParaRPr lang="en-US" sz="1500" dirty="0"/>
          </a:p>
        </p:txBody>
      </p:sp>
      <p:sp>
        <p:nvSpPr>
          <p:cNvPr id="22" name="Text 20"/>
          <p:cNvSpPr/>
          <p:nvPr/>
        </p:nvSpPr>
        <p:spPr>
          <a:xfrm>
            <a:off x="4114800" y="3886200"/>
            <a:ext cx="4114800" cy="822960"/>
          </a:xfrm>
          <a:prstGeom prst="rect">
            <a:avLst/>
          </a:prstGeom>
          <a:noFill/>
          <a:ln/>
        </p:spPr>
        <p:txBody>
          <a:bodyPr wrap="square" lIns="0" tIns="0" rIns="0" bIns="0" rtlCol="0" anchor="ctr"/>
          <a:lstStyle/>
          <a:p>
            <a:pPr indent="0" marL="0">
              <a:buNone/>
            </a:pPr>
            <a:r>
              <a:rPr lang="en-US" sz="1200" dirty="0">
                <a:solidFill>
                  <a:srgbClr val="B4E4D9"/>
                </a:solidFill>
                <a:latin typeface="Calibri" pitchFamily="34" charset="0"/>
                <a:ea typeface="Calibri" pitchFamily="34" charset="-122"/>
                <a:cs typeface="Calibri" pitchFamily="34" charset="-120"/>
              </a:rPr>
              <a:t>Add knowledge, validation rules, and procedures. Graduate from a prompt to a custom GPT.</a:t>
            </a:r>
            <a:endParaRPr lang="en-US" sz="1200" dirty="0"/>
          </a:p>
        </p:txBody>
      </p:sp>
      <p:sp>
        <p:nvSpPr>
          <p:cNvPr id="23" name="Shape 21"/>
          <p:cNvSpPr/>
          <p:nvPr/>
        </p:nvSpPr>
        <p:spPr>
          <a:xfrm>
            <a:off x="0" y="4800600"/>
            <a:ext cx="9144000" cy="342900"/>
          </a:xfrm>
          <a:prstGeom prst="rect">
            <a:avLst/>
          </a:prstGeom>
          <a:solidFill>
            <a:srgbClr val="14B8A6"/>
          </a:solidFill>
          <a:ln/>
        </p:spPr>
      </p:sp>
      <p:sp>
        <p:nvSpPr>
          <p:cNvPr id="24" name="Text 22"/>
          <p:cNvSpPr/>
          <p:nvPr/>
        </p:nvSpPr>
        <p:spPr>
          <a:xfrm>
            <a:off x="457200" y="4800600"/>
            <a:ext cx="8229600" cy="342900"/>
          </a:xfrm>
          <a:prstGeom prst="rect">
            <a:avLst/>
          </a:prstGeom>
          <a:noFill/>
          <a:ln/>
        </p:spPr>
        <p:txBody>
          <a:bodyPr wrap="square" lIns="0" tIns="0" rIns="0" bIns="0" rtlCol="0" anchor="ctr"/>
          <a:lstStyle/>
          <a:p>
            <a:pPr algn="l" indent="0" marL="0">
              <a:buNone/>
            </a:pPr>
            <a:r>
              <a:rPr lang="en-US" sz="900" b="1" dirty="0">
                <a:solidFill>
                  <a:srgbClr val="081E25"/>
                </a:solidFill>
                <a:latin typeface="Calibri" pitchFamily="34" charset="0"/>
                <a:ea typeface="Calibri" pitchFamily="34" charset="-122"/>
                <a:cs typeface="Calibri" pitchFamily="34" charset="-120"/>
              </a:rPr>
              <a:t>TAKEAWAY FRAMEWORK</a:t>
            </a:r>
            <a:endParaRPr lang="en-US" sz="900" dirty="0"/>
          </a:p>
        </p:txBody>
      </p:sp>
      <p:sp>
        <p:nvSpPr>
          <p:cNvPr id="25" name="Text 23"/>
          <p:cNvSpPr/>
          <p:nvPr/>
        </p:nvSpPr>
        <p:spPr>
          <a:xfrm>
            <a:off x="8046720" y="4800600"/>
            <a:ext cx="914400" cy="342900"/>
          </a:xfrm>
          <a:prstGeom prst="rect">
            <a:avLst/>
          </a:prstGeom>
          <a:noFill/>
          <a:ln/>
        </p:spPr>
        <p:txBody>
          <a:bodyPr wrap="square" lIns="0" tIns="0" rIns="0" bIns="0" rtlCol="0" anchor="ctr"/>
          <a:lstStyle/>
          <a:p>
            <a:pPr algn="r" indent="0" marL="0">
              <a:buNone/>
            </a:pPr>
            <a:r>
              <a:rPr lang="en-US" sz="800" dirty="0">
                <a:solidFill>
                  <a:srgbClr val="081E25"/>
                </a:solidFill>
                <a:latin typeface="Calibri" pitchFamily="34" charset="0"/>
                <a:ea typeface="Calibri" pitchFamily="34" charset="-122"/>
                <a:cs typeface="Calibri" pitchFamily="34" charset="-120"/>
              </a:rPr>
              <a:t>26 / 31</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2E38"/>
        </a:solidFill>
      </p:bgPr>
    </p:bg>
    <p:spTree>
      <p:nvGrpSpPr>
        <p:cNvPr id="1" name=""/>
        <p:cNvGrpSpPr/>
        <p:nvPr/>
      </p:nvGrpSpPr>
      <p:grpSpPr>
        <a:xfrm>
          <a:off x="0" y="0"/>
          <a:ext cx="0" cy="0"/>
          <a:chOff x="0" y="0"/>
          <a:chExt cx="0" cy="0"/>
        </a:xfrm>
      </p:grpSpPr>
      <p:sp>
        <p:nvSpPr>
          <p:cNvPr id="2" name="Text 0"/>
          <p:cNvSpPr/>
          <p:nvPr/>
        </p:nvSpPr>
        <p:spPr>
          <a:xfrm>
            <a:off x="731520" y="365760"/>
            <a:ext cx="5486400" cy="365760"/>
          </a:xfrm>
          <a:prstGeom prst="rect">
            <a:avLst/>
          </a:prstGeom>
          <a:noFill/>
          <a:ln/>
        </p:spPr>
        <p:txBody>
          <a:bodyPr wrap="square" lIns="0" tIns="0" rIns="0" bIns="0" rtlCol="0" anchor="ctr"/>
          <a:lstStyle/>
          <a:p>
            <a:pPr indent="0" marL="0">
              <a:buNone/>
            </a:pPr>
            <a:r>
              <a:rPr lang="en-US" sz="1400" b="1" spc="300" kern="0" dirty="0">
                <a:solidFill>
                  <a:srgbClr val="14B8A6"/>
                </a:solidFill>
                <a:latin typeface="Arial" pitchFamily="34" charset="0"/>
                <a:ea typeface="Arial" pitchFamily="34" charset="-122"/>
                <a:cs typeface="Arial" pitchFamily="34" charset="-120"/>
              </a:rPr>
              <a:t>BRING THIS TO YOUR ORG</a:t>
            </a:r>
            <a:endParaRPr lang="en-US" sz="1400" dirty="0"/>
          </a:p>
        </p:txBody>
      </p:sp>
      <p:sp>
        <p:nvSpPr>
          <p:cNvPr id="3" name="Text 1"/>
          <p:cNvSpPr/>
          <p:nvPr/>
        </p:nvSpPr>
        <p:spPr>
          <a:xfrm>
            <a:off x="731520" y="914400"/>
            <a:ext cx="7315200" cy="548640"/>
          </a:xfrm>
          <a:prstGeom prst="rect">
            <a:avLst/>
          </a:prstGeom>
          <a:noFill/>
          <a:ln/>
        </p:spPr>
        <p:txBody>
          <a:bodyPr wrap="square" lIns="0" tIns="0" rIns="0" bIns="0" rtlCol="0" anchor="ctr"/>
          <a:lstStyle/>
          <a:p>
            <a:pPr indent="0" marL="0">
              <a:buNone/>
            </a:pPr>
            <a:r>
              <a:rPr lang="en-US" sz="2400" dirty="0">
                <a:solidFill>
                  <a:srgbClr val="F0FDFA"/>
                </a:solidFill>
                <a:latin typeface="Arial Black" pitchFamily="34" charset="0"/>
                <a:ea typeface="Arial Black" pitchFamily="34" charset="-122"/>
                <a:cs typeface="Arial Black" pitchFamily="34" charset="-120"/>
              </a:rPr>
              <a:t>The "How I AI" Showcase Model</a:t>
            </a:r>
            <a:endParaRPr lang="en-US" sz="2400" dirty="0"/>
          </a:p>
        </p:txBody>
      </p:sp>
      <p:sp>
        <p:nvSpPr>
          <p:cNvPr id="4" name="Shape 2"/>
          <p:cNvSpPr/>
          <p:nvPr/>
        </p:nvSpPr>
        <p:spPr>
          <a:xfrm>
            <a:off x="731520" y="1737360"/>
            <a:ext cx="7680960" cy="777240"/>
          </a:xfrm>
          <a:prstGeom prst="rect">
            <a:avLst/>
          </a:prstGeom>
          <a:solidFill>
            <a:srgbClr val="0F3D4A"/>
          </a:solidFill>
          <a:ln/>
          <a:effectLst>
            <a:outerShdw sx="100000" sy="100000" kx="0" ky="0" algn="bl" rotWithShape="0" blurRad="76200" dist="25400" dir="8100000">
              <a:srgbClr val="000000">
                <a:alpha val="20000"/>
              </a:srgbClr>
            </a:outerShdw>
          </a:effectLst>
        </p:spPr>
      </p:sp>
      <p:sp>
        <p:nvSpPr>
          <p:cNvPr id="5" name="Shape 3"/>
          <p:cNvSpPr/>
          <p:nvPr/>
        </p:nvSpPr>
        <p:spPr>
          <a:xfrm>
            <a:off x="731520" y="1737360"/>
            <a:ext cx="54864" cy="777240"/>
          </a:xfrm>
          <a:prstGeom prst="rect">
            <a:avLst/>
          </a:prstGeom>
          <a:solidFill>
            <a:srgbClr val="14B8A6"/>
          </a:solidFill>
          <a:ln/>
        </p:spPr>
      </p:sp>
      <p:sp>
        <p:nvSpPr>
          <p:cNvPr id="6" name="Text 4"/>
          <p:cNvSpPr/>
          <p:nvPr/>
        </p:nvSpPr>
        <p:spPr>
          <a:xfrm>
            <a:off x="1005840" y="1737360"/>
            <a:ext cx="3200400" cy="777240"/>
          </a:xfrm>
          <a:prstGeom prst="rect">
            <a:avLst/>
          </a:prstGeom>
          <a:noFill/>
          <a:ln/>
        </p:spPr>
        <p:txBody>
          <a:bodyPr wrap="square" lIns="0" tIns="0" rIns="0" bIns="0" rtlCol="0" anchor="ctr"/>
          <a:lstStyle/>
          <a:p>
            <a:pPr indent="0" marL="0">
              <a:buNone/>
            </a:pPr>
            <a:r>
              <a:rPr lang="en-US" sz="1400" b="1" dirty="0">
                <a:solidFill>
                  <a:srgbClr val="F0FDFA"/>
                </a:solidFill>
                <a:latin typeface="Arial" pitchFamily="34" charset="0"/>
                <a:ea typeface="Arial" pitchFamily="34" charset="-122"/>
                <a:cs typeface="Arial" pitchFamily="34" charset="-120"/>
              </a:rPr>
              <a:t>Run internal "How I AI" sessions</a:t>
            </a:r>
            <a:endParaRPr lang="en-US" sz="1400" dirty="0"/>
          </a:p>
        </p:txBody>
      </p:sp>
      <p:sp>
        <p:nvSpPr>
          <p:cNvPr id="7" name="Text 5"/>
          <p:cNvSpPr/>
          <p:nvPr/>
        </p:nvSpPr>
        <p:spPr>
          <a:xfrm>
            <a:off x="4297680" y="1737360"/>
            <a:ext cx="3931920" cy="777240"/>
          </a:xfrm>
          <a:prstGeom prst="rect">
            <a:avLst/>
          </a:prstGeom>
          <a:noFill/>
          <a:ln/>
        </p:spPr>
        <p:txBody>
          <a:bodyPr wrap="square" lIns="0" tIns="0" rIns="0" bIns="0" rtlCol="0" anchor="ctr"/>
          <a:lstStyle/>
          <a:p>
            <a:pPr indent="0" marL="0">
              <a:buNone/>
            </a:pPr>
            <a:r>
              <a:rPr lang="en-US" sz="1200" dirty="0">
                <a:solidFill>
                  <a:srgbClr val="B4E4D9"/>
                </a:solidFill>
                <a:latin typeface="Calibri" pitchFamily="34" charset="0"/>
                <a:ea typeface="Calibri" pitchFamily="34" charset="-122"/>
                <a:cs typeface="Calibri" pitchFamily="34" charset="-120"/>
              </a:rPr>
              <a:t>30-minute show-and-tells where team members demo their AI workflows</a:t>
            </a:r>
            <a:endParaRPr lang="en-US" sz="1200" dirty="0"/>
          </a:p>
        </p:txBody>
      </p:sp>
      <p:sp>
        <p:nvSpPr>
          <p:cNvPr id="8" name="Shape 6"/>
          <p:cNvSpPr/>
          <p:nvPr/>
        </p:nvSpPr>
        <p:spPr>
          <a:xfrm>
            <a:off x="731520" y="2651760"/>
            <a:ext cx="7680960" cy="777240"/>
          </a:xfrm>
          <a:prstGeom prst="rect">
            <a:avLst/>
          </a:prstGeom>
          <a:solidFill>
            <a:srgbClr val="0F3D4A"/>
          </a:solidFill>
          <a:ln/>
          <a:effectLst>
            <a:outerShdw sx="100000" sy="100000" kx="0" ky="0" algn="bl" rotWithShape="0" blurRad="76200" dist="25400" dir="8100000">
              <a:srgbClr val="000000">
                <a:alpha val="20000"/>
              </a:srgbClr>
            </a:outerShdw>
          </a:effectLst>
        </p:spPr>
      </p:sp>
      <p:sp>
        <p:nvSpPr>
          <p:cNvPr id="9" name="Shape 7"/>
          <p:cNvSpPr/>
          <p:nvPr/>
        </p:nvSpPr>
        <p:spPr>
          <a:xfrm>
            <a:off x="731520" y="2651760"/>
            <a:ext cx="54864" cy="777240"/>
          </a:xfrm>
          <a:prstGeom prst="rect">
            <a:avLst/>
          </a:prstGeom>
          <a:solidFill>
            <a:srgbClr val="14B8A6"/>
          </a:solidFill>
          <a:ln/>
        </p:spPr>
      </p:sp>
      <p:sp>
        <p:nvSpPr>
          <p:cNvPr id="10" name="Text 8"/>
          <p:cNvSpPr/>
          <p:nvPr/>
        </p:nvSpPr>
        <p:spPr>
          <a:xfrm>
            <a:off x="1005840" y="2651760"/>
            <a:ext cx="3200400" cy="777240"/>
          </a:xfrm>
          <a:prstGeom prst="rect">
            <a:avLst/>
          </a:prstGeom>
          <a:noFill/>
          <a:ln/>
        </p:spPr>
        <p:txBody>
          <a:bodyPr wrap="square" lIns="0" tIns="0" rIns="0" bIns="0" rtlCol="0" anchor="ctr"/>
          <a:lstStyle/>
          <a:p>
            <a:pPr indent="0" marL="0">
              <a:buNone/>
            </a:pPr>
            <a:r>
              <a:rPr lang="en-US" sz="1400" b="1" dirty="0">
                <a:solidFill>
                  <a:srgbClr val="F0FDFA"/>
                </a:solidFill>
                <a:latin typeface="Arial" pitchFamily="34" charset="0"/>
                <a:ea typeface="Arial" pitchFamily="34" charset="-122"/>
                <a:cs typeface="Arial" pitchFamily="34" charset="-120"/>
              </a:rPr>
              <a:t>Build a shared prompt library</a:t>
            </a:r>
            <a:endParaRPr lang="en-US" sz="1400" dirty="0"/>
          </a:p>
        </p:txBody>
      </p:sp>
      <p:sp>
        <p:nvSpPr>
          <p:cNvPr id="11" name="Text 9"/>
          <p:cNvSpPr/>
          <p:nvPr/>
        </p:nvSpPr>
        <p:spPr>
          <a:xfrm>
            <a:off x="4297680" y="2651760"/>
            <a:ext cx="3931920" cy="777240"/>
          </a:xfrm>
          <a:prstGeom prst="rect">
            <a:avLst/>
          </a:prstGeom>
          <a:noFill/>
          <a:ln/>
        </p:spPr>
        <p:txBody>
          <a:bodyPr wrap="square" lIns="0" tIns="0" rIns="0" bIns="0" rtlCol="0" anchor="ctr"/>
          <a:lstStyle/>
          <a:p>
            <a:pPr indent="0" marL="0">
              <a:buNone/>
            </a:pPr>
            <a:r>
              <a:rPr lang="en-US" sz="1200" dirty="0">
                <a:solidFill>
                  <a:srgbClr val="B4E4D9"/>
                </a:solidFill>
                <a:latin typeface="Calibri" pitchFamily="34" charset="0"/>
                <a:ea typeface="Calibri" pitchFamily="34" charset="-122"/>
                <a:cs typeface="Calibri" pitchFamily="34" charset="-120"/>
              </a:rPr>
              <a:t>DRY principle for prompts — reuse, iterate, improve collectively</a:t>
            </a:r>
            <a:endParaRPr lang="en-US" sz="1200" dirty="0"/>
          </a:p>
        </p:txBody>
      </p:sp>
      <p:sp>
        <p:nvSpPr>
          <p:cNvPr id="12" name="Shape 10"/>
          <p:cNvSpPr/>
          <p:nvPr/>
        </p:nvSpPr>
        <p:spPr>
          <a:xfrm>
            <a:off x="731520" y="3566160"/>
            <a:ext cx="7680960" cy="777240"/>
          </a:xfrm>
          <a:prstGeom prst="rect">
            <a:avLst/>
          </a:prstGeom>
          <a:solidFill>
            <a:srgbClr val="0F3D4A"/>
          </a:solidFill>
          <a:ln/>
          <a:effectLst>
            <a:outerShdw sx="100000" sy="100000" kx="0" ky="0" algn="bl" rotWithShape="0" blurRad="76200" dist="25400" dir="8100000">
              <a:srgbClr val="000000">
                <a:alpha val="20000"/>
              </a:srgbClr>
            </a:outerShdw>
          </a:effectLst>
        </p:spPr>
      </p:sp>
      <p:sp>
        <p:nvSpPr>
          <p:cNvPr id="13" name="Shape 11"/>
          <p:cNvSpPr/>
          <p:nvPr/>
        </p:nvSpPr>
        <p:spPr>
          <a:xfrm>
            <a:off x="731520" y="3566160"/>
            <a:ext cx="54864" cy="777240"/>
          </a:xfrm>
          <a:prstGeom prst="rect">
            <a:avLst/>
          </a:prstGeom>
          <a:solidFill>
            <a:srgbClr val="14B8A6"/>
          </a:solidFill>
          <a:ln/>
        </p:spPr>
      </p:sp>
      <p:sp>
        <p:nvSpPr>
          <p:cNvPr id="14" name="Text 12"/>
          <p:cNvSpPr/>
          <p:nvPr/>
        </p:nvSpPr>
        <p:spPr>
          <a:xfrm>
            <a:off x="1005840" y="3566160"/>
            <a:ext cx="3200400" cy="777240"/>
          </a:xfrm>
          <a:prstGeom prst="rect">
            <a:avLst/>
          </a:prstGeom>
          <a:noFill/>
          <a:ln/>
        </p:spPr>
        <p:txBody>
          <a:bodyPr wrap="square" lIns="0" tIns="0" rIns="0" bIns="0" rtlCol="0" anchor="ctr"/>
          <a:lstStyle/>
          <a:p>
            <a:pPr indent="0" marL="0">
              <a:buNone/>
            </a:pPr>
            <a:r>
              <a:rPr lang="en-US" sz="1400" b="1" dirty="0">
                <a:solidFill>
                  <a:srgbClr val="F0FDFA"/>
                </a:solidFill>
                <a:latin typeface="Arial" pitchFamily="34" charset="0"/>
                <a:ea typeface="Arial" pitchFamily="34" charset="-122"/>
                <a:cs typeface="Arial" pitchFamily="34" charset="-120"/>
              </a:rPr>
              <a:t>Measure before/after metrics</a:t>
            </a:r>
            <a:endParaRPr lang="en-US" sz="1400" dirty="0"/>
          </a:p>
        </p:txBody>
      </p:sp>
      <p:sp>
        <p:nvSpPr>
          <p:cNvPr id="15" name="Text 13"/>
          <p:cNvSpPr/>
          <p:nvPr/>
        </p:nvSpPr>
        <p:spPr>
          <a:xfrm>
            <a:off x="4297680" y="3566160"/>
            <a:ext cx="3931920" cy="777240"/>
          </a:xfrm>
          <a:prstGeom prst="rect">
            <a:avLst/>
          </a:prstGeom>
          <a:noFill/>
          <a:ln/>
        </p:spPr>
        <p:txBody>
          <a:bodyPr wrap="square" lIns="0" tIns="0" rIns="0" bIns="0" rtlCol="0" anchor="ctr"/>
          <a:lstStyle/>
          <a:p>
            <a:pPr indent="0" marL="0">
              <a:buNone/>
            </a:pPr>
            <a:r>
              <a:rPr lang="en-US" sz="1200" dirty="0">
                <a:solidFill>
                  <a:srgbClr val="B4E4D9"/>
                </a:solidFill>
                <a:latin typeface="Calibri" pitchFamily="34" charset="0"/>
                <a:ea typeface="Calibri" pitchFamily="34" charset="-122"/>
                <a:cs typeface="Calibri" pitchFamily="34" charset="-120"/>
              </a:rPr>
              <a:t>Time saved, errors reduced, satisfaction improved — track and share</a:t>
            </a:r>
            <a:endParaRPr lang="en-US" sz="1200" dirty="0"/>
          </a:p>
        </p:txBody>
      </p:sp>
      <p:sp>
        <p:nvSpPr>
          <p:cNvPr id="16" name="Shape 14"/>
          <p:cNvSpPr/>
          <p:nvPr/>
        </p:nvSpPr>
        <p:spPr>
          <a:xfrm>
            <a:off x="0" y="4800600"/>
            <a:ext cx="9144000" cy="342900"/>
          </a:xfrm>
          <a:prstGeom prst="rect">
            <a:avLst/>
          </a:prstGeom>
          <a:solidFill>
            <a:srgbClr val="14B8A6"/>
          </a:solidFill>
          <a:ln/>
        </p:spPr>
      </p:sp>
      <p:sp>
        <p:nvSpPr>
          <p:cNvPr id="17" name="Text 15"/>
          <p:cNvSpPr/>
          <p:nvPr/>
        </p:nvSpPr>
        <p:spPr>
          <a:xfrm>
            <a:off x="457200" y="4800600"/>
            <a:ext cx="8229600" cy="342900"/>
          </a:xfrm>
          <a:prstGeom prst="rect">
            <a:avLst/>
          </a:prstGeom>
          <a:noFill/>
          <a:ln/>
        </p:spPr>
        <p:txBody>
          <a:bodyPr wrap="square" lIns="0" tIns="0" rIns="0" bIns="0" rtlCol="0" anchor="ctr"/>
          <a:lstStyle/>
          <a:p>
            <a:pPr algn="l" indent="0" marL="0">
              <a:buNone/>
            </a:pPr>
            <a:r>
              <a:rPr lang="en-US" sz="900" b="1" dirty="0">
                <a:solidFill>
                  <a:srgbClr val="081E25"/>
                </a:solidFill>
                <a:latin typeface="Calibri" pitchFamily="34" charset="0"/>
                <a:ea typeface="Calibri" pitchFamily="34" charset="-122"/>
                <a:cs typeface="Calibri" pitchFamily="34" charset="-120"/>
              </a:rPr>
              <a:t>TAKEAWAY FRAMEWORK</a:t>
            </a:r>
            <a:endParaRPr lang="en-US" sz="900" dirty="0"/>
          </a:p>
        </p:txBody>
      </p:sp>
      <p:sp>
        <p:nvSpPr>
          <p:cNvPr id="18" name="Text 16"/>
          <p:cNvSpPr/>
          <p:nvPr/>
        </p:nvSpPr>
        <p:spPr>
          <a:xfrm>
            <a:off x="8046720" y="4800600"/>
            <a:ext cx="914400" cy="342900"/>
          </a:xfrm>
          <a:prstGeom prst="rect">
            <a:avLst/>
          </a:prstGeom>
          <a:noFill/>
          <a:ln/>
        </p:spPr>
        <p:txBody>
          <a:bodyPr wrap="square" lIns="0" tIns="0" rIns="0" bIns="0" rtlCol="0" anchor="ctr"/>
          <a:lstStyle/>
          <a:p>
            <a:pPr algn="r" indent="0" marL="0">
              <a:buNone/>
            </a:pPr>
            <a:r>
              <a:rPr lang="en-US" sz="800" dirty="0">
                <a:solidFill>
                  <a:srgbClr val="081E25"/>
                </a:solidFill>
                <a:latin typeface="Calibri" pitchFamily="34" charset="0"/>
                <a:ea typeface="Calibri" pitchFamily="34" charset="-122"/>
                <a:cs typeface="Calibri" pitchFamily="34" charset="-120"/>
              </a:rPr>
              <a:t>27 / 31</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2E38"/>
        </a:solidFill>
      </p:bgPr>
    </p:bg>
    <p:spTree>
      <p:nvGrpSpPr>
        <p:cNvPr id="1" name=""/>
        <p:cNvGrpSpPr/>
        <p:nvPr/>
      </p:nvGrpSpPr>
      <p:grpSpPr>
        <a:xfrm>
          <a:off x="0" y="0"/>
          <a:ext cx="0" cy="0"/>
          <a:chOff x="0" y="0"/>
          <a:chExt cx="0" cy="0"/>
        </a:xfrm>
      </p:grpSpPr>
      <p:sp>
        <p:nvSpPr>
          <p:cNvPr id="2" name="Text 0"/>
          <p:cNvSpPr/>
          <p:nvPr/>
        </p:nvSpPr>
        <p:spPr>
          <a:xfrm>
            <a:off x="731520" y="365760"/>
            <a:ext cx="3657600" cy="365760"/>
          </a:xfrm>
          <a:prstGeom prst="rect">
            <a:avLst/>
          </a:prstGeom>
          <a:noFill/>
          <a:ln/>
        </p:spPr>
        <p:txBody>
          <a:bodyPr wrap="square" lIns="0" tIns="0" rIns="0" bIns="0" rtlCol="0" anchor="ctr"/>
          <a:lstStyle/>
          <a:p>
            <a:pPr indent="0" marL="0">
              <a:buNone/>
            </a:pPr>
            <a:r>
              <a:rPr lang="en-US" sz="1400" b="1" spc="300" kern="0" dirty="0">
                <a:solidFill>
                  <a:srgbClr val="14B8A6"/>
                </a:solidFill>
                <a:latin typeface="Arial" pitchFamily="34" charset="0"/>
                <a:ea typeface="Arial" pitchFamily="34" charset="-122"/>
                <a:cs typeface="Arial" pitchFamily="34" charset="-120"/>
              </a:rPr>
              <a:t>RESOURCES</a:t>
            </a:r>
            <a:endParaRPr lang="en-US" sz="1400" dirty="0"/>
          </a:p>
        </p:txBody>
      </p:sp>
      <p:sp>
        <p:nvSpPr>
          <p:cNvPr id="3" name="Text 1"/>
          <p:cNvSpPr/>
          <p:nvPr/>
        </p:nvSpPr>
        <p:spPr>
          <a:xfrm>
            <a:off x="731520" y="822960"/>
            <a:ext cx="7315200" cy="457200"/>
          </a:xfrm>
          <a:prstGeom prst="rect">
            <a:avLst/>
          </a:prstGeom>
          <a:noFill/>
          <a:ln/>
        </p:spPr>
        <p:txBody>
          <a:bodyPr wrap="square" lIns="0" tIns="0" rIns="0" bIns="0" rtlCol="0" anchor="ctr"/>
          <a:lstStyle/>
          <a:p>
            <a:pPr indent="0" marL="0">
              <a:buNone/>
            </a:pPr>
            <a:r>
              <a:rPr lang="en-US" sz="2400" dirty="0">
                <a:solidFill>
                  <a:srgbClr val="F0FDFA"/>
                </a:solidFill>
                <a:latin typeface="Arial Black" pitchFamily="34" charset="0"/>
                <a:ea typeface="Arial Black" pitchFamily="34" charset="-122"/>
                <a:cs typeface="Arial Black" pitchFamily="34" charset="-120"/>
              </a:rPr>
              <a:t>Everything from today — free.</a:t>
            </a:r>
            <a:endParaRPr lang="en-US" sz="2400" dirty="0"/>
          </a:p>
        </p:txBody>
      </p:sp>
      <p:sp>
        <p:nvSpPr>
          <p:cNvPr id="4" name="Shape 2"/>
          <p:cNvSpPr/>
          <p:nvPr/>
        </p:nvSpPr>
        <p:spPr>
          <a:xfrm>
            <a:off x="914400" y="1554480"/>
            <a:ext cx="3200400" cy="2743200"/>
          </a:xfrm>
          <a:prstGeom prst="rect">
            <a:avLst/>
          </a:prstGeom>
          <a:solidFill>
            <a:srgbClr val="0F3D4A"/>
          </a:solidFill>
          <a:ln/>
          <a:effectLst>
            <a:outerShdw sx="100000" sy="100000" kx="0" ky="0" algn="bl" rotWithShape="0" blurRad="76200" dist="25400" dir="8100000">
              <a:srgbClr val="000000">
                <a:alpha val="20000"/>
              </a:srgbClr>
            </a:outerShdw>
          </a:effectLst>
        </p:spPr>
      </p:sp>
      <p:sp>
        <p:nvSpPr>
          <p:cNvPr id="5" name="Shape 3"/>
          <p:cNvSpPr/>
          <p:nvPr/>
        </p:nvSpPr>
        <p:spPr>
          <a:xfrm>
            <a:off x="1417320" y="1691640"/>
            <a:ext cx="2103120" cy="2103120"/>
          </a:xfrm>
          <a:prstGeom prst="rect">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1463040" y="1737360"/>
            <a:ext cx="2011680" cy="2011680"/>
          </a:xfrm>
          <a:prstGeom prst="rect">
            <a:avLst/>
          </a:prstGeom>
        </p:spPr>
      </p:pic>
      <p:pic>
        <p:nvPicPr>
          <p:cNvPr id="7" name="Image 1" descr="preencoded.png">    </p:cNvPr>
          <p:cNvPicPr>
            <a:picLocks noChangeAspect="1"/>
          </p:cNvPicPr>
          <p:nvPr/>
        </p:nvPicPr>
        <p:blipFill>
          <a:blip r:embed="rId2"/>
          <a:stretch>
            <a:fillRect/>
          </a:stretch>
        </p:blipFill>
        <p:spPr>
          <a:xfrm>
            <a:off x="4572000" y="1737360"/>
            <a:ext cx="228600" cy="228600"/>
          </a:xfrm>
          <a:prstGeom prst="rect">
            <a:avLst/>
          </a:prstGeom>
        </p:spPr>
      </p:pic>
      <p:sp>
        <p:nvSpPr>
          <p:cNvPr id="8" name="Text 4"/>
          <p:cNvSpPr/>
          <p:nvPr/>
        </p:nvSpPr>
        <p:spPr>
          <a:xfrm>
            <a:off x="4937760" y="1645920"/>
            <a:ext cx="3657600" cy="411480"/>
          </a:xfrm>
          <a:prstGeom prst="rect">
            <a:avLst/>
          </a:prstGeom>
          <a:noFill/>
          <a:ln/>
        </p:spPr>
        <p:txBody>
          <a:bodyPr wrap="square" lIns="0" tIns="0" rIns="0" bIns="0" rtlCol="0" anchor="ctr"/>
          <a:lstStyle/>
          <a:p>
            <a:pPr indent="0" marL="0">
              <a:buNone/>
            </a:pPr>
            <a:r>
              <a:rPr lang="en-US" sz="1300" dirty="0">
                <a:solidFill>
                  <a:srgbClr val="B4E4D9"/>
                </a:solidFill>
                <a:latin typeface="Calibri" pitchFamily="34" charset="0"/>
                <a:ea typeface="Calibri" pitchFamily="34" charset="-122"/>
                <a:cs typeface="Calibri" pitchFamily="34" charset="-120"/>
              </a:rPr>
              <a:t>Prompt templates from all 3 deep dives</a:t>
            </a:r>
            <a:endParaRPr lang="en-US" sz="1300" dirty="0"/>
          </a:p>
        </p:txBody>
      </p:sp>
      <p:pic>
        <p:nvPicPr>
          <p:cNvPr id="9" name="Image 2" descr="preencoded.png">    </p:cNvPr>
          <p:cNvPicPr>
            <a:picLocks noChangeAspect="1"/>
          </p:cNvPicPr>
          <p:nvPr/>
        </p:nvPicPr>
        <p:blipFill>
          <a:blip r:embed="rId3"/>
          <a:stretch>
            <a:fillRect/>
          </a:stretch>
        </p:blipFill>
        <p:spPr>
          <a:xfrm>
            <a:off x="4572000" y="2240280"/>
            <a:ext cx="228600" cy="228600"/>
          </a:xfrm>
          <a:prstGeom prst="rect">
            <a:avLst/>
          </a:prstGeom>
        </p:spPr>
      </p:pic>
      <p:sp>
        <p:nvSpPr>
          <p:cNvPr id="10" name="Text 5"/>
          <p:cNvSpPr/>
          <p:nvPr/>
        </p:nvSpPr>
        <p:spPr>
          <a:xfrm>
            <a:off x="4937760" y="2148840"/>
            <a:ext cx="3657600" cy="411480"/>
          </a:xfrm>
          <a:prstGeom prst="rect">
            <a:avLst/>
          </a:prstGeom>
          <a:noFill/>
          <a:ln/>
        </p:spPr>
        <p:txBody>
          <a:bodyPr wrap="square" lIns="0" tIns="0" rIns="0" bIns="0" rtlCol="0" anchor="ctr"/>
          <a:lstStyle/>
          <a:p>
            <a:pPr indent="0" marL="0">
              <a:buNone/>
            </a:pPr>
            <a:r>
              <a:rPr lang="en-US" sz="1300" dirty="0">
                <a:solidFill>
                  <a:srgbClr val="B4E4D9"/>
                </a:solidFill>
                <a:latin typeface="Calibri" pitchFamily="34" charset="0"/>
                <a:ea typeface="Calibri" pitchFamily="34" charset="-122"/>
                <a:cs typeface="Calibri" pitchFamily="34" charset="-120"/>
              </a:rPr>
              <a:t>Custom GPT configuration walkthrough</a:t>
            </a:r>
            <a:endParaRPr lang="en-US" sz="1300" dirty="0"/>
          </a:p>
        </p:txBody>
      </p:sp>
      <p:pic>
        <p:nvPicPr>
          <p:cNvPr id="11" name="Image 3" descr="preencoded.png">    </p:cNvPr>
          <p:cNvPicPr>
            <a:picLocks noChangeAspect="1"/>
          </p:cNvPicPr>
          <p:nvPr/>
        </p:nvPicPr>
        <p:blipFill>
          <a:blip r:embed="rId4"/>
          <a:stretch>
            <a:fillRect/>
          </a:stretch>
        </p:blipFill>
        <p:spPr>
          <a:xfrm>
            <a:off x="4572000" y="2743200"/>
            <a:ext cx="228600" cy="228600"/>
          </a:xfrm>
          <a:prstGeom prst="rect">
            <a:avLst/>
          </a:prstGeom>
        </p:spPr>
      </p:pic>
      <p:sp>
        <p:nvSpPr>
          <p:cNvPr id="12" name="Text 6"/>
          <p:cNvSpPr/>
          <p:nvPr/>
        </p:nvSpPr>
        <p:spPr>
          <a:xfrm>
            <a:off x="4937760" y="2651760"/>
            <a:ext cx="3657600" cy="411480"/>
          </a:xfrm>
          <a:prstGeom prst="rect">
            <a:avLst/>
          </a:prstGeom>
          <a:noFill/>
          <a:ln/>
        </p:spPr>
        <p:txBody>
          <a:bodyPr wrap="square" lIns="0" tIns="0" rIns="0" bIns="0" rtlCol="0" anchor="ctr"/>
          <a:lstStyle/>
          <a:p>
            <a:pPr indent="0" marL="0">
              <a:buNone/>
            </a:pPr>
            <a:r>
              <a:rPr lang="en-US" sz="1300" dirty="0">
                <a:solidFill>
                  <a:srgbClr val="B4E4D9"/>
                </a:solidFill>
                <a:latin typeface="Calibri" pitchFamily="34" charset="0"/>
                <a:ea typeface="Calibri" pitchFamily="34" charset="-122"/>
                <a:cs typeface="Calibri" pitchFamily="34" charset="-120"/>
              </a:rPr>
              <a:t>4 Workflow Pattern cheat sheet</a:t>
            </a:r>
            <a:endParaRPr lang="en-US" sz="1300" dirty="0"/>
          </a:p>
        </p:txBody>
      </p:sp>
      <p:pic>
        <p:nvPicPr>
          <p:cNvPr id="13" name="Image 4" descr="preencoded.png">    </p:cNvPr>
          <p:cNvPicPr>
            <a:picLocks noChangeAspect="1"/>
          </p:cNvPicPr>
          <p:nvPr/>
        </p:nvPicPr>
        <p:blipFill>
          <a:blip r:embed="rId5"/>
          <a:stretch>
            <a:fillRect/>
          </a:stretch>
        </p:blipFill>
        <p:spPr>
          <a:xfrm>
            <a:off x="4572000" y="3246120"/>
            <a:ext cx="228600" cy="228600"/>
          </a:xfrm>
          <a:prstGeom prst="rect">
            <a:avLst/>
          </a:prstGeom>
        </p:spPr>
      </p:pic>
      <p:sp>
        <p:nvSpPr>
          <p:cNvPr id="14" name="Text 7"/>
          <p:cNvSpPr/>
          <p:nvPr/>
        </p:nvSpPr>
        <p:spPr>
          <a:xfrm>
            <a:off x="4937760" y="3154680"/>
            <a:ext cx="3657600" cy="411480"/>
          </a:xfrm>
          <a:prstGeom prst="rect">
            <a:avLst/>
          </a:prstGeom>
          <a:noFill/>
          <a:ln/>
        </p:spPr>
        <p:txBody>
          <a:bodyPr wrap="square" lIns="0" tIns="0" rIns="0" bIns="0" rtlCol="0" anchor="ctr"/>
          <a:lstStyle/>
          <a:p>
            <a:pPr indent="0" marL="0">
              <a:buNone/>
            </a:pPr>
            <a:r>
              <a:rPr lang="en-US" sz="1300" dirty="0">
                <a:solidFill>
                  <a:srgbClr val="B4E4D9"/>
                </a:solidFill>
                <a:latin typeface="Calibri" pitchFamily="34" charset="0"/>
                <a:ea typeface="Calibri" pitchFamily="34" charset="-122"/>
                <a:cs typeface="Calibri" pitchFamily="34" charset="-120"/>
              </a:rPr>
              <a:t>Persona Analyzer tool access</a:t>
            </a:r>
            <a:endParaRPr lang="en-US" sz="1300" dirty="0"/>
          </a:p>
        </p:txBody>
      </p:sp>
      <p:pic>
        <p:nvPicPr>
          <p:cNvPr id="15" name="Image 5" descr="preencoded.png">    </p:cNvPr>
          <p:cNvPicPr>
            <a:picLocks noChangeAspect="1"/>
          </p:cNvPicPr>
          <p:nvPr/>
        </p:nvPicPr>
        <p:blipFill>
          <a:blip r:embed="rId6"/>
          <a:stretch>
            <a:fillRect/>
          </a:stretch>
        </p:blipFill>
        <p:spPr>
          <a:xfrm>
            <a:off x="4572000" y="3749040"/>
            <a:ext cx="228600" cy="228600"/>
          </a:xfrm>
          <a:prstGeom prst="rect">
            <a:avLst/>
          </a:prstGeom>
        </p:spPr>
      </p:pic>
      <p:sp>
        <p:nvSpPr>
          <p:cNvPr id="16" name="Text 8"/>
          <p:cNvSpPr/>
          <p:nvPr/>
        </p:nvSpPr>
        <p:spPr>
          <a:xfrm>
            <a:off x="4937760" y="3657600"/>
            <a:ext cx="3657600" cy="411480"/>
          </a:xfrm>
          <a:prstGeom prst="rect">
            <a:avLst/>
          </a:prstGeom>
          <a:noFill/>
          <a:ln/>
        </p:spPr>
        <p:txBody>
          <a:bodyPr wrap="square" lIns="0" tIns="0" rIns="0" bIns="0" rtlCol="0" anchor="ctr"/>
          <a:lstStyle/>
          <a:p>
            <a:pPr indent="0" marL="0">
              <a:buNone/>
            </a:pPr>
            <a:r>
              <a:rPr lang="en-US" sz="1300" dirty="0">
                <a:solidFill>
                  <a:srgbClr val="B4E4D9"/>
                </a:solidFill>
                <a:latin typeface="Calibri" pitchFamily="34" charset="0"/>
                <a:ea typeface="Calibri" pitchFamily="34" charset="-122"/>
                <a:cs typeface="Calibri" pitchFamily="34" charset="-120"/>
              </a:rPr>
              <a:t>"How I AI" internal showcase guide</a:t>
            </a:r>
            <a:endParaRPr lang="en-US" sz="1300" dirty="0"/>
          </a:p>
        </p:txBody>
      </p:sp>
      <p:sp>
        <p:nvSpPr>
          <p:cNvPr id="17" name="Shape 9"/>
          <p:cNvSpPr/>
          <p:nvPr/>
        </p:nvSpPr>
        <p:spPr>
          <a:xfrm>
            <a:off x="0" y="4800600"/>
            <a:ext cx="9144000" cy="342900"/>
          </a:xfrm>
          <a:prstGeom prst="rect">
            <a:avLst/>
          </a:prstGeom>
          <a:solidFill>
            <a:srgbClr val="14B8A6"/>
          </a:solidFill>
          <a:ln/>
        </p:spPr>
      </p:sp>
      <p:sp>
        <p:nvSpPr>
          <p:cNvPr id="18" name="Text 10"/>
          <p:cNvSpPr/>
          <p:nvPr/>
        </p:nvSpPr>
        <p:spPr>
          <a:xfrm>
            <a:off x="457200" y="4800600"/>
            <a:ext cx="8229600" cy="342900"/>
          </a:xfrm>
          <a:prstGeom prst="rect">
            <a:avLst/>
          </a:prstGeom>
          <a:noFill/>
          <a:ln/>
        </p:spPr>
        <p:txBody>
          <a:bodyPr wrap="square" lIns="0" tIns="0" rIns="0" bIns="0" rtlCol="0" anchor="ctr"/>
          <a:lstStyle/>
          <a:p>
            <a:pPr algn="l" indent="0" marL="0">
              <a:buNone/>
            </a:pPr>
            <a:r>
              <a:rPr lang="en-US" sz="900" b="1" dirty="0">
                <a:solidFill>
                  <a:srgbClr val="081E25"/>
                </a:solidFill>
                <a:latin typeface="Calibri" pitchFamily="34" charset="0"/>
                <a:ea typeface="Calibri" pitchFamily="34" charset="-122"/>
                <a:cs typeface="Calibri" pitchFamily="34" charset="-120"/>
              </a:rPr>
              <a:t>RESOURCES</a:t>
            </a:r>
            <a:endParaRPr lang="en-US" sz="900" dirty="0"/>
          </a:p>
        </p:txBody>
      </p:sp>
      <p:sp>
        <p:nvSpPr>
          <p:cNvPr id="19" name="Text 11"/>
          <p:cNvSpPr/>
          <p:nvPr/>
        </p:nvSpPr>
        <p:spPr>
          <a:xfrm>
            <a:off x="8046720" y="4800600"/>
            <a:ext cx="914400" cy="342900"/>
          </a:xfrm>
          <a:prstGeom prst="rect">
            <a:avLst/>
          </a:prstGeom>
          <a:noFill/>
          <a:ln/>
        </p:spPr>
        <p:txBody>
          <a:bodyPr wrap="square" lIns="0" tIns="0" rIns="0" bIns="0" rtlCol="0" anchor="ctr"/>
          <a:lstStyle/>
          <a:p>
            <a:pPr algn="r" indent="0" marL="0">
              <a:buNone/>
            </a:pPr>
            <a:r>
              <a:rPr lang="en-US" sz="800" dirty="0">
                <a:solidFill>
                  <a:srgbClr val="081E25"/>
                </a:solidFill>
                <a:latin typeface="Calibri" pitchFamily="34" charset="0"/>
                <a:ea typeface="Calibri" pitchFamily="34" charset="-122"/>
                <a:cs typeface="Calibri" pitchFamily="34" charset="-120"/>
              </a:rPr>
              <a:t>28 / 31</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81E25"/>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59E0B"/>
          </a:solidFill>
          <a:ln/>
        </p:spPr>
      </p:sp>
      <p:sp>
        <p:nvSpPr>
          <p:cNvPr id="3" name="Text 1"/>
          <p:cNvSpPr/>
          <p:nvPr/>
        </p:nvSpPr>
        <p:spPr>
          <a:xfrm>
            <a:off x="731520" y="1097280"/>
            <a:ext cx="914400" cy="1097280"/>
          </a:xfrm>
          <a:prstGeom prst="rect">
            <a:avLst/>
          </a:prstGeom>
          <a:noFill/>
          <a:ln/>
        </p:spPr>
        <p:txBody>
          <a:bodyPr wrap="square" lIns="0" tIns="0" rIns="0" bIns="0" rtlCol="0" anchor="ctr"/>
          <a:lstStyle/>
          <a:p>
            <a:pPr indent="0" marL="0">
              <a:buNone/>
            </a:pPr>
            <a:r>
              <a:rPr lang="en-US" sz="12000" dirty="0">
                <a:solidFill>
                  <a:srgbClr val="F59E0B"/>
                </a:solidFill>
                <a:latin typeface="Georgia" pitchFamily="34" charset="0"/>
                <a:ea typeface="Georgia" pitchFamily="34" charset="-122"/>
                <a:cs typeface="Georgia" pitchFamily="34" charset="-120"/>
              </a:rPr>
              <a:t>"</a:t>
            </a:r>
            <a:endParaRPr lang="en-US" sz="12000" dirty="0"/>
          </a:p>
        </p:txBody>
      </p:sp>
      <p:sp>
        <p:nvSpPr>
          <p:cNvPr id="4" name="Text 2"/>
          <p:cNvSpPr/>
          <p:nvPr/>
        </p:nvSpPr>
        <p:spPr>
          <a:xfrm>
            <a:off x="1371600" y="1463040"/>
            <a:ext cx="6858000" cy="1097280"/>
          </a:xfrm>
          <a:prstGeom prst="rect">
            <a:avLst/>
          </a:prstGeom>
          <a:noFill/>
          <a:ln/>
        </p:spPr>
        <p:txBody>
          <a:bodyPr wrap="square" lIns="0" tIns="0" rIns="0" bIns="0" rtlCol="0" anchor="ctr"/>
          <a:lstStyle/>
          <a:p>
            <a:pPr indent="0" marL="0">
              <a:buNone/>
            </a:pPr>
            <a:r>
              <a:rPr lang="en-US" sz="3000" dirty="0">
                <a:solidFill>
                  <a:srgbClr val="F0FDFA"/>
                </a:solidFill>
                <a:latin typeface="Arial Black" pitchFamily="34" charset="0"/>
                <a:ea typeface="Arial Black" pitchFamily="34" charset="-122"/>
                <a:cs typeface="Arial Black" pitchFamily="34" charset="-120"/>
              </a:rPr>
              <a:t>The best AI workflow is the one</a:t>
            </a:r>
            <a:endParaRPr lang="en-US" sz="3000" dirty="0"/>
          </a:p>
          <a:p>
            <a:pPr indent="0" marL="0">
              <a:buNone/>
            </a:pPr>
            <a:r>
              <a:rPr lang="en-US" sz="3000" dirty="0">
                <a:solidFill>
                  <a:srgbClr val="F0FDFA"/>
                </a:solidFill>
                <a:latin typeface="Arial Black" pitchFamily="34" charset="0"/>
                <a:ea typeface="Arial Black" pitchFamily="34" charset="-122"/>
                <a:cs typeface="Arial Black" pitchFamily="34" charset="-120"/>
              </a:rPr>
              <a:t>you'll actually use tomorrow.</a:t>
            </a:r>
            <a:endParaRPr lang="en-US" sz="3000" dirty="0"/>
          </a:p>
        </p:txBody>
      </p:sp>
      <p:sp>
        <p:nvSpPr>
          <p:cNvPr id="5" name="Shape 3"/>
          <p:cNvSpPr/>
          <p:nvPr/>
        </p:nvSpPr>
        <p:spPr>
          <a:xfrm>
            <a:off x="1371600" y="2926080"/>
            <a:ext cx="4572000" cy="36576"/>
          </a:xfrm>
          <a:prstGeom prst="rect">
            <a:avLst/>
          </a:prstGeom>
          <a:solidFill>
            <a:srgbClr val="F59E0B"/>
          </a:solidFill>
          <a:ln/>
        </p:spPr>
      </p:sp>
      <p:sp>
        <p:nvSpPr>
          <p:cNvPr id="6" name="Text 4"/>
          <p:cNvSpPr/>
          <p:nvPr/>
        </p:nvSpPr>
        <p:spPr>
          <a:xfrm>
            <a:off x="1371600" y="3291840"/>
            <a:ext cx="6858000" cy="1097280"/>
          </a:xfrm>
          <a:prstGeom prst="rect">
            <a:avLst/>
          </a:prstGeom>
          <a:noFill/>
          <a:ln/>
        </p:spPr>
        <p:txBody>
          <a:bodyPr wrap="square" lIns="0" tIns="0" rIns="0" bIns="0" rtlCol="0" anchor="ctr"/>
          <a:lstStyle/>
          <a:p>
            <a:pPr indent="0" marL="0">
              <a:buNone/>
            </a:pPr>
            <a:r>
              <a:rPr lang="en-US" sz="2400" dirty="0">
                <a:solidFill>
                  <a:srgbClr val="5EEAD4"/>
                </a:solidFill>
                <a:latin typeface="Calibri" pitchFamily="34" charset="0"/>
                <a:ea typeface="Calibri" pitchFamily="34" charset="-122"/>
                <a:cs typeface="Calibri" pitchFamily="34" charset="-120"/>
              </a:rPr>
              <a:t>Start with one boring task.</a:t>
            </a:r>
            <a:endParaRPr lang="en-US" sz="2400" dirty="0"/>
          </a:p>
          <a:p>
            <a:pPr indent="0" marL="0">
              <a:buNone/>
            </a:pPr>
            <a:r>
              <a:rPr lang="en-US" sz="2400" dirty="0">
                <a:solidFill>
                  <a:srgbClr val="5EEAD4"/>
                </a:solidFill>
                <a:latin typeface="Calibri" pitchFamily="34" charset="0"/>
                <a:ea typeface="Calibri" pitchFamily="34" charset="-122"/>
                <a:cs typeface="Calibri" pitchFamily="34" charset="-120"/>
              </a:rPr>
              <a:t>Make it less boring.</a:t>
            </a:r>
            <a:endParaRPr lang="en-US" sz="2400" dirty="0"/>
          </a:p>
          <a:p>
            <a:pPr indent="0" marL="0">
              <a:buNone/>
            </a:pPr>
            <a:r>
              <a:rPr lang="en-US" sz="2400" dirty="0">
                <a:solidFill>
                  <a:srgbClr val="5EEAD4"/>
                </a:solidFill>
                <a:latin typeface="Calibri" pitchFamily="34" charset="0"/>
                <a:ea typeface="Calibri" pitchFamily="34" charset="-122"/>
                <a:cs typeface="Calibri" pitchFamily="34" charset="-120"/>
              </a:rPr>
              <a:t>Repeat.</a:t>
            </a:r>
            <a:endParaRPr lang="en-US" sz="2400" dirty="0"/>
          </a:p>
        </p:txBody>
      </p:sp>
      <p:sp>
        <p:nvSpPr>
          <p:cNvPr id="7" name="Shape 5"/>
          <p:cNvSpPr/>
          <p:nvPr/>
        </p:nvSpPr>
        <p:spPr>
          <a:xfrm>
            <a:off x="0" y="5070348"/>
            <a:ext cx="9144000" cy="73152"/>
          </a:xfrm>
          <a:prstGeom prst="rect">
            <a:avLst/>
          </a:prstGeom>
          <a:solidFill>
            <a:srgbClr val="F59E0B"/>
          </a:solidFill>
          <a:ln/>
        </p:spPr>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2E38"/>
        </a:solidFill>
      </p:bgPr>
    </p:bg>
    <p:spTree>
      <p:nvGrpSpPr>
        <p:cNvPr id="1" name=""/>
        <p:cNvGrpSpPr/>
        <p:nvPr/>
      </p:nvGrpSpPr>
      <p:grpSpPr>
        <a:xfrm>
          <a:off x="0" y="0"/>
          <a:ext cx="0" cy="0"/>
          <a:chOff x="0" y="0"/>
          <a:chExt cx="0" cy="0"/>
        </a:xfrm>
      </p:grpSpPr>
      <p:sp>
        <p:nvSpPr>
          <p:cNvPr id="2" name="Text 0"/>
          <p:cNvSpPr/>
          <p:nvPr/>
        </p:nvSpPr>
        <p:spPr>
          <a:xfrm>
            <a:off x="0" y="1371600"/>
            <a:ext cx="9144000" cy="1097280"/>
          </a:xfrm>
          <a:prstGeom prst="rect">
            <a:avLst/>
          </a:prstGeom>
          <a:noFill/>
          <a:ln/>
        </p:spPr>
        <p:txBody>
          <a:bodyPr wrap="square" lIns="0" tIns="0" rIns="0" bIns="0" rtlCol="0" anchor="ctr"/>
          <a:lstStyle/>
          <a:p>
            <a:pPr algn="ctr" indent="0" marL="0">
              <a:buNone/>
            </a:pPr>
            <a:r>
              <a:rPr lang="en-US" sz="6000" dirty="0">
                <a:solidFill>
                  <a:srgbClr val="F0FDFA"/>
                </a:solidFill>
                <a:latin typeface="Arial Black" pitchFamily="34" charset="0"/>
                <a:ea typeface="Arial Black" pitchFamily="34" charset="-122"/>
                <a:cs typeface="Arial Black" pitchFamily="34" charset="-120"/>
              </a:rPr>
              <a:t>Q &amp; A</a:t>
            </a:r>
            <a:endParaRPr lang="en-US" sz="6000" dirty="0"/>
          </a:p>
        </p:txBody>
      </p:sp>
      <p:sp>
        <p:nvSpPr>
          <p:cNvPr id="3" name="Shape 1"/>
          <p:cNvSpPr/>
          <p:nvPr/>
        </p:nvSpPr>
        <p:spPr>
          <a:xfrm>
            <a:off x="3200400" y="2651760"/>
            <a:ext cx="2743200" cy="36576"/>
          </a:xfrm>
          <a:prstGeom prst="rect">
            <a:avLst/>
          </a:prstGeom>
          <a:solidFill>
            <a:srgbClr val="14B8A6"/>
          </a:solidFill>
          <a:ln/>
        </p:spPr>
      </p:sp>
      <p:sp>
        <p:nvSpPr>
          <p:cNvPr id="4" name="Text 2"/>
          <p:cNvSpPr/>
          <p:nvPr/>
        </p:nvSpPr>
        <p:spPr>
          <a:xfrm>
            <a:off x="914400" y="2926080"/>
            <a:ext cx="7315200" cy="365760"/>
          </a:xfrm>
          <a:prstGeom prst="rect">
            <a:avLst/>
          </a:prstGeom>
          <a:noFill/>
          <a:ln/>
        </p:spPr>
        <p:txBody>
          <a:bodyPr wrap="square" lIns="0" tIns="0" rIns="0" bIns="0" rtlCol="0" anchor="ctr"/>
          <a:lstStyle/>
          <a:p>
            <a:pPr algn="ctr" indent="0" marL="0">
              <a:buNone/>
            </a:pPr>
            <a:r>
              <a:rPr lang="en-US" sz="1600" dirty="0">
                <a:solidFill>
                  <a:srgbClr val="94A3B8"/>
                </a:solidFill>
                <a:latin typeface="Calibri" pitchFamily="34" charset="0"/>
                <a:ea typeface="Calibri" pitchFamily="34" charset="-122"/>
                <a:cs typeface="Calibri" pitchFamily="34" charset="-120"/>
              </a:rPr>
              <a:t>Scan for resources, prompts, and templates</a:t>
            </a:r>
            <a:endParaRPr lang="en-US" sz="1600" dirty="0"/>
          </a:p>
        </p:txBody>
      </p:sp>
      <p:sp>
        <p:nvSpPr>
          <p:cNvPr id="5" name="Shape 3"/>
          <p:cNvSpPr/>
          <p:nvPr/>
        </p:nvSpPr>
        <p:spPr>
          <a:xfrm>
            <a:off x="3611880" y="3429000"/>
            <a:ext cx="1554480" cy="1554480"/>
          </a:xfrm>
          <a:prstGeom prst="rect">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3657600" y="3474720"/>
            <a:ext cx="1463040" cy="1463040"/>
          </a:xfrm>
          <a:prstGeom prst="rect">
            <a:avLst/>
          </a:prstGeom>
        </p:spPr>
      </p:pic>
      <p:sp>
        <p:nvSpPr>
          <p:cNvPr id="7" name="Shape 4"/>
          <p:cNvSpPr/>
          <p:nvPr/>
        </p:nvSpPr>
        <p:spPr>
          <a:xfrm>
            <a:off x="0" y="4800600"/>
            <a:ext cx="9144000" cy="342900"/>
          </a:xfrm>
          <a:prstGeom prst="rect">
            <a:avLst/>
          </a:prstGeom>
          <a:solidFill>
            <a:srgbClr val="14B8A6"/>
          </a:solidFill>
          <a:ln/>
        </p:spPr>
      </p:sp>
      <p:sp>
        <p:nvSpPr>
          <p:cNvPr id="8" name="Text 5"/>
          <p:cNvSpPr/>
          <p:nvPr/>
        </p:nvSpPr>
        <p:spPr>
          <a:xfrm>
            <a:off x="457200" y="4800600"/>
            <a:ext cx="8229600" cy="342900"/>
          </a:xfrm>
          <a:prstGeom prst="rect">
            <a:avLst/>
          </a:prstGeom>
          <a:noFill/>
          <a:ln/>
        </p:spPr>
        <p:txBody>
          <a:bodyPr wrap="square" lIns="0" tIns="0" rIns="0" bIns="0" rtlCol="0" anchor="ctr"/>
          <a:lstStyle/>
          <a:p>
            <a:pPr algn="l" indent="0" marL="0">
              <a:buNone/>
            </a:pPr>
            <a:r>
              <a:rPr lang="en-US" sz="900" b="1" dirty="0">
                <a:solidFill>
                  <a:srgbClr val="081E25"/>
                </a:solidFill>
                <a:latin typeface="Calibri" pitchFamily="34" charset="0"/>
                <a:ea typeface="Calibri" pitchFamily="34" charset="-122"/>
                <a:cs typeface="Calibri" pitchFamily="34" charset="-120"/>
              </a:rPr>
              <a:t>HOW I AI | DEVNEXUS 2026</a:t>
            </a:r>
            <a:endParaRPr lang="en-US" sz="900" dirty="0"/>
          </a:p>
        </p:txBody>
      </p:sp>
      <p:sp>
        <p:nvSpPr>
          <p:cNvPr id="9" name="Text 6"/>
          <p:cNvSpPr/>
          <p:nvPr/>
        </p:nvSpPr>
        <p:spPr>
          <a:xfrm>
            <a:off x="8046720" y="4800600"/>
            <a:ext cx="914400" cy="342900"/>
          </a:xfrm>
          <a:prstGeom prst="rect">
            <a:avLst/>
          </a:prstGeom>
          <a:noFill/>
          <a:ln/>
        </p:spPr>
        <p:txBody>
          <a:bodyPr wrap="square" lIns="0" tIns="0" rIns="0" bIns="0" rtlCol="0" anchor="ctr"/>
          <a:lstStyle/>
          <a:p>
            <a:pPr algn="r" indent="0" marL="0">
              <a:buNone/>
            </a:pPr>
            <a:r>
              <a:rPr lang="en-US" sz="800" dirty="0">
                <a:solidFill>
                  <a:srgbClr val="081E25"/>
                </a:solidFill>
                <a:latin typeface="Calibri" pitchFamily="34" charset="0"/>
                <a:ea typeface="Calibri" pitchFamily="34" charset="-122"/>
                <a:cs typeface="Calibri" pitchFamily="34" charset="-120"/>
              </a:rPr>
              <a:t>30 / 31</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81E25"/>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4B8A6"/>
          </a:solidFill>
          <a:ln/>
        </p:spPr>
      </p:sp>
      <p:sp>
        <p:nvSpPr>
          <p:cNvPr id="3" name="Shape 1"/>
          <p:cNvSpPr/>
          <p:nvPr/>
        </p:nvSpPr>
        <p:spPr>
          <a:xfrm>
            <a:off x="0" y="5070348"/>
            <a:ext cx="9144000" cy="73152"/>
          </a:xfrm>
          <a:prstGeom prst="rect">
            <a:avLst/>
          </a:prstGeom>
          <a:solidFill>
            <a:srgbClr val="14B8A6"/>
          </a:solidFill>
          <a:ln/>
        </p:spPr>
      </p:sp>
      <p:sp>
        <p:nvSpPr>
          <p:cNvPr id="4" name="Shape 2"/>
          <p:cNvSpPr/>
          <p:nvPr/>
        </p:nvSpPr>
        <p:spPr>
          <a:xfrm>
            <a:off x="0" y="1371600"/>
            <a:ext cx="137160" cy="2286000"/>
          </a:xfrm>
          <a:prstGeom prst="rect">
            <a:avLst/>
          </a:prstGeom>
          <a:solidFill>
            <a:srgbClr val="14B8A6">
              <a:alpha val="70000"/>
            </a:srgbClr>
          </a:solidFill>
          <a:ln/>
        </p:spPr>
      </p:sp>
      <p:sp>
        <p:nvSpPr>
          <p:cNvPr id="5" name="Text 3"/>
          <p:cNvSpPr/>
          <p:nvPr/>
        </p:nvSpPr>
        <p:spPr>
          <a:xfrm>
            <a:off x="731520" y="1371600"/>
            <a:ext cx="7315200" cy="914400"/>
          </a:xfrm>
          <a:prstGeom prst="rect">
            <a:avLst/>
          </a:prstGeom>
          <a:noFill/>
          <a:ln/>
        </p:spPr>
        <p:txBody>
          <a:bodyPr wrap="square" lIns="0" tIns="0" rIns="0" bIns="0" rtlCol="0" anchor="ctr"/>
          <a:lstStyle/>
          <a:p>
            <a:pPr indent="0" marL="0">
              <a:buNone/>
            </a:pPr>
            <a:r>
              <a:rPr lang="en-US" sz="4800" spc="400" kern="0" dirty="0">
                <a:solidFill>
                  <a:srgbClr val="F0FDFA"/>
                </a:solidFill>
                <a:latin typeface="Arial Black" pitchFamily="34" charset="0"/>
                <a:ea typeface="Arial Black" pitchFamily="34" charset="-122"/>
                <a:cs typeface="Arial Black" pitchFamily="34" charset="-120"/>
              </a:rPr>
              <a:t>THANK YOU</a:t>
            </a:r>
            <a:endParaRPr lang="en-US" sz="4800" dirty="0"/>
          </a:p>
        </p:txBody>
      </p:sp>
      <p:sp>
        <p:nvSpPr>
          <p:cNvPr id="6" name="Shape 4"/>
          <p:cNvSpPr/>
          <p:nvPr/>
        </p:nvSpPr>
        <p:spPr>
          <a:xfrm>
            <a:off x="731520" y="2377440"/>
            <a:ext cx="2743200" cy="36576"/>
          </a:xfrm>
          <a:prstGeom prst="rect">
            <a:avLst/>
          </a:prstGeom>
          <a:solidFill>
            <a:srgbClr val="14B8A6"/>
          </a:solidFill>
          <a:ln/>
        </p:spPr>
      </p:sp>
      <p:sp>
        <p:nvSpPr>
          <p:cNvPr id="7" name="Text 5"/>
          <p:cNvSpPr/>
          <p:nvPr/>
        </p:nvSpPr>
        <p:spPr>
          <a:xfrm>
            <a:off x="731520" y="2651760"/>
            <a:ext cx="4572000" cy="365760"/>
          </a:xfrm>
          <a:prstGeom prst="rect">
            <a:avLst/>
          </a:prstGeom>
          <a:noFill/>
          <a:ln/>
        </p:spPr>
        <p:txBody>
          <a:bodyPr wrap="square" lIns="0" tIns="0" rIns="0" bIns="0" rtlCol="0" anchor="ctr"/>
          <a:lstStyle/>
          <a:p>
            <a:pPr indent="0" marL="0">
              <a:buNone/>
            </a:pPr>
            <a:r>
              <a:rPr lang="en-US" sz="1800" b="1" dirty="0">
                <a:solidFill>
                  <a:srgbClr val="F0FDFA"/>
                </a:solidFill>
                <a:latin typeface="Arial" pitchFamily="34" charset="0"/>
                <a:ea typeface="Arial" pitchFamily="34" charset="-122"/>
                <a:cs typeface="Arial" pitchFamily="34" charset="-120"/>
              </a:rPr>
              <a:t>Daneez</a:t>
            </a:r>
            <a:endParaRPr lang="en-US" sz="1800" dirty="0"/>
          </a:p>
        </p:txBody>
      </p:sp>
      <p:sp>
        <p:nvSpPr>
          <p:cNvPr id="8" name="Text 6"/>
          <p:cNvSpPr/>
          <p:nvPr/>
        </p:nvSpPr>
        <p:spPr>
          <a:xfrm>
            <a:off x="731520" y="3017520"/>
            <a:ext cx="4572000" cy="27432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Engineering Ops &amp; AI Enablement Manager  |  CallRail</a:t>
            </a:r>
            <a:endParaRPr lang="en-US" sz="1200" dirty="0"/>
          </a:p>
        </p:txBody>
      </p:sp>
      <p:sp>
        <p:nvSpPr>
          <p:cNvPr id="9" name="Text 7"/>
          <p:cNvSpPr/>
          <p:nvPr/>
        </p:nvSpPr>
        <p:spPr>
          <a:xfrm>
            <a:off x="731520" y="3383280"/>
            <a:ext cx="4572000" cy="274320"/>
          </a:xfrm>
          <a:prstGeom prst="rect">
            <a:avLst/>
          </a:prstGeom>
          <a:noFill/>
          <a:ln/>
        </p:spPr>
        <p:txBody>
          <a:bodyPr wrap="square" lIns="0" tIns="0" rIns="0" bIns="0" rtlCol="0" anchor="ctr"/>
          <a:lstStyle/>
          <a:p>
            <a:pPr indent="0" marL="0">
              <a:buNone/>
            </a:pPr>
            <a:r>
              <a:rPr lang="en-US" sz="1200" dirty="0">
                <a:solidFill>
                  <a:srgbClr val="14B8A6"/>
                </a:solidFill>
                <a:latin typeface="Calibri" pitchFamily="34" charset="0"/>
                <a:ea typeface="Calibri" pitchFamily="34" charset="-122"/>
                <a:cs typeface="Calibri" pitchFamily="34" charset="-120"/>
              </a:rPr>
              <a:t>DevNexus 2026  |  Atlanta, GA</a:t>
            </a:r>
            <a:endParaRPr lang="en-US" sz="1200" dirty="0"/>
          </a:p>
        </p:txBody>
      </p:sp>
      <p:sp>
        <p:nvSpPr>
          <p:cNvPr id="10" name="Text 8"/>
          <p:cNvSpPr/>
          <p:nvPr/>
        </p:nvSpPr>
        <p:spPr>
          <a:xfrm>
            <a:off x="731520" y="3840480"/>
            <a:ext cx="4572000" cy="274320"/>
          </a:xfrm>
          <a:prstGeom prst="rect">
            <a:avLst/>
          </a:prstGeom>
          <a:noFill/>
          <a:ln/>
        </p:spPr>
        <p:txBody>
          <a:bodyPr wrap="square" lIns="0" tIns="0" rIns="0" bIns="0" rtlCol="0" anchor="ctr"/>
          <a:lstStyle/>
          <a:p>
            <a:pPr indent="0" marL="0">
              <a:buNone/>
            </a:pPr>
            <a:r>
              <a:rPr lang="en-US" sz="1100" i="1" dirty="0">
                <a:solidFill>
                  <a:srgbClr val="94A3B8"/>
                </a:solidFill>
                <a:latin typeface="Georgia" pitchFamily="34" charset="0"/>
                <a:ea typeface="Georgia" pitchFamily="34" charset="-122"/>
                <a:cs typeface="Georgia" pitchFamily="34" charset="-120"/>
              </a:rPr>
              <a:t>I also used AI to QA my novel manuscript. Ask me about it.</a:t>
            </a:r>
            <a:endParaRPr lang="en-US" sz="1100" dirty="0"/>
          </a:p>
        </p:txBody>
      </p:sp>
      <p:sp>
        <p:nvSpPr>
          <p:cNvPr id="11" name="Shape 9"/>
          <p:cNvSpPr/>
          <p:nvPr/>
        </p:nvSpPr>
        <p:spPr>
          <a:xfrm>
            <a:off x="6537960" y="1965960"/>
            <a:ext cx="1920240" cy="1920240"/>
          </a:xfrm>
          <a:prstGeom prst="rect">
            <a:avLst/>
          </a:prstGeom>
          <a:solidFill>
            <a:srgbClr val="FFFFFF"/>
          </a:solidFill>
          <a:ln/>
        </p:spPr>
      </p:sp>
      <p:pic>
        <p:nvPicPr>
          <p:cNvPr id="12" name="Image 0" descr="preencoded.png">    </p:cNvPr>
          <p:cNvPicPr>
            <a:picLocks noChangeAspect="1"/>
          </p:cNvPicPr>
          <p:nvPr/>
        </p:nvPicPr>
        <p:blipFill>
          <a:blip r:embed="rId1"/>
          <a:stretch>
            <a:fillRect/>
          </a:stretch>
        </p:blipFill>
        <p:spPr>
          <a:xfrm>
            <a:off x="6583680" y="2011680"/>
            <a:ext cx="1828800" cy="1828800"/>
          </a:xfrm>
          <a:prstGeom prst="rect">
            <a:avLst/>
          </a:prstGeom>
        </p:spPr>
      </p:pic>
      <p:sp>
        <p:nvSpPr>
          <p:cNvPr id="13" name="Text 10"/>
          <p:cNvSpPr/>
          <p:nvPr/>
        </p:nvSpPr>
        <p:spPr>
          <a:xfrm>
            <a:off x="6583680" y="3931920"/>
            <a:ext cx="1828800" cy="274320"/>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Resources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I AI: Building Custom GPTs to Supercharge Everyday Work</dc:title>
  <dc:subject>PptxGenJS Presentation</dc:subject>
  <dc:creator>Daneez</dc:creator>
  <cp:lastModifiedBy>Daneez</cp:lastModifiedBy>
  <cp:revision>1</cp:revision>
  <dcterms:created xsi:type="dcterms:W3CDTF">2026-02-26T03:01:15Z</dcterms:created>
  <dcterms:modified xsi:type="dcterms:W3CDTF">2026-02-26T03:01:15Z</dcterms:modified>
</cp:coreProperties>
</file>